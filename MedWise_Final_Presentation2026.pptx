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74" r:id="rId13"/>
    <p:sldId id="275" r:id="rId14"/>
    <p:sldId id="276" r:id="rId15"/>
    <p:sldId id="267" r:id="rId16"/>
    <p:sldId id="268" r:id="rId17"/>
    <p:sldId id="269" r:id="rId18"/>
    <p:sldId id="270" r:id="rId19"/>
    <p:sldId id="271" r:id="rId20"/>
    <p:sldId id="272" r:id="rId21"/>
    <p:sldId id="273"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6764" autoAdjust="0"/>
  </p:normalViewPr>
  <p:slideViewPr>
    <p:cSldViewPr snapToGrid="0" snapToObjects="1">
      <p:cViewPr varScale="1">
        <p:scale>
          <a:sx n="161" d="100"/>
          <a:sy n="161" d="100"/>
        </p:scale>
        <p:origin x="2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1514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esteemed members of the committee. Thank you for being here today. We are pleased to present our graduation project, MedWise — a smart medication management system built to make elderly care safer. MedWise was designed and developed by our team — [Student Name 1], [Student Name 2], [Student Name 3], and [Student Name 4] — under the kind supervision of Dr. [Supervisor Name], in the Software Engineering Department of the Faculty of Computers and Information. The project is a fully working web application, deployed live at medwise.runasp.net, that helps elderly patients take the right medication at the right time while keeping their families informed in real time. Over the next few minutes we will walk you through the problem we set out to solve, the solution we built, the methodology behind it, and the results we achieved. We hope you find the talk informative.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Medication errors are one of the leading causes of preventable harm in elderly populations, and most of those errors come not from bad prescriptions but from the daily chaos of managing many of them at once. MedWise is our team's response to that problem — a single web platform that combines six capabilities that today live in scattered apps: medication tracking, drug-interaction safety, an AI chatbot for plain-language guidance, scheduled reminders, remote caregiver monitoring, and a one-tap emergency button. The system is built explicitly for two underserved audiences — elderly patients who take multiple prescriptions and the family members who support them — with large text, calm colors, and simple flows. Over the next slides we will walk through the problem we observed, the people it affects, the objectives we set, the design we built, and the results we measured.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an elderly patient who has just come home from a cardiology visit with two new prescriptions on top of the three she is already taking for hypertension, diabetes, and cholesterol. Each pill has its own schedule, its own refills, and its own hidden interactions. Now multiply that across millions of households. The numbers tell the story: more than half of adults over sixty-five take five or more medications daily, one in three elderly patients experiences a drug-related harm event, and roughly half of all prescribed medications are not taken as directed. These are not convenience statistics — they are patient-safety statistics. The deeper problem is structural: existing tools solve fragments of this problem in isolation, so the cognitive load stays on the patient and the family. MedWise was scoped to close that integration gap.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for this project is not abstract. Many of us have watched a grandparent struggle to keep track of five different prescriptions, or a parent miss a dose without anyone in the family knowing until days later. That personal experience is what shaped MedWise. We then expanded the lens to four beneficiary groups. For patients, the goal is simple: take the right pill at the right time, with safety checks built in. For families, it is peace of mind — seeing adherence and emergencies in real time, from anywhere. For clinicians, it is a clearer picture of what the patient actually takes at home, not just what was prescribed. And for the wider healthcare system, it is fewer preventable emergency-room visits caused by adverse drug events. This is why MedWise was built — not as a feature checklist, but as a connected safety net.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objectives on the right of this slide are the backbone of the entire project. We deliberately scoped MedWise around six concrete, testable objectives — each one mapping directly to a feature module in the final system. Objective one is medication tracking: the patient can add, edit, and list every prescription with its active ingredient, time, and frequency. Objective two is drug-interaction safety: the system automatically detects harmful combinations and recommends safe intervals. Objective three is smart reminders with confirmed adherence. Objective four is caregiver monitoring. Objective five is one-tap emergency response. And objective six is the AI chatbot, which answers medication questions in plain language and supports follow-ups. All six shipped in version one, deployed live to medwise.runasp.net. The rest of this talk will unpack how each objective was designed and implemented.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literature review, the team surveyed four of the most widely used medication-management applications on the market: Medisafe, MyTherapy, CareZone, and Dosecast. We compared them across six capabilities that we believe matter most for elderly users — basic medication tracking, drug-interaction checking, an AI chatbot for guidance, remote caregiver monitoring, a one-tap emergency alert, and an elderly-first user interface. The findings were consistent. All four apps handle basic tracking. Drug-interaction support is shallow or partial, AI guidance is entirely absent from every one of them, and emergency response is universally missing. Some apps do one or two things very well — CareZone, for example, has decent caregiver features — but the integration gap is the real problem. Only MedWise combines all six capabilities into a single elderly-first experience, and that integration is our contribution.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MedWise is best understood not as a list of features but as a connected safety net. At the center sits the patient, and around them sit six modules that all share the same profile and the same medication list. The medication list is the spine of the system — every other module reads from it. The user enters each medication once with its active ingredient, and from that single entry the interaction check scans for conflicts, the reminder scheduler builds the daily alerts, the caregiver dashboard mirrors the schedule remotely, and the AI chatbot can answer questions about that specific regimen. Add an emergency button that fans out instant alerts to every linked caregiver, and you have a closed loop: prevention through interaction checks, support through reminders, visibility through caregivers, escalation through emergency, and guidance through AI. The next slides cover our methodology, the layered architecture, and the implementation.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methodology we followed was a hybrid of Agile and waterfall over twelve weeks, broken into five phases. Phase one was requirements and analysis — we reviewed related work, drafted the feature flows, and produced the requirements PDF the committee has. Phase two was UI/UX design, where we built wireframes for every page and applied elderly-first design tokens like large text and calm colors. Phase three overlapped slightly with design: architecture and database, where we settled on the layered ASP.NET pattern and the ERD. Phase four, the longest, was implementation in two-week sprints with weekly demos to the supervisor — auth, medication CRUD, interaction check, reminders, caregiver module, emergency, and chatbot in sequence. Phase five was testing and deployment: every functional requirement was acceptance-tested, the system was deployed live to medwise.runasp.net, and an elderly tester ran a user-acceptance pass against the requirements.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a classic three-tier separation, which keeps the codebase testable and easy to deploy. The presentation layer is ASP.NET MVC Razor views — every screen the user sees, from the dashboard to the emergency button to the chatbot UI, lives here. The business logic layer is a set of C# services that enforce the rules of the system: authentication, medication CRUD, the interaction engine that compares active ingredients, the reminder scheduler, the caregiver linking service, the emergency dispatcher that fans out alerts to every linked caregiver, and the chatbot gateway. The data access layer uses Entity Framework Core repositories over SQL Server, including the identity store, medication store, adherence log, and alert log. The chatbot talks to an external AI API rather than running in-process. Data flows top-down through these layers, and external services are invoked only when needed.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organized the tech stack into four categories. On the backend, ASP.NET Core MVC gave us the mature MVC pattern and strong typing we wanted, C# .NET 8 carries the business logic, Entity Framework Core handles migrations and the repository abstraction, and ASP.NET Identity manages authentication and roles. On the frontend, Razor Views render the server-side UI, HTML5 and CSS3 handle structure and styling, JavaScript and jQuery provide client interactivity, and Bootstrap 5 supplies the responsive grid. For data and storage, Microsoft SQL Server is the primary relational database, and we curated a DrugBank-style interaction dataset that powers the safety checks. External services include an OpenAI-compatible LLM API for the chatbot so we didn’t have to train a model, an SMTP gateway for alerts, and the production deployment is live at medwise.runasp.net via IIS hosting, with Git and GitHub for version control and CI.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quick tour of the six features that shipped — all six are deployed at the live demo URL shown at the top of the slide, not just mocked up. Medication Tracking is the entry point: users add each medication with name, time, and frequency, and the system auto-resolves the active ingredient so the user never has to type it. Interaction Check fires on save, comparing active ingredients against the curated database and surfacing a warning plus a recommended safe interval for conflicts, or preventive advice for safe combos. Smart Reminders sends per-medication notifications and logs adherence for caregivers. Caregiver Monitoring lets a linked caregiver view schedules and adherence remotely in real time. The Emergency Button sits persistently in the navbar — one tap, no menus — and fans an instant alert to every linked caregiver. The AI Chatbot answers free-text medication questions for both roles.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F824F-55A7-49E3-EA42-A125A3CA80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4EF3AA-0BEA-C4D2-CE47-6F261C93FC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2DB2F0-D749-70D7-6EDE-D0402686FADD}"/>
              </a:ext>
            </a:extLst>
          </p:cNvPr>
          <p:cNvSpPr>
            <a:spLocks noGrp="1"/>
          </p:cNvSpPr>
          <p:nvPr>
            <p:ph type="body" idx="1"/>
          </p:nvPr>
        </p:nvSpPr>
        <p:spPr/>
        <p:txBody>
          <a:bodyPr/>
          <a:lstStyle/>
          <a:p>
            <a:r>
              <a:rPr lang="en-US" dirty="0"/>
              <a:t>Here is a quick tour of the six features that shipped — all six are deployed at the live demo URL shown at the top of the slide, not just mocked up. Medication Tracking is the entry point: users add each medication with name, time, and frequency, and the system auto-resolves the active ingredient so the user never has to type it. Interaction Check fires on save, comparing active ingredients against the curated database and surfacing a warning plus a recommended safe interval for conflicts, or preventive advice for safe combos. Smart Reminders sends per-medication notifications and logs adherence for caregivers. Caregiver Monitoring lets a linked caregiver view schedules and adherence remotely in real time. The Emergency Button sits persistently in the navbar — one tap, no menus — and fans an instant alert to every linked caregiver. The AI Chatbot answers free-text medication questions for both roles.</a:t>
            </a:r>
          </a:p>
        </p:txBody>
      </p:sp>
      <p:sp>
        <p:nvSpPr>
          <p:cNvPr id="4" name="Slide Number Placeholder 3">
            <a:extLst>
              <a:ext uri="{FF2B5EF4-FFF2-40B4-BE49-F238E27FC236}">
                <a16:creationId xmlns:a16="http://schemas.microsoft.com/office/drawing/2014/main" id="{D8FBBB43-5F29-26CE-E6E4-515459A0B05E}"/>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3741710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81A42-47B8-C865-4388-5629A823CC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83FCF6-92FE-2317-296D-CA18D28C4B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95C068-9589-7DBC-BC79-2B8BCB480317}"/>
              </a:ext>
            </a:extLst>
          </p:cNvPr>
          <p:cNvSpPr>
            <a:spLocks noGrp="1"/>
          </p:cNvSpPr>
          <p:nvPr>
            <p:ph type="body" idx="1"/>
          </p:nvPr>
        </p:nvSpPr>
        <p:spPr/>
        <p:txBody>
          <a:bodyPr/>
          <a:lstStyle/>
          <a:p>
            <a:r>
              <a:rPr lang="en-US" dirty="0"/>
              <a:t>Here is a quick tour of the six features that shipped — all six are deployed at the live demo URL shown at the top of the slide, not just mocked up. Medication Tracking is the entry point: users add each medication with name, time, and frequency, and the system auto-resolves the active ingredient so the user never has to type it. Interaction Check fires on save, comparing active ingredients against the curated database and surfacing a warning plus a recommended safe interval for conflicts, or preventive advice for safe combos. Smart Reminders sends per-medication notifications and logs adherence for caregivers. Caregiver Monitoring lets a linked caregiver view schedules and adherence remotely in real time. The Emergency Button sits persistently in the navbar — one tap, no menus — and fans an instant alert to every linked caregiver. The AI Chatbot answers free-text medication questions for both roles.</a:t>
            </a:r>
          </a:p>
        </p:txBody>
      </p:sp>
      <p:sp>
        <p:nvSpPr>
          <p:cNvPr id="4" name="Slide Number Placeholder 3">
            <a:extLst>
              <a:ext uri="{FF2B5EF4-FFF2-40B4-BE49-F238E27FC236}">
                <a16:creationId xmlns:a16="http://schemas.microsoft.com/office/drawing/2014/main" id="{0A9EA8F7-3628-73EE-793C-AC00E622C4C7}"/>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64386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60203-95A1-D6B3-9D7D-B193BF9F8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347948-9C93-B41E-C58D-F201946855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7BBCD6-0ACF-2C6F-B12E-71BDB3D3631A}"/>
              </a:ext>
            </a:extLst>
          </p:cNvPr>
          <p:cNvSpPr>
            <a:spLocks noGrp="1"/>
          </p:cNvSpPr>
          <p:nvPr>
            <p:ph type="body" idx="1"/>
          </p:nvPr>
        </p:nvSpPr>
        <p:spPr/>
        <p:txBody>
          <a:bodyPr/>
          <a:lstStyle/>
          <a:p>
            <a:r>
              <a:rPr lang="en-US" dirty="0"/>
              <a:t>Here is a quick tour of the six features that shipped — all six are deployed at the live demo URL shown at the top of the slide, not just mocked up. Medication Tracking is the entry point: users add each medication with name, time, and frequency, and the system auto-resolves the active ingredient so the user never has to type it. Interaction Check fires on save, comparing active ingredients against the curated database and surfacing a warning plus a recommended safe interval for conflicts, or preventive advice for safe combos. Smart Reminders sends per-medication notifications and logs adherence for caregivers. Caregiver Monitoring lets a linked caregiver view schedules and adherence remotely in real time. The Emergency Button sits persistently in the navbar — one tap, no menus — and fans an instant alert to every linked caregiver. The AI Chatbot answers free-text medication questions for both roles.</a:t>
            </a:r>
          </a:p>
        </p:txBody>
      </p:sp>
      <p:sp>
        <p:nvSpPr>
          <p:cNvPr id="4" name="Slide Number Placeholder 3">
            <a:extLst>
              <a:ext uri="{FF2B5EF4-FFF2-40B4-BE49-F238E27FC236}">
                <a16:creationId xmlns:a16="http://schemas.microsoft.com/office/drawing/2014/main" id="{156A6EF8-CAB9-0930-90A2-93F1512C5FBE}"/>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5827535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 is a normalized relational design in Microsoft SQL Server with six core tables. Users holds both patients and caregivers, discriminated by a role enum, and is the root of the model. Medications is the spine of the system — every user owns many medications, each carrying its active ingredient for interaction checking. Reminders tracks every scheduled intake slot and its status, so adherence can be reported to caregivers. CaregiverLinks is the join table that lets a caregiver monitor one or more patients — a many-to-many relationship from Users to itself. Alerts captures both emergency button presses and missed-dose events, with an acknowledgedBy field for accountability. Finally, Interactions is a read-only curated dataset that the interaction engine consults on every save. EF Core migrations were used throughout development and deployment.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twelve weeks of design and implementation, the headline result is this: 29 of 29 functional requirements passed acceptance testing, all six core modules shipped in v1.0, and the system is live today at medwise.runasp.net. Walking the four stats at the top — perfect functional requirement coverage, full module delivery, an average interaction-check latency under two seconds, and one hundred percent responsive coverage across mobile, tablet, and desktop. The bottom grid breaks the eight functional requirement groups into two columns. On the left, authentication and medication management — sign-up, login, add-medication, and the interaction check. On the right, the care, safety, and AI features — the chatbot, reminders, caregiver monitoring, and the emergency button. The strongest evidence that our elderly-first design goal — NFR1 — was actually met: an elderly tester completed the entire add-medication flow in under ninety seconds, with no assistance.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challenges shaped the system we shipped. First, dataset curation — public drug-interaction sources are inconsistent and rarely machine-readable, so we compiled a curated ingredient-pair rule set, seeded via EF Core migrations, with conflict severity and a recommended safe interval stored per pair. Second, designing for elderly users without dumbing it down — a large base font, high-contrast navy and ivory palette, single-action screens, and a persistent emergency button in the navbar. Third, reliable reminder and alert delivery — a server-side scheduler for reminders, and an emergency dispatcher that fans out parallel alerts via email and in-app, with caregiver acknowledgment tracking. Fourth, integrating the AI chatbot safely — constrained prompts with a strict system instruction that answers only about medications and interactions, in plain language, surfacing a disclaimer for anything outside scope. The constrained prompt actually makes answers clearer, not more limited. Every challenge became a design rule that survives in v1.0.</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MedWise achieved three things that matter. First, complete — every one of the 29 functional requirements passed acceptance testing, and all six core modules shipped in v1.0. Second, deployed — the system is live today at medwise.runasp.net and accessible on mobile, tablet, and desktop, so the defense committee can verify it directly during Q&amp;A. Third, human-centered — the elderly-first design was validated by a real user test where an elderly participant completed the add-medication flow in under ninety seconds without assistance. Across twelve weeks, the team turned a requirements document into a connected, deployed, elderly-first medication safety platform that unifies tracking, interaction safety, reminders, caregiver monitoring, emergency response, and AI guidance. Thank you to our supervisor and to the committee for your time and attention. We'll now turn to where MedWise goes next.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concrete extensions are scoped for v2.0 — each builds on the v1.0 spine without re-architecting it. Native mobile apps for iOS and Android is the highest priority because push notifications for reminders and emergency alerts need a real installable app, not a browser tab. Wearable integration with smartwatches comes next — fall detection, heart-rate-triggered emergency alerts, and on-wrist medication reminders. Multilingual support is the second HIGH priority, adding Arabic and French interfaces plus multilingual chatbot responses, because our target user base in Egypt is largely Arabic-speaking. Adherence analytics gives caregivers long-term dashboards — trend lines, risk scores, and intervention prompts. Finally, pharmacy and refill integration auto-creates medications from a prescription scan and triggers refill reminders. The roadmap lands mobile and Arabic in v1.1, wearables and analytics in v1.2, and pharmacy integration in v2.0.</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references span three categories. Academic literature on polypharmacy and elderly usability — Masnoon et al., the WHO technical report, the Institute of Medicine's Preventing Medication Errors, and Nielsen Norman's research on senior usability — grounded the requirements. Technical documentation for the ASP.NET Core MVC stack and Entity Framework Core supported implementation. Open medical datasets — DrugBank 5.x and RxNorm from the National Library of Medicine — seeded the interaction database with normalized ingredient naming. Bootstrap 5 provided the responsive grid system, and the OpenAI GPT API powered the chatbot. Thanks to the open-source and open-data communities that made the project possible. All web sources were accessed during the project development window in Spring 2025.</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committee, for your attention throughout this defense. We're proud of what we built and we'd love to take your questions now. The live demo is reachable at medwise.runasp.net — feel free to open it during Q&amp;A if you'd like to see any feature in action, from the medication flow to the interaction checker to the chatbot. You can also reach the team at team@medwise.project for any follow-up after the defense. Thank you again — we look forward to your questions and feedback.</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7.jpg"/><Relationship Id="rId4" Type="http://schemas.openxmlformats.org/officeDocument/2006/relationships/image" Target="../media/image6.jpg"/></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1.jpg"/><Relationship Id="rId4" Type="http://schemas.openxmlformats.org/officeDocument/2006/relationships/image" Target="../media/image10.jpg"/></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4.jpg"/><Relationship Id="rId4" Type="http://schemas.openxmlformats.org/officeDocument/2006/relationships/image" Target="../media/image13.jpg"/></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0" y="3000375"/>
            <a:ext cx="3549580" cy="2143125"/>
          </a:xfrm>
          <a:prstGeom prst="rect">
            <a:avLst/>
          </a:prstGeom>
          <a:noFill/>
          <a:ln/>
        </p:spPr>
        <p:txBody>
          <a:bodyPr wrap="none" lIns="0" tIns="0" rIns="0" bIns="0" rtlCol="0" anchor="t"/>
          <a:lstStyle/>
          <a:p>
            <a:pPr marL="0" indent="0" algn="l">
              <a:lnSpc>
                <a:spcPts val="20250"/>
              </a:lnSpc>
              <a:buNone/>
            </a:pPr>
            <a:r>
              <a:rPr lang="en-US" sz="20250" b="1" dirty="0">
                <a:solidFill>
                  <a:srgbClr val="0F2A4A">
                    <a:alpha val="4000"/>
                  </a:srgbClr>
                </a:solidFill>
                <a:latin typeface="Tinos" pitchFamily="34" charset="0"/>
                <a:ea typeface="Tinos" pitchFamily="34" charset="-122"/>
                <a:cs typeface="Tinos" pitchFamily="34" charset="-120"/>
              </a:rPr>
              <a:t>M</a:t>
            </a:r>
            <a:endParaRPr lang="en-US" sz="20250" dirty="0"/>
          </a:p>
        </p:txBody>
      </p:sp>
      <p:sp>
        <p:nvSpPr>
          <p:cNvPr id="3" name="Text 1"/>
          <p:cNvSpPr/>
          <p:nvPr/>
        </p:nvSpPr>
        <p:spPr>
          <a:xfrm>
            <a:off x="571500" y="925562"/>
            <a:ext cx="4876038" cy="164592"/>
          </a:xfrm>
          <a:prstGeom prst="rect">
            <a:avLst/>
          </a:prstGeom>
          <a:noFill/>
          <a:ln/>
        </p:spPr>
        <p:txBody>
          <a:bodyPr wrap="square" lIns="0" tIns="0" rIns="0" bIns="0" rtlCol="0" anchor="t"/>
          <a:lstStyle/>
          <a:p>
            <a:pPr marL="0" indent="0" algn="l">
              <a:lnSpc>
                <a:spcPts val="1013"/>
              </a:lnSpc>
              <a:buNone/>
            </a:pPr>
            <a:r>
              <a:rPr lang="en-US" sz="800" b="1" kern="0" spc="189" dirty="0">
                <a:solidFill>
                  <a:srgbClr val="8C6F12"/>
                </a:solidFill>
                <a:latin typeface="Carlito" pitchFamily="34" charset="0"/>
                <a:ea typeface="Carlito" pitchFamily="34" charset="-122"/>
                <a:cs typeface="Carlito" pitchFamily="34" charset="-120"/>
              </a:rPr>
              <a:t>GRADUATION PROJECT DEFENSE · 202</a:t>
            </a:r>
            <a:r>
              <a:rPr lang="ar-EG" sz="800" b="1" kern="0" spc="189" dirty="0">
                <a:solidFill>
                  <a:srgbClr val="8C6F12"/>
                </a:solidFill>
                <a:latin typeface="Carlito" pitchFamily="34" charset="0"/>
                <a:ea typeface="Carlito" pitchFamily="34" charset="-122"/>
                <a:cs typeface="Carlito" pitchFamily="34" charset="-120"/>
              </a:rPr>
              <a:t>5</a:t>
            </a:r>
            <a:r>
              <a:rPr lang="en-US" sz="800" b="1" kern="0" spc="189" dirty="0">
                <a:solidFill>
                  <a:srgbClr val="8C6F12"/>
                </a:solidFill>
                <a:latin typeface="Carlito" pitchFamily="34" charset="0"/>
                <a:ea typeface="Carlito" pitchFamily="34" charset="-122"/>
                <a:cs typeface="Carlito" pitchFamily="34" charset="-120"/>
              </a:rPr>
              <a:t>–202</a:t>
            </a:r>
            <a:r>
              <a:rPr lang="ar-EG" sz="800" b="1" kern="0" spc="189" dirty="0">
                <a:solidFill>
                  <a:srgbClr val="8C6F12"/>
                </a:solidFill>
                <a:latin typeface="Carlito" pitchFamily="34" charset="0"/>
                <a:ea typeface="Carlito" pitchFamily="34" charset="-122"/>
                <a:cs typeface="Carlito" pitchFamily="34" charset="-120"/>
              </a:rPr>
              <a:t>6</a:t>
            </a:r>
            <a:endParaRPr lang="en-US" sz="800" dirty="0"/>
          </a:p>
        </p:txBody>
      </p:sp>
      <p:sp>
        <p:nvSpPr>
          <p:cNvPr id="4" name="Text 2"/>
          <p:cNvSpPr/>
          <p:nvPr/>
        </p:nvSpPr>
        <p:spPr>
          <a:xfrm>
            <a:off x="571500" y="1154162"/>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5" name="Text 3"/>
          <p:cNvSpPr/>
          <p:nvPr/>
        </p:nvSpPr>
        <p:spPr>
          <a:xfrm>
            <a:off x="571500" y="1275606"/>
            <a:ext cx="5779008" cy="674241"/>
          </a:xfrm>
          <a:prstGeom prst="rect">
            <a:avLst/>
          </a:prstGeom>
          <a:noFill/>
          <a:ln/>
        </p:spPr>
        <p:txBody>
          <a:bodyPr wrap="none" lIns="0" tIns="0" rIns="0" bIns="0" rtlCol="0" anchor="t"/>
          <a:lstStyle/>
          <a:p>
            <a:pPr marL="0" indent="0" algn="l">
              <a:lnSpc>
                <a:spcPts val="4916"/>
              </a:lnSpc>
              <a:buNone/>
            </a:pPr>
            <a:r>
              <a:rPr lang="en-US" sz="5175" b="1" kern="0" spc="-104" dirty="0">
                <a:solidFill>
                  <a:srgbClr val="002060"/>
                </a:solidFill>
                <a:latin typeface="Tinos" pitchFamily="34" charset="0"/>
                <a:ea typeface="Tinos" pitchFamily="34" charset="-122"/>
                <a:cs typeface="Tinos" pitchFamily="34" charset="-120"/>
              </a:rPr>
              <a:t>MedWise</a:t>
            </a:r>
            <a:endParaRPr lang="en-US" sz="5175" dirty="0">
              <a:solidFill>
                <a:srgbClr val="002060"/>
              </a:solidFill>
            </a:endParaRPr>
          </a:p>
        </p:txBody>
      </p:sp>
      <p:sp>
        <p:nvSpPr>
          <p:cNvPr id="6" name="Text 4"/>
          <p:cNvSpPr/>
          <p:nvPr/>
        </p:nvSpPr>
        <p:spPr>
          <a:xfrm>
            <a:off x="571500" y="1985628"/>
            <a:ext cx="4514850" cy="441216"/>
          </a:xfrm>
          <a:prstGeom prst="rect">
            <a:avLst/>
          </a:prstGeom>
          <a:noFill/>
          <a:ln/>
        </p:spPr>
        <p:txBody>
          <a:bodyPr wrap="square" lIns="0" tIns="0" rIns="0" bIns="0" rtlCol="0" anchor="t"/>
          <a:lstStyle/>
          <a:p>
            <a:pPr marL="0" indent="0" algn="l">
              <a:lnSpc>
                <a:spcPts val="1609"/>
              </a:lnSpc>
              <a:buNone/>
            </a:pPr>
            <a:r>
              <a:rPr lang="en-US" sz="1238" b="1" dirty="0">
                <a:solidFill>
                  <a:srgbClr val="002060"/>
                </a:solidFill>
                <a:latin typeface="Carlito" pitchFamily="34" charset="0"/>
                <a:ea typeface="Carlito" pitchFamily="34" charset="-122"/>
                <a:cs typeface="Carlito" pitchFamily="34" charset="-120"/>
              </a:rPr>
              <a:t>A Smart Medication Management System for Safer Elderly Care</a:t>
            </a:r>
            <a:endParaRPr lang="en-US" sz="1238" dirty="0">
              <a:solidFill>
                <a:srgbClr val="002060"/>
              </a:solidFill>
            </a:endParaRPr>
          </a:p>
        </p:txBody>
      </p:sp>
      <p:sp>
        <p:nvSpPr>
          <p:cNvPr id="7" name="Text 5"/>
          <p:cNvSpPr/>
          <p:nvPr/>
        </p:nvSpPr>
        <p:spPr>
          <a:xfrm>
            <a:off x="571500" y="2508461"/>
            <a:ext cx="3857625" cy="543007"/>
          </a:xfrm>
          <a:prstGeom prst="rect">
            <a:avLst/>
          </a:prstGeom>
          <a:noFill/>
          <a:ln/>
        </p:spPr>
        <p:txBody>
          <a:bodyPr wrap="square" lIns="0" tIns="0" rIns="0" bIns="0" rtlCol="0" anchor="t"/>
          <a:lstStyle/>
          <a:p>
            <a:pPr marL="0" indent="0" algn="l">
              <a:lnSpc>
                <a:spcPts val="1299"/>
              </a:lnSpc>
              <a:buNone/>
            </a:pPr>
            <a:r>
              <a:rPr lang="en-US" sz="800" dirty="0">
                <a:solidFill>
                  <a:srgbClr val="4A5A75"/>
                </a:solidFill>
                <a:latin typeface="Carlito" pitchFamily="34" charset="0"/>
                <a:ea typeface="Carlito" pitchFamily="34" charset="-122"/>
                <a:cs typeface="Carlito" pitchFamily="34" charset="-120"/>
              </a:rPr>
              <a:t>An integrated web platform for medication tracking, drug-interaction safety, AI-powered guidance, caregiver monitoring, and emergency response — designed for elderly patients and the families who care for them.</a:t>
            </a:r>
            <a:endParaRPr lang="en-US" sz="800" dirty="0"/>
          </a:p>
        </p:txBody>
      </p:sp>
      <p:sp>
        <p:nvSpPr>
          <p:cNvPr id="8" name="Text 6"/>
          <p:cNvSpPr/>
          <p:nvPr/>
        </p:nvSpPr>
        <p:spPr>
          <a:xfrm>
            <a:off x="571500" y="3160551"/>
            <a:ext cx="3857625" cy="7144"/>
          </a:xfrm>
          <a:prstGeom prst="rect">
            <a:avLst/>
          </a:prstGeom>
          <a:solidFill>
            <a:srgbClr val="D9D2BC"/>
          </a:solidFill>
          <a:ln/>
        </p:spPr>
        <p:txBody>
          <a:bodyPr wrap="square" rtlCol="0" anchor="ctr"/>
          <a:lstStyle/>
          <a:p>
            <a:pPr marL="0" indent="0">
              <a:buNone/>
            </a:pPr>
            <a:endParaRPr lang="en-US" dirty="0"/>
          </a:p>
        </p:txBody>
      </p:sp>
      <p:sp>
        <p:nvSpPr>
          <p:cNvPr id="9" name="Text 7"/>
          <p:cNvSpPr/>
          <p:nvPr/>
        </p:nvSpPr>
        <p:spPr>
          <a:xfrm>
            <a:off x="571500" y="3281995"/>
            <a:ext cx="1257300" cy="164592"/>
          </a:xfrm>
          <a:prstGeom prst="rect">
            <a:avLst/>
          </a:prstGeom>
          <a:noFill/>
          <a:ln/>
        </p:spPr>
        <p:txBody>
          <a:bodyPr wrap="none" lIns="0" tIns="0" rIns="0" bIns="0" rtlCol="0" anchor="t"/>
          <a:lstStyle/>
          <a:p>
            <a:pPr marL="0" indent="0" algn="l">
              <a:lnSpc>
                <a:spcPts val="928"/>
              </a:lnSpc>
              <a:buNone/>
            </a:pPr>
            <a:r>
              <a:rPr lang="en-US" sz="800" b="1" kern="0" spc="111" dirty="0">
                <a:solidFill>
                  <a:srgbClr val="8C6F12"/>
                </a:solidFill>
                <a:latin typeface="Carlito" pitchFamily="34" charset="0"/>
                <a:ea typeface="Carlito" pitchFamily="34" charset="-122"/>
                <a:cs typeface="Carlito" pitchFamily="34" charset="-120"/>
              </a:rPr>
              <a:t>TEAM</a:t>
            </a:r>
            <a:endParaRPr lang="en-US" sz="800" dirty="0"/>
          </a:p>
        </p:txBody>
      </p:sp>
      <p:sp>
        <p:nvSpPr>
          <p:cNvPr id="10" name="Text 8"/>
          <p:cNvSpPr/>
          <p:nvPr/>
        </p:nvSpPr>
        <p:spPr>
          <a:xfrm>
            <a:off x="1471613" y="3253420"/>
            <a:ext cx="2957513" cy="329184"/>
          </a:xfrm>
          <a:prstGeom prst="rect">
            <a:avLst/>
          </a:prstGeom>
          <a:noFill/>
          <a:ln/>
        </p:spPr>
        <p:txBody>
          <a:bodyPr wrap="square" lIns="0" tIns="0" rIns="0" bIns="0" rtlCol="0" anchor="t"/>
          <a:lstStyle/>
          <a:p>
            <a:pPr>
              <a:lnSpc>
                <a:spcPts val="1181"/>
              </a:lnSpc>
            </a:pPr>
            <a:r>
              <a:rPr lang="en-US" sz="800" dirty="0">
                <a:solidFill>
                  <a:srgbClr val="002060"/>
                </a:solidFill>
              </a:rPr>
              <a:t>Mina Ayman · Kerollous Yasser · Ziad Tamer · Kerollous Saadalla · Pierre Nabil · Tadros Wagdy · Youssef Gerges · Kerollous Majid · Mina </a:t>
            </a:r>
            <a:r>
              <a:rPr lang="en-US" sz="800" dirty="0" err="1">
                <a:solidFill>
                  <a:srgbClr val="002060"/>
                </a:solidFill>
              </a:rPr>
              <a:t>Amgad</a:t>
            </a:r>
            <a:endParaRPr lang="en-US" sz="800" dirty="0">
              <a:solidFill>
                <a:srgbClr val="002060"/>
              </a:solidFill>
            </a:endParaRPr>
          </a:p>
        </p:txBody>
      </p:sp>
      <p:sp>
        <p:nvSpPr>
          <p:cNvPr id="11" name="Text 9"/>
          <p:cNvSpPr/>
          <p:nvPr/>
        </p:nvSpPr>
        <p:spPr>
          <a:xfrm>
            <a:off x="571500" y="3667758"/>
            <a:ext cx="1030372" cy="164592"/>
          </a:xfrm>
          <a:prstGeom prst="rect">
            <a:avLst/>
          </a:prstGeom>
          <a:noFill/>
          <a:ln/>
        </p:spPr>
        <p:txBody>
          <a:bodyPr wrap="none" lIns="0" tIns="0" rIns="0" bIns="0" rtlCol="0" anchor="t"/>
          <a:lstStyle/>
          <a:p>
            <a:pPr marL="0" indent="0" algn="l">
              <a:lnSpc>
                <a:spcPts val="928"/>
              </a:lnSpc>
              <a:buNone/>
            </a:pPr>
            <a:r>
              <a:rPr lang="en-US" sz="800" b="1" kern="0" spc="111" dirty="0">
                <a:solidFill>
                  <a:srgbClr val="8C6F12"/>
                </a:solidFill>
                <a:latin typeface="Carlito" pitchFamily="34" charset="0"/>
                <a:ea typeface="Carlito" pitchFamily="34" charset="-122"/>
                <a:cs typeface="Carlito" pitchFamily="34" charset="-120"/>
              </a:rPr>
              <a:t>SUPERVISOR</a:t>
            </a:r>
            <a:endParaRPr lang="en-US" sz="800" dirty="0"/>
          </a:p>
        </p:txBody>
      </p:sp>
      <p:sp>
        <p:nvSpPr>
          <p:cNvPr id="12" name="Text 10"/>
          <p:cNvSpPr/>
          <p:nvPr/>
        </p:nvSpPr>
        <p:spPr>
          <a:xfrm>
            <a:off x="1471613" y="3639183"/>
            <a:ext cx="3105388" cy="164592"/>
          </a:xfrm>
          <a:prstGeom prst="rect">
            <a:avLst/>
          </a:prstGeom>
          <a:noFill/>
          <a:ln/>
        </p:spPr>
        <p:txBody>
          <a:bodyPr wrap="none" lIns="0" tIns="0" rIns="0" bIns="0" rtlCol="0" anchor="t"/>
          <a:lstStyle/>
          <a:p>
            <a:pPr>
              <a:lnSpc>
                <a:spcPts val="1181"/>
              </a:lnSpc>
            </a:pPr>
            <a:r>
              <a:rPr lang="en-US" sz="800" dirty="0">
                <a:solidFill>
                  <a:srgbClr val="002060"/>
                </a:solidFill>
                <a:latin typeface="Carlito" pitchFamily="34" charset="0"/>
                <a:ea typeface="Carlito" pitchFamily="34" charset="-122"/>
                <a:cs typeface="Carlito" pitchFamily="34" charset="-120"/>
              </a:rPr>
              <a:t>Dr. [Samar Hisham]</a:t>
            </a:r>
            <a:endParaRPr lang="en-US" sz="800" dirty="0">
              <a:solidFill>
                <a:srgbClr val="002060"/>
              </a:solidFill>
            </a:endParaRPr>
          </a:p>
        </p:txBody>
      </p:sp>
      <p:sp>
        <p:nvSpPr>
          <p:cNvPr id="13" name="Text 11"/>
          <p:cNvSpPr/>
          <p:nvPr/>
        </p:nvSpPr>
        <p:spPr>
          <a:xfrm>
            <a:off x="571500" y="3903501"/>
            <a:ext cx="1030372" cy="164592"/>
          </a:xfrm>
          <a:prstGeom prst="rect">
            <a:avLst/>
          </a:prstGeom>
          <a:noFill/>
          <a:ln/>
        </p:spPr>
        <p:txBody>
          <a:bodyPr wrap="none" lIns="0" tIns="0" rIns="0" bIns="0" rtlCol="0" anchor="t"/>
          <a:lstStyle/>
          <a:p>
            <a:pPr marL="0" indent="0" algn="l">
              <a:lnSpc>
                <a:spcPts val="928"/>
              </a:lnSpc>
              <a:buNone/>
            </a:pPr>
            <a:r>
              <a:rPr lang="en-US" sz="800" b="1" kern="0" spc="111" dirty="0">
                <a:solidFill>
                  <a:srgbClr val="8C6F12"/>
                </a:solidFill>
                <a:latin typeface="Carlito" pitchFamily="34" charset="0"/>
                <a:ea typeface="Carlito" pitchFamily="34" charset="-122"/>
                <a:cs typeface="Carlito" pitchFamily="34" charset="-120"/>
              </a:rPr>
              <a:t>DEPARTMENT</a:t>
            </a:r>
            <a:endParaRPr lang="en-US" sz="800" dirty="0"/>
          </a:p>
        </p:txBody>
      </p:sp>
      <p:sp>
        <p:nvSpPr>
          <p:cNvPr id="14" name="Text 12"/>
          <p:cNvSpPr/>
          <p:nvPr/>
        </p:nvSpPr>
        <p:spPr>
          <a:xfrm>
            <a:off x="1471613" y="3874926"/>
            <a:ext cx="2957513" cy="329184"/>
          </a:xfrm>
          <a:prstGeom prst="rect">
            <a:avLst/>
          </a:prstGeom>
          <a:noFill/>
          <a:ln/>
        </p:spPr>
        <p:txBody>
          <a:bodyPr wrap="square" lIns="0" tIns="0" rIns="0" bIns="0" rtlCol="0" anchor="t"/>
          <a:lstStyle/>
          <a:p>
            <a:pPr marL="0" indent="0" algn="l">
              <a:lnSpc>
                <a:spcPts val="1181"/>
              </a:lnSpc>
              <a:buNone/>
            </a:pPr>
            <a:r>
              <a:rPr lang="en-US" sz="800" dirty="0">
                <a:solidFill>
                  <a:srgbClr val="002060"/>
                </a:solidFill>
                <a:latin typeface="Carlito" pitchFamily="34" charset="0"/>
                <a:ea typeface="Carlito" pitchFamily="34" charset="-122"/>
                <a:cs typeface="Carlito" pitchFamily="34" charset="-120"/>
              </a:rPr>
              <a:t>Faculty of Computers and Information — Software Department</a:t>
            </a:r>
            <a:endParaRPr lang="en-US" sz="800" dirty="0">
              <a:solidFill>
                <a:srgbClr val="002060"/>
              </a:solidFill>
            </a:endParaRPr>
          </a:p>
        </p:txBody>
      </p:sp>
      <p:pic>
        <p:nvPicPr>
          <p:cNvPr id="15" name="Image 0" descr="/tmp/h2p-fit-1781621414263-npg6gi.png"/>
          <p:cNvPicPr>
            <a:picLocks noChangeAspect="1"/>
          </p:cNvPicPr>
          <p:nvPr/>
        </p:nvPicPr>
        <p:blipFill>
          <a:blip r:embed="rId3"/>
          <a:stretch>
            <a:fillRect/>
          </a:stretch>
        </p:blipFill>
        <p:spPr>
          <a:xfrm>
            <a:off x="5486400" y="400050"/>
            <a:ext cx="3257550" cy="4343400"/>
          </a:xfrm>
          <a:prstGeom prst="rect">
            <a:avLst/>
          </a:prstGeom>
        </p:spPr>
      </p:pic>
      <p:sp>
        <p:nvSpPr>
          <p:cNvPr id="16" name="Text 13"/>
          <p:cNvSpPr/>
          <p:nvPr/>
        </p:nvSpPr>
        <p:spPr>
          <a:xfrm>
            <a:off x="6448909" y="528638"/>
            <a:ext cx="2166454" cy="203597"/>
          </a:xfrm>
          <a:prstGeom prst="roundRect">
            <a:avLst>
              <a:gd name="adj" fmla="val 18713"/>
            </a:avLst>
          </a:prstGeom>
          <a:solidFill>
            <a:srgbClr val="C9A227"/>
          </a:solidFill>
          <a:ln/>
          <a:effectLst>
            <a:outerShdw blurRad="114300" dist="38100" dir="5400000" algn="bl" rotWithShape="0">
              <a:srgbClr val="0F2A4A">
                <a:alpha val="25000"/>
              </a:srgbClr>
            </a:outerShdw>
          </a:effectLst>
        </p:spPr>
        <p:txBody>
          <a:bodyPr wrap="square" rtlCol="0" anchor="ctr"/>
          <a:lstStyle/>
          <a:p>
            <a:pPr marL="0" indent="0">
              <a:buNone/>
            </a:pPr>
            <a:endParaRPr lang="en-US" dirty="0"/>
          </a:p>
        </p:txBody>
      </p:sp>
      <p:sp>
        <p:nvSpPr>
          <p:cNvPr id="17" name="Text 14"/>
          <p:cNvSpPr/>
          <p:nvPr/>
        </p:nvSpPr>
        <p:spPr>
          <a:xfrm>
            <a:off x="6670365" y="534258"/>
            <a:ext cx="1859273" cy="129679"/>
          </a:xfrm>
          <a:prstGeom prst="rect">
            <a:avLst/>
          </a:prstGeom>
          <a:noFill/>
          <a:ln/>
        </p:spPr>
        <p:txBody>
          <a:bodyPr wrap="none" lIns="85725" tIns="42863" rIns="85725" bIns="42863" rtlCol="0" anchor="t"/>
          <a:lstStyle/>
          <a:p>
            <a:pPr marL="0" indent="0" algn="l">
              <a:lnSpc>
                <a:spcPts val="928"/>
              </a:lnSpc>
              <a:buNone/>
            </a:pPr>
            <a:r>
              <a:rPr lang="en-US" sz="800" b="1" kern="0" spc="74" dirty="0">
                <a:solidFill>
                  <a:srgbClr val="0F2A4A"/>
                </a:solidFill>
                <a:latin typeface="Carlito" pitchFamily="34" charset="0"/>
                <a:ea typeface="Carlito" pitchFamily="34" charset="-122"/>
                <a:cs typeface="Carlito" pitchFamily="34" charset="-120"/>
              </a:rPr>
              <a:t>LIVE DEMO · MEDWISE.RUNASP.NET</a:t>
            </a:r>
            <a:endParaRPr lang="en-US" sz="800" dirty="0"/>
          </a:p>
        </p:txBody>
      </p:sp>
      <p:sp>
        <p:nvSpPr>
          <p:cNvPr id="18" name="Text 15"/>
          <p:cNvSpPr/>
          <p:nvPr/>
        </p:nvSpPr>
        <p:spPr>
          <a:xfrm>
            <a:off x="6623930" y="584002"/>
            <a:ext cx="92869" cy="92869"/>
          </a:xfrm>
          <a:prstGeom prst="rect">
            <a:avLst/>
          </a:prstGeom>
          <a:noFill/>
          <a:ln/>
        </p:spPr>
        <p:txBody>
          <a:bodyPr wrap="none" lIns="0" tIns="0" rIns="0" bIns="0" rtlCol="0" anchor="ctr"/>
          <a:lstStyle/>
          <a:p>
            <a:pPr marL="0" indent="0" algn="ctr">
              <a:buNone/>
            </a:pPr>
            <a:r>
              <a:rPr lang="en-US" sz="914" dirty="0">
                <a:solidFill>
                  <a:srgbClr val="0F2A4A"/>
                </a:solidFill>
                <a:latin typeface="Segoe UI Symbol" pitchFamily="34" charset="0"/>
                <a:ea typeface="Segoe UI Symbol" pitchFamily="34" charset="-122"/>
                <a:cs typeface="Segoe UI Symbol" pitchFamily="34" charset="-120"/>
              </a:rPr>
              <a:t>▶</a:t>
            </a:r>
            <a:endParaRPr lang="en-US" sz="914" dirty="0"/>
          </a:p>
        </p:txBody>
      </p:sp>
      <p:sp>
        <p:nvSpPr>
          <p:cNvPr id="19" name="Text 16"/>
          <p:cNvSpPr/>
          <p:nvPr/>
        </p:nvSpPr>
        <p:spPr>
          <a:xfrm>
            <a:off x="571500" y="4854178"/>
            <a:ext cx="1862657"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7A8AA0"/>
                </a:solidFill>
                <a:latin typeface="Liberation Sans Narrow" pitchFamily="34" charset="0"/>
                <a:ea typeface="Liberation Sans Narrow" pitchFamily="34" charset="-122"/>
                <a:cs typeface="Liberation Sans Narrow" pitchFamily="34" charset="-120"/>
              </a:rPr>
              <a:t>ACADEMIC YEAR 202</a:t>
            </a:r>
            <a:r>
              <a:rPr lang="ar-EG" sz="800" kern="0" spc="111" dirty="0">
                <a:solidFill>
                  <a:srgbClr val="7A8AA0"/>
                </a:solidFill>
                <a:latin typeface="Liberation Sans Narrow" pitchFamily="34" charset="0"/>
                <a:ea typeface="Liberation Sans Narrow" pitchFamily="34" charset="-122"/>
                <a:cs typeface="Liberation Sans Narrow" pitchFamily="34" charset="-120"/>
              </a:rPr>
              <a:t>5</a:t>
            </a:r>
            <a:r>
              <a:rPr lang="en-US" sz="800" kern="0" spc="111" dirty="0">
                <a:solidFill>
                  <a:srgbClr val="7A8AA0"/>
                </a:solidFill>
                <a:latin typeface="Liberation Sans Narrow" pitchFamily="34" charset="0"/>
                <a:ea typeface="Liberation Sans Narrow" pitchFamily="34" charset="-122"/>
                <a:cs typeface="Liberation Sans Narrow" pitchFamily="34" charset="-120"/>
              </a:rPr>
              <a:t> / 202</a:t>
            </a:r>
            <a:r>
              <a:rPr lang="ar-EG" sz="800" kern="0" spc="111" dirty="0">
                <a:solidFill>
                  <a:srgbClr val="7A8AA0"/>
                </a:solidFill>
                <a:latin typeface="Liberation Sans Narrow" pitchFamily="34" charset="0"/>
                <a:ea typeface="Liberation Sans Narrow" pitchFamily="34" charset="-122"/>
                <a:cs typeface="Liberation Sans Narrow" pitchFamily="34" charset="-120"/>
              </a:rPr>
              <a:t>6</a:t>
            </a:r>
            <a:endParaRPr lang="en-US" sz="800" dirty="0"/>
          </a:p>
        </p:txBody>
      </p:sp>
      <p:sp>
        <p:nvSpPr>
          <p:cNvPr id="20" name="Text 17"/>
          <p:cNvSpPr/>
          <p:nvPr/>
        </p:nvSpPr>
        <p:spPr>
          <a:xfrm>
            <a:off x="7816379" y="4843463"/>
            <a:ext cx="1088737" cy="164592"/>
          </a:xfrm>
          <a:prstGeom prst="rect">
            <a:avLst/>
          </a:prstGeom>
          <a:noFill/>
          <a:ln/>
        </p:spPr>
        <p:txBody>
          <a:bodyPr wrap="square" lIns="0" tIns="0" rIns="0" bIns="0" rtlCol="0" anchor="t"/>
          <a:lstStyle/>
          <a:p>
            <a:pPr marL="0" indent="0" algn="l">
              <a:lnSpc>
                <a:spcPts val="1013"/>
              </a:lnSpc>
              <a:buNone/>
            </a:pPr>
            <a:r>
              <a:rPr lang="en-US" sz="800" i="1" kern="0" spc="27" dirty="0">
                <a:solidFill>
                  <a:srgbClr val="8C6F12"/>
                </a:solidFill>
                <a:latin typeface="Tinos" pitchFamily="34" charset="0"/>
                <a:ea typeface="Tinos" pitchFamily="34" charset="-122"/>
                <a:cs typeface="Tinos" pitchFamily="34" charset="-120"/>
              </a:rPr>
              <a:t>MedWise · Defense Deck</a:t>
            </a:r>
            <a:endParaRPr lang="en-US" sz="8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presetID="10" presetClass="entr" presetSubtype="0" fill="hold" nodeType="afterEffect">
                      <p:stCondLst>
                        <p:cond delay="15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300"/>
                            <p:tgtEl>
                              <p:spTgt spid="2"/>
                            </p:tgtEl>
                          </p:cBhvr>
                        </p:animEffect>
                      </p:childTnLst>
                    </p:cTn>
                  </p:par>
                  <p:par>
                    <p:cTn id="6" presetID="10" presetClass="entr" presetSubtype="0" fill="hold" nodeType="after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300"/>
                            <p:tgtEl>
                              <p:spTgt spid="3"/>
                            </p:tgtEl>
                          </p:cBhvr>
                        </p:animEffect>
                      </p:childTnLst>
                    </p:cTn>
                  </p:par>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300"/>
                            <p:tgtEl>
                              <p:spTgt spid="4"/>
                            </p:tgtEl>
                          </p:cBhvr>
                        </p:animEffect>
                      </p:childTnLst>
                    </p:cTn>
                  </p:par>
                  <p:par>
                    <p:cTn id="12" presetID="10"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300"/>
                            <p:tgtEl>
                              <p:spTgt spid="5"/>
                            </p:tgtEl>
                          </p:cBhvr>
                        </p:animEffect>
                      </p:childTnLst>
                    </p:cTn>
                  </p:par>
                  <p:par>
                    <p:cTn id="15" presetID="10" presetClass="entr" presetSubtype="0"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300"/>
                            <p:tgtEl>
                              <p:spTgt spid="6"/>
                            </p:tgtEl>
                          </p:cBhvr>
                        </p:animEffect>
                      </p:childTnLst>
                    </p:cTn>
                  </p:par>
                  <p:par>
                    <p:cTn id="18" presetID="10" presetClass="entr" presetSubtype="0"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300"/>
                            <p:tgtEl>
                              <p:spTgt spid="7"/>
                            </p:tgtEl>
                          </p:cBhvr>
                        </p:animEffect>
                      </p:childTnLst>
                    </p:cTn>
                  </p:par>
                  <p:par>
                    <p:cTn id="21" presetID="10" presetClass="entr" presetSubtype="0"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300"/>
                            <p:tgtEl>
                              <p:spTgt spid="9"/>
                            </p:tgtEl>
                          </p:cBhvr>
                        </p:animEffect>
                      </p:childTnLst>
                    </p:cTn>
                  </p:par>
                  <p:par>
                    <p:cTn id="27" presetID="10" presetClass="entr" presetSubtype="0" fill="hold"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300"/>
                            <p:tgtEl>
                              <p:spTgt spid="10"/>
                            </p:tgtEl>
                          </p:cBhvr>
                        </p:animEffect>
                      </p:childTnLst>
                    </p:cTn>
                  </p:par>
                  <p:par>
                    <p:cTn id="30" presetID="10" presetClass="entr" presetSubtype="0" fill="hold"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300"/>
                            <p:tgtEl>
                              <p:spTgt spid="11"/>
                            </p:tgtEl>
                          </p:cBhvr>
                        </p:animEffect>
                      </p:childTnLst>
                    </p:cTn>
                  </p:par>
                  <p:par>
                    <p:cTn id="33" presetID="10" presetClass="entr" presetSubtype="0" fill="hold"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300"/>
                            <p:tgtEl>
                              <p:spTgt spid="12"/>
                            </p:tgtEl>
                          </p:cBhvr>
                        </p:animEffect>
                      </p:childTnLst>
                    </p:cTn>
                  </p:par>
                  <p:par>
                    <p:cTn id="36" presetID="10" presetClass="entr" presetSubtype="0" fill="hold"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300"/>
                            <p:tgtEl>
                              <p:spTgt spid="13"/>
                            </p:tgtEl>
                          </p:cBhvr>
                        </p:animEffect>
                      </p:childTnLst>
                    </p:cTn>
                  </p:par>
                  <p:par>
                    <p:cTn id="39" presetID="10" presetClass="entr" presetSubtype="0" fill="hold"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300"/>
                            <p:tgtEl>
                              <p:spTgt spid="14"/>
                            </p:tgtEl>
                          </p:cBhvr>
                        </p:animEffect>
                      </p:childTnLst>
                    </p:cTn>
                  </p:par>
                  <p:par>
                    <p:cTn id="42" presetID="10" presetClass="entr" presetSubtype="0" fill="hold" nodeType="after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300"/>
                            <p:tgtEl>
                              <p:spTgt spid="16"/>
                            </p:tgtEl>
                          </p:cBhvr>
                        </p:animEffect>
                      </p:childTnLst>
                    </p:cTn>
                  </p:par>
                  <p:par>
                    <p:cTn id="45" presetID="10" presetClass="entr" presetSubtype="0" fill="hold" nodeType="after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300"/>
                            <p:tgtEl>
                              <p:spTgt spid="17"/>
                            </p:tgtEl>
                          </p:cBhvr>
                        </p:animEffect>
                      </p:childTnLst>
                    </p:cTn>
                  </p:par>
                  <p:par>
                    <p:cTn id="48" presetID="10" presetClass="entr" presetSubtype="0" fill="hold" nodeType="after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300"/>
                            <p:tgtEl>
                              <p:spTgt spid="18"/>
                            </p:tgtEl>
                          </p:cBhvr>
                        </p:animEffect>
                      </p:childTnLst>
                    </p:cTn>
                  </p:par>
                  <p:par>
                    <p:cTn id="51" presetID="10" presetClass="entr" presetSubtype="0" fill="hold" nodeType="after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300"/>
                            <p:tgtEl>
                              <p:spTgt spid="19"/>
                            </p:tgtEl>
                          </p:cBhvr>
                        </p:animEffect>
                      </p:childTnLst>
                    </p:cTn>
                  </p:par>
                  <p:par>
                    <p:cTn id="54" presetID="10" presetClass="entr" presetSubtype="0" fill="hold" nodeType="after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300"/>
                            <p:tgtEl>
                              <p:spTgt spid="20"/>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514350" y="632222"/>
            <a:ext cx="8115300" cy="0"/>
          </a:xfrm>
          <a:prstGeom prst="line">
            <a:avLst/>
          </a:prstGeom>
          <a:noFill/>
          <a:ln w="7144">
            <a:solidFill>
              <a:srgbClr val="D9D2BC"/>
            </a:solidFill>
            <a:prstDash val="solid"/>
          </a:ln>
        </p:spPr>
      </p:sp>
      <p:sp>
        <p:nvSpPr>
          <p:cNvPr id="3" name="Shape 1"/>
          <p:cNvSpPr/>
          <p:nvPr/>
        </p:nvSpPr>
        <p:spPr>
          <a:xfrm>
            <a:off x="514350" y="4836319"/>
            <a:ext cx="8115300" cy="0"/>
          </a:xfrm>
          <a:prstGeom prst="line">
            <a:avLst/>
          </a:prstGeom>
          <a:noFill/>
          <a:ln w="7144">
            <a:solidFill>
              <a:srgbClr val="D9D2BC"/>
            </a:solidFill>
            <a:prstDash val="solid"/>
          </a:ln>
        </p:spPr>
      </p:sp>
      <p:sp>
        <p:nvSpPr>
          <p:cNvPr id="4" name="Text 2"/>
          <p:cNvSpPr/>
          <p:nvPr/>
        </p:nvSpPr>
        <p:spPr>
          <a:xfrm>
            <a:off x="514350" y="400050"/>
            <a:ext cx="767964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01 · INTRODUCTION</a:t>
            </a:r>
            <a:endParaRPr lang="en-US" sz="800" dirty="0"/>
          </a:p>
        </p:txBody>
      </p:sp>
      <p:sp>
        <p:nvSpPr>
          <p:cNvPr id="5" name="Text 3"/>
          <p:cNvSpPr/>
          <p:nvPr/>
        </p:nvSpPr>
        <p:spPr>
          <a:xfrm>
            <a:off x="8208280" y="400050"/>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02 / 21</a:t>
            </a:r>
            <a:endParaRPr lang="en-US" sz="800" dirty="0"/>
          </a:p>
        </p:txBody>
      </p:sp>
      <p:sp>
        <p:nvSpPr>
          <p:cNvPr id="6" name="Text 4"/>
          <p:cNvSpPr/>
          <p:nvPr/>
        </p:nvSpPr>
        <p:spPr>
          <a:xfrm>
            <a:off x="514350" y="835819"/>
            <a:ext cx="4638638" cy="305476"/>
          </a:xfrm>
          <a:prstGeom prst="rect">
            <a:avLst/>
          </a:prstGeom>
          <a:noFill/>
          <a:ln/>
        </p:spPr>
        <p:txBody>
          <a:bodyPr wrap="square" lIns="0" tIns="0" rIns="0" bIns="0" rtlCol="0" anchor="t"/>
          <a:lstStyle/>
          <a:p>
            <a:pPr marL="0" indent="0" algn="l">
              <a:lnSpc>
                <a:spcPts val="2228"/>
              </a:lnSpc>
              <a:buNone/>
            </a:pPr>
            <a:r>
              <a:rPr lang="en-US" sz="2025" b="1" kern="0" spc="-20" dirty="0">
                <a:solidFill>
                  <a:srgbClr val="0F2A4A"/>
                </a:solidFill>
                <a:latin typeface="Tinos" pitchFamily="34" charset="0"/>
                <a:ea typeface="Tinos" pitchFamily="34" charset="-122"/>
                <a:cs typeface="Tinos" pitchFamily="34" charset="-120"/>
              </a:rPr>
              <a:t>Medication Safety, Simplified</a:t>
            </a:r>
            <a:endParaRPr lang="en-US" sz="2025" dirty="0"/>
          </a:p>
        </p:txBody>
      </p:sp>
      <p:sp>
        <p:nvSpPr>
          <p:cNvPr id="7" name="Text 5"/>
          <p:cNvSpPr/>
          <p:nvPr/>
        </p:nvSpPr>
        <p:spPr>
          <a:xfrm>
            <a:off x="514350" y="1190104"/>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8" name="Text 6"/>
          <p:cNvSpPr/>
          <p:nvPr/>
        </p:nvSpPr>
        <p:spPr>
          <a:xfrm>
            <a:off x="514350" y="1311548"/>
            <a:ext cx="4638638" cy="1362027"/>
          </a:xfrm>
          <a:prstGeom prst="rect">
            <a:avLst/>
          </a:prstGeom>
          <a:noFill/>
          <a:ln/>
        </p:spPr>
        <p:txBody>
          <a:bodyPr wrap="square" lIns="0" tIns="0" rIns="0" bIns="0" rtlCol="0" anchor="t">
            <a:normAutofit/>
          </a:bodyPr>
          <a:lstStyle/>
          <a:p>
            <a:pPr marL="0" indent="0" algn="l">
              <a:lnSpc>
                <a:spcPts val="1434"/>
              </a:lnSpc>
              <a:buNone/>
            </a:pPr>
            <a:r>
              <a:rPr lang="en-US" sz="844" dirty="0">
                <a:solidFill>
                  <a:srgbClr val="0F2A4A"/>
                </a:solidFill>
                <a:latin typeface="Carlito" pitchFamily="34" charset="0"/>
                <a:ea typeface="Carlito" pitchFamily="34" charset="-122"/>
                <a:cs typeface="Carlito" pitchFamily="34" charset="-120"/>
              </a:rPr>
              <a:t>MedWise is a web-based medication management platform built to help elderly patients manage their daily medications safely and to keep their families informed in real time. The system combines medication tracking, automated drug-interaction checks, an AI chatbot for plain-language medical guidance, scheduled reminders, remote caregiver monitoring, and a one-tap emergency button. It is designed for an audience that is often underserved by generic health apps — older adults who take multiple prescriptions and the family members who support them.</a:t>
            </a:r>
            <a:endParaRPr lang="en-US" sz="844" dirty="0"/>
          </a:p>
        </p:txBody>
      </p:sp>
      <p:sp>
        <p:nvSpPr>
          <p:cNvPr id="9" name="Text 7"/>
          <p:cNvSpPr/>
          <p:nvPr/>
        </p:nvSpPr>
        <p:spPr>
          <a:xfrm>
            <a:off x="491490" y="2690506"/>
            <a:ext cx="1478265" cy="196025"/>
          </a:xfrm>
          <a:prstGeom prst="roundRect">
            <a:avLst>
              <a:gd name="adj" fmla="val 4854215"/>
            </a:avLst>
          </a:prstGeom>
          <a:solidFill>
            <a:srgbClr val="E6C75A"/>
          </a:solidFill>
          <a:ln/>
        </p:spPr>
        <p:txBody>
          <a:bodyPr wrap="square" rtlCol="0" anchor="ctr"/>
          <a:lstStyle/>
          <a:p>
            <a:pPr marL="0" indent="0">
              <a:buNone/>
            </a:pPr>
            <a:endParaRPr lang="en-US" dirty="0"/>
          </a:p>
        </p:txBody>
      </p:sp>
      <p:sp>
        <p:nvSpPr>
          <p:cNvPr id="10" name="Text 8"/>
          <p:cNvSpPr/>
          <p:nvPr/>
        </p:nvSpPr>
        <p:spPr>
          <a:xfrm>
            <a:off x="721519" y="2736726"/>
            <a:ext cx="1153939" cy="92869"/>
          </a:xfrm>
          <a:prstGeom prst="rect">
            <a:avLst/>
          </a:prstGeom>
          <a:noFill/>
          <a:ln/>
        </p:spPr>
        <p:txBody>
          <a:bodyPr wrap="none" lIns="0" tIns="0" rIns="0" bIns="0" rtlCol="0" anchor="ctr"/>
          <a:lstStyle/>
          <a:p>
            <a:pPr marL="0" indent="0" algn="ctr">
              <a:lnSpc>
                <a:spcPts val="928"/>
              </a:lnSpc>
              <a:buNone/>
            </a:pPr>
            <a:r>
              <a:rPr lang="en-US" sz="800" kern="0" spc="50" dirty="0">
                <a:solidFill>
                  <a:srgbClr val="8C6F12"/>
                </a:solidFill>
                <a:latin typeface="Carlito" pitchFamily="34" charset="0"/>
                <a:ea typeface="Carlito" pitchFamily="34" charset="-122"/>
                <a:cs typeface="Carlito" pitchFamily="34" charset="-120"/>
              </a:rPr>
              <a:t>MEDICATION TRACKING</a:t>
            </a:r>
            <a:endParaRPr lang="en-US" sz="800" dirty="0"/>
          </a:p>
        </p:txBody>
      </p:sp>
      <p:sp>
        <p:nvSpPr>
          <p:cNvPr id="11" name="Text 9"/>
          <p:cNvSpPr/>
          <p:nvPr/>
        </p:nvSpPr>
        <p:spPr>
          <a:xfrm>
            <a:off x="585788" y="2742084"/>
            <a:ext cx="92869" cy="92869"/>
          </a:xfrm>
          <a:prstGeom prst="rect">
            <a:avLst/>
          </a:prstGeom>
          <a:noFill/>
          <a:ln/>
        </p:spPr>
        <p:txBody>
          <a:bodyPr wrap="none" lIns="0" tIns="0" rIns="0" bIns="0" rtlCol="0" anchor="ctr"/>
          <a:lstStyle/>
          <a:p>
            <a:pPr marL="0" indent="0" algn="ctr">
              <a:buNone/>
            </a:pPr>
            <a:r>
              <a:rPr lang="en-US" sz="914" dirty="0">
                <a:solidFill>
                  <a:srgbClr val="8C6F12"/>
                </a:solidFill>
                <a:latin typeface="Segoe UI Symbol" pitchFamily="34" charset="0"/>
                <a:ea typeface="Segoe UI Symbol" pitchFamily="34" charset="-122"/>
                <a:cs typeface="Segoe UI Symbol" pitchFamily="34" charset="-120"/>
              </a:rPr>
              <a:t>◯</a:t>
            </a:r>
            <a:endParaRPr lang="en-US" sz="914" dirty="0"/>
          </a:p>
        </p:txBody>
      </p:sp>
      <p:sp>
        <p:nvSpPr>
          <p:cNvPr id="12" name="Text 10"/>
          <p:cNvSpPr/>
          <p:nvPr/>
        </p:nvSpPr>
        <p:spPr>
          <a:xfrm>
            <a:off x="1981185" y="2690506"/>
            <a:ext cx="1396893" cy="196025"/>
          </a:xfrm>
          <a:prstGeom prst="roundRect">
            <a:avLst>
              <a:gd name="adj" fmla="val 4854215"/>
            </a:avLst>
          </a:prstGeom>
          <a:solidFill>
            <a:srgbClr val="E6C75A"/>
          </a:solidFill>
          <a:ln/>
        </p:spPr>
        <p:txBody>
          <a:bodyPr wrap="square" rtlCol="0" anchor="ctr"/>
          <a:lstStyle/>
          <a:p>
            <a:pPr marL="0" indent="0">
              <a:buNone/>
            </a:pPr>
            <a:endParaRPr lang="en-US" dirty="0"/>
          </a:p>
        </p:txBody>
      </p:sp>
      <p:sp>
        <p:nvSpPr>
          <p:cNvPr id="13" name="Text 11"/>
          <p:cNvSpPr/>
          <p:nvPr/>
        </p:nvSpPr>
        <p:spPr>
          <a:xfrm>
            <a:off x="2211214" y="2736726"/>
            <a:ext cx="1072567" cy="92869"/>
          </a:xfrm>
          <a:prstGeom prst="rect">
            <a:avLst/>
          </a:prstGeom>
          <a:noFill/>
          <a:ln/>
        </p:spPr>
        <p:txBody>
          <a:bodyPr wrap="none" lIns="0" tIns="0" rIns="0" bIns="0" rtlCol="0" anchor="ctr"/>
          <a:lstStyle/>
          <a:p>
            <a:pPr marL="0" indent="0" algn="ctr">
              <a:lnSpc>
                <a:spcPts val="928"/>
              </a:lnSpc>
              <a:buNone/>
            </a:pPr>
            <a:r>
              <a:rPr lang="en-US" sz="800" kern="0" spc="50" dirty="0">
                <a:solidFill>
                  <a:srgbClr val="8C6F12"/>
                </a:solidFill>
                <a:latin typeface="Carlito" pitchFamily="34" charset="0"/>
                <a:ea typeface="Carlito" pitchFamily="34" charset="-122"/>
                <a:cs typeface="Carlito" pitchFamily="34" charset="-120"/>
              </a:rPr>
              <a:t>INTERACTION SAFETY</a:t>
            </a:r>
            <a:endParaRPr lang="en-US" sz="800" dirty="0"/>
          </a:p>
        </p:txBody>
      </p:sp>
      <p:sp>
        <p:nvSpPr>
          <p:cNvPr id="14" name="Text 12"/>
          <p:cNvSpPr/>
          <p:nvPr/>
        </p:nvSpPr>
        <p:spPr>
          <a:xfrm>
            <a:off x="2075483" y="2742084"/>
            <a:ext cx="92869" cy="92869"/>
          </a:xfrm>
          <a:prstGeom prst="rect">
            <a:avLst/>
          </a:prstGeom>
          <a:noFill/>
          <a:ln/>
        </p:spPr>
        <p:txBody>
          <a:bodyPr wrap="none" lIns="0" tIns="0" rIns="0" bIns="0" rtlCol="0" anchor="ctr"/>
          <a:lstStyle/>
          <a:p>
            <a:pPr marL="0" indent="0" algn="ctr">
              <a:buNone/>
            </a:pPr>
            <a:r>
              <a:rPr lang="en-US" sz="914" dirty="0">
                <a:solidFill>
                  <a:srgbClr val="8C6F12"/>
                </a:solidFill>
                <a:latin typeface="Segoe UI Symbol" pitchFamily="34" charset="0"/>
                <a:ea typeface="Segoe UI Symbol" pitchFamily="34" charset="-122"/>
                <a:cs typeface="Segoe UI Symbol" pitchFamily="34" charset="-120"/>
              </a:rPr>
              <a:t>⛨</a:t>
            </a:r>
            <a:endParaRPr lang="en-US" sz="914" dirty="0"/>
          </a:p>
        </p:txBody>
      </p:sp>
      <p:sp>
        <p:nvSpPr>
          <p:cNvPr id="15" name="Text 13"/>
          <p:cNvSpPr/>
          <p:nvPr/>
        </p:nvSpPr>
        <p:spPr>
          <a:xfrm>
            <a:off x="3389508" y="2690506"/>
            <a:ext cx="1559302" cy="196025"/>
          </a:xfrm>
          <a:prstGeom prst="roundRect">
            <a:avLst>
              <a:gd name="adj" fmla="val 4854215"/>
            </a:avLst>
          </a:prstGeom>
          <a:solidFill>
            <a:srgbClr val="E6C75A"/>
          </a:solidFill>
          <a:ln/>
        </p:spPr>
        <p:txBody>
          <a:bodyPr wrap="square" rtlCol="0" anchor="ctr"/>
          <a:lstStyle/>
          <a:p>
            <a:pPr marL="0" indent="0">
              <a:buNone/>
            </a:pPr>
            <a:endParaRPr lang="en-US" dirty="0"/>
          </a:p>
        </p:txBody>
      </p:sp>
      <p:sp>
        <p:nvSpPr>
          <p:cNvPr id="16" name="Text 14"/>
          <p:cNvSpPr/>
          <p:nvPr/>
        </p:nvSpPr>
        <p:spPr>
          <a:xfrm>
            <a:off x="3619537" y="2736726"/>
            <a:ext cx="1234976" cy="92869"/>
          </a:xfrm>
          <a:prstGeom prst="rect">
            <a:avLst/>
          </a:prstGeom>
          <a:noFill/>
          <a:ln/>
        </p:spPr>
        <p:txBody>
          <a:bodyPr wrap="none" lIns="0" tIns="0" rIns="0" bIns="0" rtlCol="0" anchor="ctr"/>
          <a:lstStyle/>
          <a:p>
            <a:pPr marL="0" indent="0" algn="ctr">
              <a:lnSpc>
                <a:spcPts val="928"/>
              </a:lnSpc>
              <a:buNone/>
            </a:pPr>
            <a:r>
              <a:rPr lang="en-US" sz="800" kern="0" spc="50" dirty="0">
                <a:solidFill>
                  <a:srgbClr val="8C6F12"/>
                </a:solidFill>
                <a:latin typeface="Carlito" pitchFamily="34" charset="0"/>
                <a:ea typeface="Carlito" pitchFamily="34" charset="-122"/>
                <a:cs typeface="Carlito" pitchFamily="34" charset="-120"/>
              </a:rPr>
              <a:t>CAREGIVER MONITORING</a:t>
            </a:r>
            <a:endParaRPr lang="en-US" sz="800" dirty="0"/>
          </a:p>
        </p:txBody>
      </p:sp>
      <p:sp>
        <p:nvSpPr>
          <p:cNvPr id="17" name="Text 15"/>
          <p:cNvSpPr/>
          <p:nvPr/>
        </p:nvSpPr>
        <p:spPr>
          <a:xfrm>
            <a:off x="3483806" y="2742084"/>
            <a:ext cx="92869" cy="92869"/>
          </a:xfrm>
          <a:prstGeom prst="rect">
            <a:avLst/>
          </a:prstGeom>
          <a:noFill/>
          <a:ln/>
        </p:spPr>
        <p:txBody>
          <a:bodyPr wrap="none" lIns="0" tIns="0" rIns="0" bIns="0" rtlCol="0" anchor="ctr"/>
          <a:lstStyle/>
          <a:p>
            <a:pPr marL="0" indent="0" algn="ctr">
              <a:buNone/>
            </a:pPr>
            <a:r>
              <a:rPr lang="en-US" sz="914" dirty="0">
                <a:solidFill>
                  <a:srgbClr val="8C6F12"/>
                </a:solidFill>
                <a:latin typeface="Segoe UI Symbol" pitchFamily="34" charset="0"/>
                <a:ea typeface="Segoe UI Symbol" pitchFamily="34" charset="-122"/>
                <a:cs typeface="Segoe UI Symbol" pitchFamily="34" charset="-120"/>
              </a:rPr>
              <a:t>♟</a:t>
            </a:r>
            <a:endParaRPr lang="en-US" sz="914" dirty="0"/>
          </a:p>
        </p:txBody>
      </p:sp>
      <p:sp>
        <p:nvSpPr>
          <p:cNvPr id="18" name="Text 16"/>
          <p:cNvSpPr/>
          <p:nvPr/>
        </p:nvSpPr>
        <p:spPr>
          <a:xfrm>
            <a:off x="517922" y="2993901"/>
            <a:ext cx="2269257" cy="452177"/>
          </a:xfrm>
          <a:prstGeom prst="roundRect">
            <a:avLst>
              <a:gd name="adj" fmla="val 12639"/>
            </a:avLst>
          </a:prstGeom>
          <a:solidFill>
            <a:srgbClr val="FFFFFF"/>
          </a:solidFill>
          <a:ln w="7144">
            <a:solidFill>
              <a:srgbClr val="D9D2BC"/>
            </a:solidFill>
            <a:prstDash val="solid"/>
          </a:ln>
        </p:spPr>
        <p:txBody>
          <a:bodyPr wrap="square" rtlCol="0" anchor="ctr"/>
          <a:lstStyle/>
          <a:p>
            <a:pPr marL="0" indent="0">
              <a:buNone/>
            </a:pPr>
            <a:endParaRPr lang="en-US" dirty="0"/>
          </a:p>
        </p:txBody>
      </p:sp>
      <p:sp>
        <p:nvSpPr>
          <p:cNvPr id="19" name="Text 17"/>
          <p:cNvSpPr/>
          <p:nvPr/>
        </p:nvSpPr>
        <p:spPr>
          <a:xfrm>
            <a:off x="621506" y="3083198"/>
            <a:ext cx="2062088" cy="126159"/>
          </a:xfrm>
          <a:prstGeom prst="rect">
            <a:avLst/>
          </a:prstGeom>
          <a:noFill/>
          <a:ln/>
        </p:spPr>
        <p:txBody>
          <a:bodyPr wrap="none" lIns="0" tIns="0" rIns="0" bIns="0" rtlCol="0" anchor="t">
            <a:normAutofit fontScale="77500" lnSpcReduction="20000"/>
          </a:bodyPr>
          <a:lstStyle/>
          <a:p>
            <a:pPr marL="0" indent="0" algn="l">
              <a:lnSpc>
                <a:spcPts val="1097"/>
              </a:lnSpc>
              <a:buNone/>
            </a:pPr>
            <a:r>
              <a:rPr lang="en-US" sz="800" b="1" kern="0" spc="7" dirty="0">
                <a:solidFill>
                  <a:srgbClr val="8C6F12"/>
                </a:solidFill>
                <a:latin typeface="Segoe UI Symbol" pitchFamily="34" charset="0"/>
                <a:ea typeface="Segoe UI Symbol" pitchFamily="34" charset="-122"/>
                <a:cs typeface="Segoe UI Symbol" pitchFamily="34" charset="-120"/>
              </a:rPr>
              <a:t>☻</a:t>
            </a:r>
            <a:r>
              <a:rPr lang="en-US" sz="800" b="1" kern="0" spc="7" dirty="0">
                <a:solidFill>
                  <a:srgbClr val="0F2A4A"/>
                </a:solidFill>
                <a:latin typeface="Carlito" pitchFamily="34" charset="0"/>
                <a:ea typeface="Carlito" pitchFamily="34" charset="-122"/>
                <a:cs typeface="Carlito" pitchFamily="34" charset="-120"/>
              </a:rPr>
              <a:t> Patient-first design</a:t>
            </a:r>
            <a:endParaRPr lang="en-US" sz="800" dirty="0"/>
          </a:p>
        </p:txBody>
      </p:sp>
      <p:sp>
        <p:nvSpPr>
          <p:cNvPr id="20" name="Text 18"/>
          <p:cNvSpPr/>
          <p:nvPr/>
        </p:nvSpPr>
        <p:spPr>
          <a:xfrm>
            <a:off x="621506" y="3236788"/>
            <a:ext cx="2171816" cy="119993"/>
          </a:xfrm>
          <a:prstGeom prst="rect">
            <a:avLst/>
          </a:prstGeom>
          <a:noFill/>
          <a:ln/>
        </p:spPr>
        <p:txBody>
          <a:bodyPr wrap="square" lIns="0" tIns="0" rIns="0" bIns="0" rtlCol="0" anchor="t"/>
          <a:lstStyle/>
          <a:p>
            <a:pPr marL="0" indent="0" algn="l">
              <a:lnSpc>
                <a:spcPts val="945"/>
              </a:lnSpc>
              <a:buNone/>
            </a:pPr>
            <a:r>
              <a:rPr lang="en-US" sz="800" dirty="0">
                <a:solidFill>
                  <a:srgbClr val="4A5A75"/>
                </a:solidFill>
                <a:latin typeface="Carlito" pitchFamily="34" charset="0"/>
                <a:ea typeface="Carlito" pitchFamily="34" charset="-122"/>
                <a:cs typeface="Carlito" pitchFamily="34" charset="-120"/>
              </a:rPr>
              <a:t>Large text, calm colors, simple flows</a:t>
            </a:r>
            <a:endParaRPr lang="en-US" sz="800" dirty="0"/>
          </a:p>
        </p:txBody>
      </p:sp>
      <p:sp>
        <p:nvSpPr>
          <p:cNvPr id="21" name="Text 19"/>
          <p:cNvSpPr/>
          <p:nvPr/>
        </p:nvSpPr>
        <p:spPr>
          <a:xfrm>
            <a:off x="2880047" y="2993901"/>
            <a:ext cx="2269368" cy="452177"/>
          </a:xfrm>
          <a:prstGeom prst="roundRect">
            <a:avLst>
              <a:gd name="adj" fmla="val 12639"/>
            </a:avLst>
          </a:prstGeom>
          <a:solidFill>
            <a:srgbClr val="FFFFFF"/>
          </a:solidFill>
          <a:ln w="7144">
            <a:solidFill>
              <a:srgbClr val="D9D2BC"/>
            </a:solidFill>
            <a:prstDash val="solid"/>
          </a:ln>
        </p:spPr>
        <p:txBody>
          <a:bodyPr wrap="square" rtlCol="0" anchor="ctr"/>
          <a:lstStyle/>
          <a:p>
            <a:pPr marL="0" indent="0">
              <a:buNone/>
            </a:pPr>
            <a:endParaRPr lang="en-US" dirty="0"/>
          </a:p>
        </p:txBody>
      </p:sp>
      <p:sp>
        <p:nvSpPr>
          <p:cNvPr id="22" name="Text 20"/>
          <p:cNvSpPr/>
          <p:nvPr/>
        </p:nvSpPr>
        <p:spPr>
          <a:xfrm>
            <a:off x="2983632" y="3083198"/>
            <a:ext cx="2062200" cy="126159"/>
          </a:xfrm>
          <a:prstGeom prst="rect">
            <a:avLst/>
          </a:prstGeom>
          <a:noFill/>
          <a:ln/>
        </p:spPr>
        <p:txBody>
          <a:bodyPr wrap="none" lIns="0" tIns="0" rIns="0" bIns="0" rtlCol="0" anchor="t">
            <a:normAutofit fontScale="77500" lnSpcReduction="20000"/>
          </a:bodyPr>
          <a:lstStyle/>
          <a:p>
            <a:pPr marL="0" indent="0" algn="l">
              <a:lnSpc>
                <a:spcPts val="1097"/>
              </a:lnSpc>
              <a:buNone/>
            </a:pPr>
            <a:r>
              <a:rPr lang="en-US" sz="800" b="1" kern="0" spc="7" dirty="0">
                <a:solidFill>
                  <a:srgbClr val="8C6F12"/>
                </a:solidFill>
                <a:latin typeface="Segoe UI Symbol" pitchFamily="34" charset="0"/>
                <a:ea typeface="Segoe UI Symbol" pitchFamily="34" charset="-122"/>
                <a:cs typeface="Segoe UI Symbol" pitchFamily="34" charset="-120"/>
              </a:rPr>
              <a:t>⛨</a:t>
            </a:r>
            <a:r>
              <a:rPr lang="en-US" sz="800" b="1" kern="0" spc="7" dirty="0">
                <a:solidFill>
                  <a:srgbClr val="0F2A4A"/>
                </a:solidFill>
                <a:latin typeface="Carlito" pitchFamily="34" charset="0"/>
                <a:ea typeface="Carlito" pitchFamily="34" charset="-122"/>
                <a:cs typeface="Carlito" pitchFamily="34" charset="-120"/>
              </a:rPr>
              <a:t> Real-time safety</a:t>
            </a:r>
            <a:endParaRPr lang="en-US" sz="800" dirty="0"/>
          </a:p>
        </p:txBody>
      </p:sp>
      <p:sp>
        <p:nvSpPr>
          <p:cNvPr id="23" name="Text 21"/>
          <p:cNvSpPr/>
          <p:nvPr/>
        </p:nvSpPr>
        <p:spPr>
          <a:xfrm>
            <a:off x="2983632" y="3236788"/>
            <a:ext cx="2171928" cy="119993"/>
          </a:xfrm>
          <a:prstGeom prst="rect">
            <a:avLst/>
          </a:prstGeom>
          <a:noFill/>
          <a:ln/>
        </p:spPr>
        <p:txBody>
          <a:bodyPr wrap="square" lIns="0" tIns="0" rIns="0" bIns="0" rtlCol="0" anchor="t"/>
          <a:lstStyle/>
          <a:p>
            <a:pPr marL="0" indent="0" algn="l">
              <a:lnSpc>
                <a:spcPts val="945"/>
              </a:lnSpc>
              <a:buNone/>
            </a:pPr>
            <a:r>
              <a:rPr lang="en-US" sz="800" dirty="0">
                <a:solidFill>
                  <a:srgbClr val="4A5A75"/>
                </a:solidFill>
                <a:latin typeface="Carlito" pitchFamily="34" charset="0"/>
                <a:ea typeface="Carlito" pitchFamily="34" charset="-122"/>
                <a:cs typeface="Carlito" pitchFamily="34" charset="-120"/>
              </a:rPr>
              <a:t>Interaction warnings before intake</a:t>
            </a:r>
            <a:endParaRPr lang="en-US" sz="800" dirty="0"/>
          </a:p>
        </p:txBody>
      </p:sp>
      <p:sp>
        <p:nvSpPr>
          <p:cNvPr id="24" name="Text 22"/>
          <p:cNvSpPr/>
          <p:nvPr/>
        </p:nvSpPr>
        <p:spPr>
          <a:xfrm>
            <a:off x="517922" y="3538947"/>
            <a:ext cx="2269257" cy="452177"/>
          </a:xfrm>
          <a:prstGeom prst="roundRect">
            <a:avLst>
              <a:gd name="adj" fmla="val 12639"/>
            </a:avLst>
          </a:prstGeom>
          <a:solidFill>
            <a:srgbClr val="FFFFFF"/>
          </a:solidFill>
          <a:ln w="7144">
            <a:solidFill>
              <a:srgbClr val="D9D2BC"/>
            </a:solidFill>
            <a:prstDash val="solid"/>
          </a:ln>
        </p:spPr>
        <p:txBody>
          <a:bodyPr wrap="square" rtlCol="0" anchor="ctr"/>
          <a:lstStyle/>
          <a:p>
            <a:pPr marL="0" indent="0">
              <a:buNone/>
            </a:pPr>
            <a:endParaRPr lang="en-US" dirty="0"/>
          </a:p>
        </p:txBody>
      </p:sp>
      <p:sp>
        <p:nvSpPr>
          <p:cNvPr id="25" name="Text 23"/>
          <p:cNvSpPr/>
          <p:nvPr/>
        </p:nvSpPr>
        <p:spPr>
          <a:xfrm>
            <a:off x="621506" y="3628244"/>
            <a:ext cx="2062088" cy="126159"/>
          </a:xfrm>
          <a:prstGeom prst="rect">
            <a:avLst/>
          </a:prstGeom>
          <a:noFill/>
          <a:ln/>
        </p:spPr>
        <p:txBody>
          <a:bodyPr wrap="none" lIns="0" tIns="0" rIns="0" bIns="0" rtlCol="0" anchor="t">
            <a:normAutofit fontScale="77500" lnSpcReduction="20000"/>
          </a:bodyPr>
          <a:lstStyle/>
          <a:p>
            <a:pPr marL="0" indent="0" algn="l">
              <a:lnSpc>
                <a:spcPts val="1097"/>
              </a:lnSpc>
              <a:buNone/>
            </a:pPr>
            <a:r>
              <a:rPr lang="en-US" sz="800" b="1" kern="0" spc="7" dirty="0">
                <a:solidFill>
                  <a:srgbClr val="8C6F12"/>
                </a:solidFill>
                <a:latin typeface="Segoe UI Symbol" pitchFamily="34" charset="0"/>
                <a:ea typeface="Segoe UI Symbol" pitchFamily="34" charset="-122"/>
                <a:cs typeface="Segoe UI Symbol" pitchFamily="34" charset="-120"/>
              </a:rPr>
              <a:t>◉</a:t>
            </a:r>
            <a:r>
              <a:rPr lang="en-US" sz="800" b="1" kern="0" spc="7" dirty="0">
                <a:solidFill>
                  <a:srgbClr val="0F2A4A"/>
                </a:solidFill>
                <a:latin typeface="Carlito" pitchFamily="34" charset="0"/>
                <a:ea typeface="Carlito" pitchFamily="34" charset="-122"/>
                <a:cs typeface="Carlito" pitchFamily="34" charset="-120"/>
              </a:rPr>
              <a:t> Family visibility</a:t>
            </a:r>
            <a:endParaRPr lang="en-US" sz="800" dirty="0"/>
          </a:p>
        </p:txBody>
      </p:sp>
      <p:sp>
        <p:nvSpPr>
          <p:cNvPr id="26" name="Text 24"/>
          <p:cNvSpPr/>
          <p:nvPr/>
        </p:nvSpPr>
        <p:spPr>
          <a:xfrm>
            <a:off x="621506" y="3781834"/>
            <a:ext cx="2171816" cy="119993"/>
          </a:xfrm>
          <a:prstGeom prst="rect">
            <a:avLst/>
          </a:prstGeom>
          <a:noFill/>
          <a:ln/>
        </p:spPr>
        <p:txBody>
          <a:bodyPr wrap="square" lIns="0" tIns="0" rIns="0" bIns="0" rtlCol="0" anchor="t"/>
          <a:lstStyle/>
          <a:p>
            <a:pPr marL="0" indent="0" algn="l">
              <a:lnSpc>
                <a:spcPts val="945"/>
              </a:lnSpc>
              <a:buNone/>
            </a:pPr>
            <a:r>
              <a:rPr lang="en-US" sz="800" dirty="0">
                <a:solidFill>
                  <a:srgbClr val="4A5A75"/>
                </a:solidFill>
                <a:latin typeface="Carlito" pitchFamily="34" charset="0"/>
                <a:ea typeface="Carlito" pitchFamily="34" charset="-122"/>
                <a:cs typeface="Carlito" pitchFamily="34" charset="-120"/>
              </a:rPr>
              <a:t>Caregivers stay informed remotely</a:t>
            </a:r>
            <a:endParaRPr lang="en-US" sz="800" dirty="0"/>
          </a:p>
        </p:txBody>
      </p:sp>
      <p:sp>
        <p:nvSpPr>
          <p:cNvPr id="27" name="Text 25"/>
          <p:cNvSpPr/>
          <p:nvPr/>
        </p:nvSpPr>
        <p:spPr>
          <a:xfrm>
            <a:off x="2880047" y="3538947"/>
            <a:ext cx="2269368" cy="452177"/>
          </a:xfrm>
          <a:prstGeom prst="roundRect">
            <a:avLst>
              <a:gd name="adj" fmla="val 12639"/>
            </a:avLst>
          </a:prstGeom>
          <a:solidFill>
            <a:srgbClr val="FFFFFF"/>
          </a:solidFill>
          <a:ln w="7144">
            <a:solidFill>
              <a:srgbClr val="D9D2BC"/>
            </a:solidFill>
            <a:prstDash val="solid"/>
          </a:ln>
        </p:spPr>
        <p:txBody>
          <a:bodyPr wrap="square" rtlCol="0" anchor="ctr"/>
          <a:lstStyle/>
          <a:p>
            <a:pPr marL="0" indent="0">
              <a:buNone/>
            </a:pPr>
            <a:endParaRPr lang="en-US" dirty="0"/>
          </a:p>
        </p:txBody>
      </p:sp>
      <p:sp>
        <p:nvSpPr>
          <p:cNvPr id="28" name="Text 26"/>
          <p:cNvSpPr/>
          <p:nvPr/>
        </p:nvSpPr>
        <p:spPr>
          <a:xfrm>
            <a:off x="2983632" y="3628244"/>
            <a:ext cx="2062200" cy="126159"/>
          </a:xfrm>
          <a:prstGeom prst="rect">
            <a:avLst/>
          </a:prstGeom>
          <a:noFill/>
          <a:ln/>
        </p:spPr>
        <p:txBody>
          <a:bodyPr wrap="none" lIns="0" tIns="0" rIns="0" bIns="0" rtlCol="0" anchor="t">
            <a:normAutofit fontScale="77500" lnSpcReduction="20000"/>
          </a:bodyPr>
          <a:lstStyle/>
          <a:p>
            <a:pPr marL="0" indent="0" algn="l">
              <a:lnSpc>
                <a:spcPts val="1097"/>
              </a:lnSpc>
              <a:buNone/>
            </a:pPr>
            <a:r>
              <a:rPr lang="en-US" sz="800" b="1" kern="0" spc="7" dirty="0">
                <a:solidFill>
                  <a:srgbClr val="8C6F12"/>
                </a:solidFill>
                <a:latin typeface="Segoe UI Symbol" pitchFamily="34" charset="0"/>
                <a:ea typeface="Segoe UI Symbol" pitchFamily="34" charset="-122"/>
                <a:cs typeface="Segoe UI Symbol" pitchFamily="34" charset="-120"/>
              </a:rPr>
              <a:t>✦</a:t>
            </a:r>
            <a:r>
              <a:rPr lang="en-US" sz="800" b="1" kern="0" spc="7" dirty="0">
                <a:solidFill>
                  <a:srgbClr val="0F2A4A"/>
                </a:solidFill>
                <a:latin typeface="Carlito" pitchFamily="34" charset="0"/>
                <a:ea typeface="Carlito" pitchFamily="34" charset="-122"/>
                <a:cs typeface="Carlito" pitchFamily="34" charset="-120"/>
              </a:rPr>
              <a:t> Emergency-ready</a:t>
            </a:r>
            <a:endParaRPr lang="en-US" sz="800" dirty="0"/>
          </a:p>
        </p:txBody>
      </p:sp>
      <p:sp>
        <p:nvSpPr>
          <p:cNvPr id="29" name="Text 27"/>
          <p:cNvSpPr/>
          <p:nvPr/>
        </p:nvSpPr>
        <p:spPr>
          <a:xfrm>
            <a:off x="2983632" y="3781834"/>
            <a:ext cx="2171928" cy="119993"/>
          </a:xfrm>
          <a:prstGeom prst="rect">
            <a:avLst/>
          </a:prstGeom>
          <a:noFill/>
          <a:ln/>
        </p:spPr>
        <p:txBody>
          <a:bodyPr wrap="square" lIns="0" tIns="0" rIns="0" bIns="0" rtlCol="0" anchor="t"/>
          <a:lstStyle/>
          <a:p>
            <a:pPr marL="0" indent="0" algn="l">
              <a:lnSpc>
                <a:spcPts val="945"/>
              </a:lnSpc>
              <a:buNone/>
            </a:pPr>
            <a:r>
              <a:rPr lang="en-US" sz="800" dirty="0">
                <a:solidFill>
                  <a:srgbClr val="4A5A75"/>
                </a:solidFill>
                <a:latin typeface="Carlito" pitchFamily="34" charset="0"/>
                <a:ea typeface="Carlito" pitchFamily="34" charset="-122"/>
                <a:cs typeface="Carlito" pitchFamily="34" charset="-120"/>
              </a:rPr>
              <a:t>One tap alerts the whole circle</a:t>
            </a:r>
            <a:endParaRPr lang="en-US" sz="800" dirty="0"/>
          </a:p>
        </p:txBody>
      </p:sp>
      <p:pic>
        <p:nvPicPr>
          <p:cNvPr id="30" name="Image 0" descr="/tmp/h2p-fit-1781621410872-qhzuwf.png"/>
          <p:cNvPicPr>
            <a:picLocks noChangeAspect="1"/>
          </p:cNvPicPr>
          <p:nvPr/>
        </p:nvPicPr>
        <p:blipFill>
          <a:blip r:embed="rId3"/>
          <a:stretch>
            <a:fillRect/>
          </a:stretch>
        </p:blipFill>
        <p:spPr>
          <a:xfrm>
            <a:off x="5381588" y="835819"/>
            <a:ext cx="3248062" cy="3467621"/>
          </a:xfrm>
          <a:prstGeom prst="rect">
            <a:avLst/>
          </a:prstGeom>
        </p:spPr>
      </p:pic>
      <p:sp>
        <p:nvSpPr>
          <p:cNvPr id="31" name="Text 28"/>
          <p:cNvSpPr/>
          <p:nvPr/>
        </p:nvSpPr>
        <p:spPr>
          <a:xfrm>
            <a:off x="5381588" y="4389165"/>
            <a:ext cx="3248062" cy="354285"/>
          </a:xfrm>
          <a:prstGeom prst="roundRect">
            <a:avLst>
              <a:gd name="adj" fmla="val 10754"/>
            </a:avLst>
          </a:prstGeom>
          <a:solidFill>
            <a:srgbClr val="C9A227"/>
          </a:solidFill>
          <a:ln/>
        </p:spPr>
        <p:txBody>
          <a:bodyPr wrap="square" rtlCol="0" anchor="ctr"/>
          <a:lstStyle/>
          <a:p>
            <a:pPr marL="0" indent="0">
              <a:buNone/>
            </a:pPr>
            <a:endParaRPr lang="en-US" dirty="0"/>
          </a:p>
        </p:txBody>
      </p:sp>
      <p:sp>
        <p:nvSpPr>
          <p:cNvPr id="32" name="Text 29"/>
          <p:cNvSpPr/>
          <p:nvPr/>
        </p:nvSpPr>
        <p:spPr>
          <a:xfrm>
            <a:off x="5381588" y="4389165"/>
            <a:ext cx="3248062" cy="453485"/>
          </a:xfrm>
          <a:prstGeom prst="rect">
            <a:avLst/>
          </a:prstGeom>
          <a:noFill/>
          <a:ln/>
        </p:spPr>
        <p:txBody>
          <a:bodyPr wrap="square" lIns="85725" tIns="57150" rIns="85725" bIns="57150" rtlCol="0" anchor="t"/>
          <a:lstStyle/>
          <a:p>
            <a:pPr marL="0" indent="0" algn="l">
              <a:lnSpc>
                <a:spcPts val="945"/>
              </a:lnSpc>
              <a:buNone/>
            </a:pPr>
            <a:r>
              <a:rPr lang="en-US" sz="800" kern="0" spc="27" dirty="0">
                <a:solidFill>
                  <a:srgbClr val="0F2A4A"/>
                </a:solidFill>
                <a:latin typeface="Carlito" pitchFamily="34" charset="0"/>
                <a:ea typeface="Carlito" pitchFamily="34" charset="-122"/>
                <a:cs typeface="Carlito" pitchFamily="34" charset="-120"/>
              </a:rPr>
              <a:t>Designed for users who are often left behind by generic health apps.</a:t>
            </a:r>
            <a:endParaRPr lang="en-US" sz="800" dirty="0"/>
          </a:p>
        </p:txBody>
      </p:sp>
      <p:sp>
        <p:nvSpPr>
          <p:cNvPr id="33" name="Text 30"/>
          <p:cNvSpPr/>
          <p:nvPr/>
        </p:nvSpPr>
        <p:spPr>
          <a:xfrm>
            <a:off x="514350" y="4897041"/>
            <a:ext cx="7376703" cy="117872"/>
          </a:xfrm>
          <a:prstGeom prst="rect">
            <a:avLst/>
          </a:prstGeom>
          <a:noFill/>
          <a:ln/>
        </p:spPr>
        <p:txBody>
          <a:bodyPr wrap="square" lIns="0" tIns="0" rIns="0" bIns="0" rtlCol="0" anchor="t"/>
          <a:lstStyle/>
          <a:p>
            <a:pPr marL="0" indent="0" algn="l">
              <a:lnSpc>
                <a:spcPts val="928"/>
              </a:lnSpc>
              <a:buNone/>
            </a:pPr>
            <a:r>
              <a:rPr lang="en-US" sz="800" kern="0" spc="74"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34" name="Text 31"/>
          <p:cNvSpPr/>
          <p:nvPr/>
        </p:nvSpPr>
        <p:spPr>
          <a:xfrm>
            <a:off x="7905341" y="4897041"/>
            <a:ext cx="724309" cy="117872"/>
          </a:xfrm>
          <a:prstGeom prst="rect">
            <a:avLst/>
          </a:prstGeom>
          <a:noFill/>
          <a:ln/>
        </p:spPr>
        <p:txBody>
          <a:bodyPr wrap="none" lIns="0" tIns="0" rIns="0" bIns="0" rtlCol="0" anchor="t"/>
          <a:lstStyle/>
          <a:p>
            <a:pPr marL="0" indent="0" algn="l">
              <a:lnSpc>
                <a:spcPts val="928"/>
              </a:lnSpc>
              <a:buNone/>
            </a:pPr>
            <a:r>
              <a:rPr lang="en-US" sz="800" kern="0" spc="74" dirty="0">
                <a:solidFill>
                  <a:srgbClr val="7A8AA0"/>
                </a:solidFill>
                <a:latin typeface="Carlito" pitchFamily="34" charset="0"/>
                <a:ea typeface="Carlito" pitchFamily="34" charset="-122"/>
                <a:cs typeface="Carlito" pitchFamily="34" charset="-120"/>
              </a:rPr>
              <a:t>INTRODUCTION</a:t>
            </a:r>
            <a:endParaRPr lang="en-US" sz="8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presetID="10" presetClass="entr" presetSubtype="0" fill="hold" nodeType="afterEffect">
                      <p:stCondLst>
                        <p:cond delay="15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300"/>
                            <p:tgtEl>
                              <p:spTgt spid="2"/>
                            </p:tgtEl>
                          </p:cBhvr>
                        </p:animEffect>
                      </p:childTnLst>
                    </p:cTn>
                  </p:par>
                  <p:par>
                    <p:cTn id="6" presetID="10" presetClass="entr" presetSubtype="0" fill="hold" nodeType="after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300"/>
                            <p:tgtEl>
                              <p:spTgt spid="3"/>
                            </p:tgtEl>
                          </p:cBhvr>
                        </p:animEffect>
                      </p:childTnLst>
                    </p:cTn>
                  </p:par>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300"/>
                            <p:tgtEl>
                              <p:spTgt spid="4"/>
                            </p:tgtEl>
                          </p:cBhvr>
                        </p:animEffect>
                      </p:childTnLst>
                    </p:cTn>
                  </p:par>
                  <p:par>
                    <p:cTn id="12" presetID="10"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300"/>
                            <p:tgtEl>
                              <p:spTgt spid="5"/>
                            </p:tgtEl>
                          </p:cBhvr>
                        </p:animEffect>
                      </p:childTnLst>
                    </p:cTn>
                  </p:par>
                  <p:par>
                    <p:cTn id="15" presetID="10" presetClass="entr" presetSubtype="0"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300"/>
                            <p:tgtEl>
                              <p:spTgt spid="6"/>
                            </p:tgtEl>
                          </p:cBhvr>
                        </p:animEffect>
                      </p:childTnLst>
                    </p:cTn>
                  </p:par>
                  <p:par>
                    <p:cTn id="18" presetID="10" presetClass="entr" presetSubtype="0"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300"/>
                            <p:tgtEl>
                              <p:spTgt spid="7"/>
                            </p:tgtEl>
                          </p:cBhvr>
                        </p:animEffect>
                      </p:childTnLst>
                    </p:cTn>
                  </p:par>
                  <p:par>
                    <p:cTn id="21" presetID="10" presetClass="entr" presetSubtype="0"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300"/>
                            <p:tgtEl>
                              <p:spTgt spid="9"/>
                            </p:tgtEl>
                          </p:cBhvr>
                        </p:animEffect>
                      </p:childTnLst>
                    </p:cTn>
                  </p:par>
                  <p:par>
                    <p:cTn id="27" presetID="10" presetClass="entr" presetSubtype="0" fill="hold"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300"/>
                            <p:tgtEl>
                              <p:spTgt spid="10"/>
                            </p:tgtEl>
                          </p:cBhvr>
                        </p:animEffect>
                      </p:childTnLst>
                    </p:cTn>
                  </p:par>
                  <p:par>
                    <p:cTn id="30" presetID="10" presetClass="entr" presetSubtype="0" fill="hold"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300"/>
                            <p:tgtEl>
                              <p:spTgt spid="11"/>
                            </p:tgtEl>
                          </p:cBhvr>
                        </p:animEffect>
                      </p:childTnLst>
                    </p:cTn>
                  </p:par>
                  <p:par>
                    <p:cTn id="33" presetID="10" presetClass="entr" presetSubtype="0" fill="hold"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300"/>
                            <p:tgtEl>
                              <p:spTgt spid="12"/>
                            </p:tgtEl>
                          </p:cBhvr>
                        </p:animEffect>
                      </p:childTnLst>
                    </p:cTn>
                  </p:par>
                  <p:par>
                    <p:cTn id="36" presetID="10" presetClass="entr" presetSubtype="0" fill="hold"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300"/>
                            <p:tgtEl>
                              <p:spTgt spid="13"/>
                            </p:tgtEl>
                          </p:cBhvr>
                        </p:animEffect>
                      </p:childTnLst>
                    </p:cTn>
                  </p:par>
                  <p:par>
                    <p:cTn id="39" presetID="10" presetClass="entr" presetSubtype="0" fill="hold"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300"/>
                            <p:tgtEl>
                              <p:spTgt spid="14"/>
                            </p:tgtEl>
                          </p:cBhvr>
                        </p:animEffect>
                      </p:childTnLst>
                    </p:cTn>
                  </p:par>
                  <p:par>
                    <p:cTn id="42" presetID="10" presetClass="entr" presetSubtype="0" fill="hold" nodeType="after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300"/>
                            <p:tgtEl>
                              <p:spTgt spid="15"/>
                            </p:tgtEl>
                          </p:cBhvr>
                        </p:animEffect>
                      </p:childTnLst>
                    </p:cTn>
                  </p:par>
                  <p:par>
                    <p:cTn id="45" presetID="10" presetClass="entr" presetSubtype="0" fill="hold" nodeType="after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300"/>
                            <p:tgtEl>
                              <p:spTgt spid="16"/>
                            </p:tgtEl>
                          </p:cBhvr>
                        </p:animEffect>
                      </p:childTnLst>
                    </p:cTn>
                  </p:par>
                  <p:par>
                    <p:cTn id="48" presetID="10" presetClass="entr" presetSubtype="0" fill="hold" nodeType="after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300"/>
                            <p:tgtEl>
                              <p:spTgt spid="17"/>
                            </p:tgtEl>
                          </p:cBhvr>
                        </p:animEffect>
                      </p:childTnLst>
                    </p:cTn>
                  </p:par>
                  <p:par>
                    <p:cTn id="51" presetID="10" presetClass="entr" presetSubtype="0" fill="hold" nodeType="after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300"/>
                            <p:tgtEl>
                              <p:spTgt spid="18"/>
                            </p:tgtEl>
                          </p:cBhvr>
                        </p:animEffect>
                      </p:childTnLst>
                    </p:cTn>
                  </p:par>
                  <p:par>
                    <p:cTn id="54" presetID="10" presetClass="entr" presetSubtype="0" fill="hold" nodeType="after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300"/>
                            <p:tgtEl>
                              <p:spTgt spid="19"/>
                            </p:tgtEl>
                          </p:cBhvr>
                        </p:animEffect>
                      </p:childTnLst>
                    </p:cTn>
                  </p:par>
                  <p:par>
                    <p:cTn id="57" presetID="10" presetClass="entr" presetSubtype="0" fill="hold" nodeType="after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300"/>
                            <p:tgtEl>
                              <p:spTgt spid="20"/>
                            </p:tgtEl>
                          </p:cBhvr>
                        </p:animEffect>
                      </p:childTnLst>
                    </p:cTn>
                  </p:par>
                  <p:par>
                    <p:cTn id="60" presetID="10" presetClass="entr" presetSubtype="0" fill="hold" nodeType="after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300"/>
                            <p:tgtEl>
                              <p:spTgt spid="21"/>
                            </p:tgtEl>
                          </p:cBhvr>
                        </p:animEffect>
                      </p:childTnLst>
                    </p:cTn>
                  </p:par>
                  <p:par>
                    <p:cTn id="63" presetID="10" presetClass="entr" presetSubtype="0" fill="hold" nodeType="after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300"/>
                            <p:tgtEl>
                              <p:spTgt spid="22"/>
                            </p:tgtEl>
                          </p:cBhvr>
                        </p:animEffect>
                      </p:childTnLst>
                    </p:cTn>
                  </p:par>
                  <p:par>
                    <p:cTn id="66" presetID="10" presetClass="entr" presetSubtype="0" fill="hold" nodeType="after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300"/>
                            <p:tgtEl>
                              <p:spTgt spid="23"/>
                            </p:tgtEl>
                          </p:cBhvr>
                        </p:animEffect>
                      </p:childTnLst>
                    </p:cTn>
                  </p:par>
                  <p:par>
                    <p:cTn id="69" presetID="10" presetClass="entr" presetSubtype="0" fill="hold" nodeType="after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300"/>
                            <p:tgtEl>
                              <p:spTgt spid="24"/>
                            </p:tgtEl>
                          </p:cBhvr>
                        </p:animEffect>
                      </p:childTnLst>
                    </p:cTn>
                  </p:par>
                  <p:par>
                    <p:cTn id="72" presetID="10" presetClass="entr" presetSubtype="0" fill="hold" nodeType="after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300"/>
                            <p:tgtEl>
                              <p:spTgt spid="25"/>
                            </p:tgtEl>
                          </p:cBhvr>
                        </p:animEffect>
                      </p:childTnLst>
                    </p:cTn>
                  </p:par>
                  <p:par>
                    <p:cTn id="75" presetID="10" presetClass="entr" presetSubtype="0" fill="hold" nodeType="after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300"/>
                            <p:tgtEl>
                              <p:spTgt spid="26"/>
                            </p:tgtEl>
                          </p:cBhvr>
                        </p:animEffect>
                      </p:childTnLst>
                    </p:cTn>
                  </p:par>
                  <p:par>
                    <p:cTn id="78" presetID="10" presetClass="entr" presetSubtype="0" fill="hold" nodeType="after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300"/>
                            <p:tgtEl>
                              <p:spTgt spid="27"/>
                            </p:tgtEl>
                          </p:cBhvr>
                        </p:animEffect>
                      </p:childTnLst>
                    </p:cTn>
                  </p:par>
                  <p:par>
                    <p:cTn id="81" presetID="10" presetClass="entr" presetSubtype="0" fill="hold" nodeType="after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300"/>
                            <p:tgtEl>
                              <p:spTgt spid="28"/>
                            </p:tgtEl>
                          </p:cBhvr>
                        </p:animEffect>
                      </p:childTnLst>
                    </p:cTn>
                  </p:par>
                  <p:par>
                    <p:cTn id="84" presetID="10" presetClass="entr" presetSubtype="0" fill="hold" nodeType="after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300"/>
                            <p:tgtEl>
                              <p:spTgt spid="29"/>
                            </p:tgtEl>
                          </p:cBhvr>
                        </p:animEffect>
                      </p:childTnLst>
                    </p:cTn>
                  </p:par>
                  <p:par>
                    <p:cTn id="87" presetID="10" presetClass="entr" presetSubtype="0" fill="hold" nodeType="after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300"/>
                            <p:tgtEl>
                              <p:spTgt spid="31"/>
                            </p:tgtEl>
                          </p:cBhvr>
                        </p:animEffect>
                      </p:childTnLst>
                    </p:cTn>
                  </p:par>
                  <p:par>
                    <p:cTn id="90" presetID="10" presetClass="entr" presetSubtype="0" fill="hold" nodeType="after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300"/>
                            <p:tgtEl>
                              <p:spTgt spid="32"/>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514350" y="632222"/>
            <a:ext cx="8115300" cy="0"/>
          </a:xfrm>
          <a:prstGeom prst="line">
            <a:avLst/>
          </a:prstGeom>
          <a:noFill/>
          <a:ln w="7144">
            <a:solidFill>
              <a:srgbClr val="D9D2BC"/>
            </a:solidFill>
            <a:prstDash val="solid"/>
          </a:ln>
        </p:spPr>
      </p:sp>
      <p:sp>
        <p:nvSpPr>
          <p:cNvPr id="3" name="Shape 1"/>
          <p:cNvSpPr/>
          <p:nvPr/>
        </p:nvSpPr>
        <p:spPr>
          <a:xfrm>
            <a:off x="514350" y="4836319"/>
            <a:ext cx="8115300" cy="0"/>
          </a:xfrm>
          <a:prstGeom prst="line">
            <a:avLst/>
          </a:prstGeom>
          <a:noFill/>
          <a:ln w="7144">
            <a:solidFill>
              <a:srgbClr val="D9D2BC"/>
            </a:solidFill>
            <a:prstDash val="solid"/>
          </a:ln>
        </p:spPr>
      </p:sp>
      <p:sp>
        <p:nvSpPr>
          <p:cNvPr id="4" name="Text 2"/>
          <p:cNvSpPr/>
          <p:nvPr/>
        </p:nvSpPr>
        <p:spPr>
          <a:xfrm>
            <a:off x="514350" y="400050"/>
            <a:ext cx="767964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02 · THE PROBLEM</a:t>
            </a:r>
            <a:endParaRPr lang="en-US" sz="800" dirty="0"/>
          </a:p>
        </p:txBody>
      </p:sp>
      <p:sp>
        <p:nvSpPr>
          <p:cNvPr id="5" name="Text 3"/>
          <p:cNvSpPr/>
          <p:nvPr/>
        </p:nvSpPr>
        <p:spPr>
          <a:xfrm>
            <a:off x="8208280" y="400050"/>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03 / 21</a:t>
            </a:r>
            <a:endParaRPr lang="en-US" sz="800" dirty="0"/>
          </a:p>
        </p:txBody>
      </p:sp>
      <p:sp>
        <p:nvSpPr>
          <p:cNvPr id="6" name="Text 4"/>
          <p:cNvSpPr/>
          <p:nvPr/>
        </p:nvSpPr>
        <p:spPr>
          <a:xfrm>
            <a:off x="514350" y="835819"/>
            <a:ext cx="8115300" cy="319339"/>
          </a:xfrm>
          <a:prstGeom prst="rect">
            <a:avLst/>
          </a:prstGeom>
          <a:noFill/>
          <a:ln/>
        </p:spPr>
        <p:txBody>
          <a:bodyPr wrap="square" lIns="0" tIns="0" rIns="0" bIns="0" rtlCol="0" anchor="t"/>
          <a:lstStyle/>
          <a:p>
            <a:pPr marL="0" indent="0" algn="l">
              <a:lnSpc>
                <a:spcPts val="2329"/>
              </a:lnSpc>
              <a:buNone/>
            </a:pPr>
            <a:r>
              <a:rPr lang="en-US" sz="2025" b="1" kern="0" spc="-20" dirty="0">
                <a:solidFill>
                  <a:srgbClr val="0F2A4A"/>
                </a:solidFill>
                <a:latin typeface="Tinos" pitchFamily="34" charset="0"/>
                <a:ea typeface="Tinos" pitchFamily="34" charset="-122"/>
                <a:cs typeface="Tinos" pitchFamily="34" charset="-120"/>
              </a:rPr>
              <a:t>Managing multiple medications is harder than it should be.</a:t>
            </a:r>
            <a:endParaRPr lang="en-US" sz="2025" dirty="0"/>
          </a:p>
        </p:txBody>
      </p:sp>
      <p:sp>
        <p:nvSpPr>
          <p:cNvPr id="7" name="Text 5"/>
          <p:cNvSpPr/>
          <p:nvPr/>
        </p:nvSpPr>
        <p:spPr>
          <a:xfrm>
            <a:off x="514350" y="1202941"/>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8" name="Text 6"/>
          <p:cNvSpPr/>
          <p:nvPr/>
        </p:nvSpPr>
        <p:spPr>
          <a:xfrm>
            <a:off x="514350" y="1324384"/>
            <a:ext cx="7429500" cy="629275"/>
          </a:xfrm>
          <a:prstGeom prst="rect">
            <a:avLst/>
          </a:prstGeom>
          <a:noFill/>
          <a:ln/>
        </p:spPr>
        <p:txBody>
          <a:bodyPr wrap="square" lIns="0" tIns="0" rIns="0" bIns="0" rtlCol="0" anchor="t"/>
          <a:lstStyle/>
          <a:p>
            <a:pPr marL="0" indent="0" algn="l">
              <a:lnSpc>
                <a:spcPts val="1530"/>
              </a:lnSpc>
              <a:buNone/>
            </a:pPr>
            <a:r>
              <a:rPr lang="en-US" sz="956" dirty="0">
                <a:solidFill>
                  <a:srgbClr val="0F2A4A"/>
                </a:solidFill>
                <a:latin typeface="Carlito" pitchFamily="34" charset="0"/>
                <a:ea typeface="Carlito" pitchFamily="34" charset="-122"/>
                <a:cs typeface="Carlito" pitchFamily="34" charset="-120"/>
              </a:rPr>
              <a:t>Elderly patients often take five or more prescription medications at the same time, prescribed by different doctors and refilled on different schedules. Remembering what to take, when to take it, and which combinations are dangerous becomes a daily cognitive load — and a silent source of preventable harm.</a:t>
            </a:r>
            <a:endParaRPr lang="en-US" sz="956" dirty="0"/>
          </a:p>
        </p:txBody>
      </p:sp>
      <p:sp>
        <p:nvSpPr>
          <p:cNvPr id="9" name="Text 7"/>
          <p:cNvSpPr/>
          <p:nvPr/>
        </p:nvSpPr>
        <p:spPr>
          <a:xfrm>
            <a:off x="517922" y="2067781"/>
            <a:ext cx="2602669" cy="1224260"/>
          </a:xfrm>
          <a:prstGeom prst="roundRect">
            <a:avLst>
              <a:gd name="adj" fmla="val 6224"/>
            </a:avLst>
          </a:prstGeom>
          <a:solidFill>
            <a:srgbClr val="FFFFFF"/>
          </a:solidFill>
          <a:ln w="7144">
            <a:solidFill>
              <a:srgbClr val="D9D2BC"/>
            </a:solidFill>
            <a:prstDash val="solid"/>
          </a:ln>
          <a:effectLst>
            <a:outerShdw blurRad="28575" dist="9525" dir="5400000" algn="bl" rotWithShape="0">
              <a:srgbClr val="0F2A4A">
                <a:alpha val="4000"/>
              </a:srgbClr>
            </a:outerShdw>
          </a:effectLst>
        </p:spPr>
        <p:txBody>
          <a:bodyPr wrap="square" rtlCol="0" anchor="ctr"/>
          <a:lstStyle/>
          <a:p>
            <a:pPr marL="0" indent="0">
              <a:buNone/>
            </a:pPr>
            <a:endParaRPr lang="en-US" dirty="0"/>
          </a:p>
        </p:txBody>
      </p:sp>
      <p:sp>
        <p:nvSpPr>
          <p:cNvPr id="10" name="Text 8"/>
          <p:cNvSpPr/>
          <p:nvPr/>
        </p:nvSpPr>
        <p:spPr>
          <a:xfrm>
            <a:off x="678656" y="2214228"/>
            <a:ext cx="2281200" cy="432054"/>
          </a:xfrm>
          <a:prstGeom prst="rect">
            <a:avLst/>
          </a:prstGeom>
          <a:noFill/>
          <a:ln/>
        </p:spPr>
        <p:txBody>
          <a:bodyPr wrap="none" lIns="0" tIns="0" rIns="0" bIns="0" rtlCol="0" anchor="t"/>
          <a:lstStyle/>
          <a:p>
            <a:pPr marL="0" indent="0" algn="l">
              <a:lnSpc>
                <a:spcPts val="3150"/>
              </a:lnSpc>
              <a:buNone/>
            </a:pPr>
            <a:r>
              <a:rPr lang="en-US" sz="3150" b="1" kern="0" spc="-63" dirty="0">
                <a:solidFill>
                  <a:srgbClr val="0F2A4A"/>
                </a:solidFill>
                <a:latin typeface="Liberation Sans Narrow" pitchFamily="34" charset="0"/>
                <a:ea typeface="Liberation Sans Narrow" pitchFamily="34" charset="-122"/>
                <a:cs typeface="Liberation Sans Narrow" pitchFamily="34" charset="-120"/>
              </a:rPr>
              <a:t>50%+</a:t>
            </a:r>
            <a:endParaRPr lang="en-US" sz="3150" dirty="0"/>
          </a:p>
        </p:txBody>
      </p:sp>
      <p:sp>
        <p:nvSpPr>
          <p:cNvPr id="11" name="Text 9"/>
          <p:cNvSpPr/>
          <p:nvPr/>
        </p:nvSpPr>
        <p:spPr>
          <a:xfrm>
            <a:off x="678656" y="2700003"/>
            <a:ext cx="2390928" cy="153514"/>
          </a:xfrm>
          <a:prstGeom prst="rect">
            <a:avLst/>
          </a:prstGeom>
          <a:noFill/>
          <a:ln/>
        </p:spPr>
        <p:txBody>
          <a:bodyPr wrap="square" lIns="0" tIns="0" rIns="0" bIns="0" rtlCol="0" anchor="t"/>
          <a:lstStyle/>
          <a:p>
            <a:pPr marL="0" indent="0" algn="l">
              <a:lnSpc>
                <a:spcPts val="1024"/>
              </a:lnSpc>
              <a:buNone/>
            </a:pPr>
            <a:r>
              <a:rPr lang="en-US" sz="800" kern="0" spc="37" dirty="0">
                <a:solidFill>
                  <a:srgbClr val="0F2A4A"/>
                </a:solidFill>
                <a:latin typeface="Liberation Sans Narrow" pitchFamily="34" charset="0"/>
                <a:ea typeface="Liberation Sans Narrow" pitchFamily="34" charset="-122"/>
                <a:cs typeface="Liberation Sans Narrow" pitchFamily="34" charset="-120"/>
              </a:rPr>
              <a:t>OF ADULTS 65+ TAKE 5+ MEDS DAILY</a:t>
            </a:r>
            <a:endParaRPr lang="en-US" sz="800" dirty="0"/>
          </a:p>
        </p:txBody>
      </p:sp>
      <p:sp>
        <p:nvSpPr>
          <p:cNvPr id="12" name="Text 10"/>
          <p:cNvSpPr/>
          <p:nvPr/>
        </p:nvSpPr>
        <p:spPr>
          <a:xfrm>
            <a:off x="678656" y="2887080"/>
            <a:ext cx="2281200" cy="164592"/>
          </a:xfrm>
          <a:prstGeom prst="rect">
            <a:avLst/>
          </a:prstGeom>
          <a:noFill/>
          <a:ln/>
        </p:spPr>
        <p:txBody>
          <a:bodyPr wrap="none" lIns="0" tIns="0" rIns="0" bIns="0" rtlCol="0" anchor="t"/>
          <a:lstStyle/>
          <a:p>
            <a:pPr marL="0" indent="0" algn="l">
              <a:lnSpc>
                <a:spcPts val="1013"/>
              </a:lnSpc>
              <a:buNone/>
            </a:pPr>
            <a:r>
              <a:rPr lang="en-US" sz="800" kern="0" spc="27" dirty="0">
                <a:solidFill>
                  <a:srgbClr val="7A8AA0"/>
                </a:solidFill>
                <a:latin typeface="Carlito" pitchFamily="34" charset="0"/>
                <a:ea typeface="Carlito" pitchFamily="34" charset="-122"/>
                <a:cs typeface="Carlito" pitchFamily="34" charset="-120"/>
              </a:rPr>
              <a:t>POLYPHARMACY PREVALENCE</a:t>
            </a:r>
            <a:endParaRPr lang="en-US" sz="800" dirty="0"/>
          </a:p>
        </p:txBody>
      </p:sp>
      <p:sp>
        <p:nvSpPr>
          <p:cNvPr id="13" name="Text 11"/>
          <p:cNvSpPr/>
          <p:nvPr/>
        </p:nvSpPr>
        <p:spPr>
          <a:xfrm>
            <a:off x="3270610" y="2067781"/>
            <a:ext cx="2602669" cy="1224260"/>
          </a:xfrm>
          <a:prstGeom prst="roundRect">
            <a:avLst>
              <a:gd name="adj" fmla="val 6224"/>
            </a:avLst>
          </a:prstGeom>
          <a:solidFill>
            <a:srgbClr val="FFFFFF"/>
          </a:solidFill>
          <a:ln w="7144">
            <a:solidFill>
              <a:srgbClr val="D9D2BC"/>
            </a:solidFill>
            <a:prstDash val="solid"/>
          </a:ln>
          <a:effectLst>
            <a:outerShdw blurRad="28575" dist="9525" dir="5400000" algn="bl" rotWithShape="0">
              <a:srgbClr val="0F2A4A">
                <a:alpha val="4000"/>
              </a:srgbClr>
            </a:outerShdw>
          </a:effectLst>
        </p:spPr>
        <p:txBody>
          <a:bodyPr wrap="square" rtlCol="0" anchor="ctr"/>
          <a:lstStyle/>
          <a:p>
            <a:pPr marL="0" indent="0">
              <a:buNone/>
            </a:pPr>
            <a:endParaRPr lang="en-US" dirty="0"/>
          </a:p>
        </p:txBody>
      </p:sp>
      <p:sp>
        <p:nvSpPr>
          <p:cNvPr id="14" name="Text 12"/>
          <p:cNvSpPr/>
          <p:nvPr/>
        </p:nvSpPr>
        <p:spPr>
          <a:xfrm>
            <a:off x="3431344" y="2214228"/>
            <a:ext cx="2281200" cy="432054"/>
          </a:xfrm>
          <a:prstGeom prst="rect">
            <a:avLst/>
          </a:prstGeom>
          <a:noFill/>
          <a:ln/>
        </p:spPr>
        <p:txBody>
          <a:bodyPr wrap="none" lIns="0" tIns="0" rIns="0" bIns="0" rtlCol="0" anchor="t"/>
          <a:lstStyle/>
          <a:p>
            <a:pPr marL="0" indent="0" algn="l">
              <a:lnSpc>
                <a:spcPts val="3150"/>
              </a:lnSpc>
              <a:buNone/>
            </a:pPr>
            <a:r>
              <a:rPr lang="en-US" sz="3150" b="1" kern="0" spc="-63" dirty="0">
                <a:solidFill>
                  <a:srgbClr val="0F2A4A"/>
                </a:solidFill>
                <a:latin typeface="Liberation Sans Narrow" pitchFamily="34" charset="0"/>
                <a:ea typeface="Liberation Sans Narrow" pitchFamily="34" charset="-122"/>
                <a:cs typeface="Liberation Sans Narrow" pitchFamily="34" charset="-120"/>
              </a:rPr>
              <a:t>1 in 3</a:t>
            </a:r>
            <a:endParaRPr lang="en-US" sz="3150" dirty="0"/>
          </a:p>
        </p:txBody>
      </p:sp>
      <p:sp>
        <p:nvSpPr>
          <p:cNvPr id="15" name="Text 13"/>
          <p:cNvSpPr/>
          <p:nvPr/>
        </p:nvSpPr>
        <p:spPr>
          <a:xfrm>
            <a:off x="3431344" y="2700003"/>
            <a:ext cx="2281200" cy="289572"/>
          </a:xfrm>
          <a:prstGeom prst="rect">
            <a:avLst/>
          </a:prstGeom>
          <a:noFill/>
          <a:ln/>
        </p:spPr>
        <p:txBody>
          <a:bodyPr wrap="square" lIns="0" tIns="0" rIns="0" bIns="0" rtlCol="0" anchor="t">
            <a:normAutofit/>
          </a:bodyPr>
          <a:lstStyle/>
          <a:p>
            <a:pPr marL="0" indent="0" algn="l">
              <a:lnSpc>
                <a:spcPts val="1024"/>
              </a:lnSpc>
              <a:buNone/>
            </a:pPr>
            <a:r>
              <a:rPr lang="en-US" sz="800" kern="0" spc="37" dirty="0">
                <a:solidFill>
                  <a:srgbClr val="0F2A4A"/>
                </a:solidFill>
                <a:latin typeface="Carlito" pitchFamily="34" charset="0"/>
                <a:ea typeface="Carlito" pitchFamily="34" charset="-122"/>
                <a:cs typeface="Carlito" pitchFamily="34" charset="-120"/>
              </a:rPr>
              <a:t>ELDERLY PATIENTS EXPERIENCES A DRUG-RELATED HARM EVENT</a:t>
            </a:r>
            <a:endParaRPr lang="en-US" sz="800" dirty="0"/>
          </a:p>
        </p:txBody>
      </p:sp>
      <p:sp>
        <p:nvSpPr>
          <p:cNvPr id="16" name="Text 14"/>
          <p:cNvSpPr/>
          <p:nvPr/>
        </p:nvSpPr>
        <p:spPr>
          <a:xfrm>
            <a:off x="3431344" y="3017007"/>
            <a:ext cx="2281200" cy="128588"/>
          </a:xfrm>
          <a:prstGeom prst="rect">
            <a:avLst/>
          </a:prstGeom>
          <a:noFill/>
          <a:ln/>
        </p:spPr>
        <p:txBody>
          <a:bodyPr wrap="none" lIns="0" tIns="0" rIns="0" bIns="0" rtlCol="0" anchor="t"/>
          <a:lstStyle/>
          <a:p>
            <a:pPr marL="0" indent="0" algn="l">
              <a:lnSpc>
                <a:spcPts val="1013"/>
              </a:lnSpc>
              <a:buNone/>
            </a:pPr>
            <a:r>
              <a:rPr lang="en-US" sz="800" kern="0" spc="27" dirty="0">
                <a:solidFill>
                  <a:srgbClr val="7A8AA0"/>
                </a:solidFill>
                <a:latin typeface="Carlito" pitchFamily="34" charset="0"/>
                <a:ea typeface="Carlito" pitchFamily="34" charset="-122"/>
                <a:cs typeface="Carlito" pitchFamily="34" charset="-120"/>
              </a:rPr>
              <a:t>ADVERSE DRUG EVENTS</a:t>
            </a:r>
            <a:endParaRPr lang="en-US" sz="800" dirty="0"/>
          </a:p>
        </p:txBody>
      </p:sp>
      <p:sp>
        <p:nvSpPr>
          <p:cNvPr id="17" name="Text 15"/>
          <p:cNvSpPr/>
          <p:nvPr/>
        </p:nvSpPr>
        <p:spPr>
          <a:xfrm>
            <a:off x="6023297" y="2067781"/>
            <a:ext cx="2602781" cy="1224260"/>
          </a:xfrm>
          <a:prstGeom prst="roundRect">
            <a:avLst>
              <a:gd name="adj" fmla="val 6224"/>
            </a:avLst>
          </a:prstGeom>
          <a:solidFill>
            <a:srgbClr val="FFFFFF"/>
          </a:solidFill>
          <a:ln w="7144">
            <a:solidFill>
              <a:srgbClr val="D9D2BC"/>
            </a:solidFill>
            <a:prstDash val="solid"/>
          </a:ln>
          <a:effectLst>
            <a:outerShdw blurRad="28575" dist="9525" dir="5400000" algn="bl" rotWithShape="0">
              <a:srgbClr val="0F2A4A">
                <a:alpha val="4000"/>
              </a:srgbClr>
            </a:outerShdw>
          </a:effectLst>
        </p:spPr>
        <p:txBody>
          <a:bodyPr wrap="square" rtlCol="0" anchor="ctr"/>
          <a:lstStyle/>
          <a:p>
            <a:pPr marL="0" indent="0">
              <a:buNone/>
            </a:pPr>
            <a:endParaRPr lang="en-US" dirty="0"/>
          </a:p>
        </p:txBody>
      </p:sp>
      <p:sp>
        <p:nvSpPr>
          <p:cNvPr id="18" name="Text 16"/>
          <p:cNvSpPr/>
          <p:nvPr/>
        </p:nvSpPr>
        <p:spPr>
          <a:xfrm>
            <a:off x="6184032" y="2214228"/>
            <a:ext cx="2281312" cy="432054"/>
          </a:xfrm>
          <a:prstGeom prst="rect">
            <a:avLst/>
          </a:prstGeom>
          <a:noFill/>
          <a:ln/>
        </p:spPr>
        <p:txBody>
          <a:bodyPr wrap="none" lIns="0" tIns="0" rIns="0" bIns="0" rtlCol="0" anchor="t"/>
          <a:lstStyle/>
          <a:p>
            <a:pPr marL="0" indent="0" algn="l">
              <a:lnSpc>
                <a:spcPts val="3150"/>
              </a:lnSpc>
              <a:buNone/>
            </a:pPr>
            <a:r>
              <a:rPr lang="en-US" sz="3150" b="1" kern="0" spc="-63" dirty="0">
                <a:solidFill>
                  <a:srgbClr val="0F2A4A"/>
                </a:solidFill>
                <a:latin typeface="Liberation Sans Narrow" pitchFamily="34" charset="0"/>
                <a:ea typeface="Liberation Sans Narrow" pitchFamily="34" charset="-122"/>
                <a:cs typeface="Liberation Sans Narrow" pitchFamily="34" charset="-120"/>
              </a:rPr>
              <a:t>~50%</a:t>
            </a:r>
            <a:endParaRPr lang="en-US" sz="3150" dirty="0"/>
          </a:p>
        </p:txBody>
      </p:sp>
      <p:sp>
        <p:nvSpPr>
          <p:cNvPr id="19" name="Text 17"/>
          <p:cNvSpPr/>
          <p:nvPr/>
        </p:nvSpPr>
        <p:spPr>
          <a:xfrm>
            <a:off x="6184032" y="2700003"/>
            <a:ext cx="2281312" cy="289572"/>
          </a:xfrm>
          <a:prstGeom prst="rect">
            <a:avLst/>
          </a:prstGeom>
          <a:noFill/>
          <a:ln/>
        </p:spPr>
        <p:txBody>
          <a:bodyPr wrap="square" lIns="0" tIns="0" rIns="0" bIns="0" rtlCol="0" anchor="t">
            <a:normAutofit/>
          </a:bodyPr>
          <a:lstStyle/>
          <a:p>
            <a:pPr marL="0" indent="0" algn="l">
              <a:lnSpc>
                <a:spcPts val="1024"/>
              </a:lnSpc>
              <a:buNone/>
            </a:pPr>
            <a:r>
              <a:rPr lang="en-US" sz="800" kern="0" spc="37" dirty="0">
                <a:solidFill>
                  <a:srgbClr val="0F2A4A"/>
                </a:solidFill>
                <a:latin typeface="Carlito" pitchFamily="34" charset="0"/>
                <a:ea typeface="Carlito" pitchFamily="34" charset="-122"/>
                <a:cs typeface="Carlito" pitchFamily="34" charset="-120"/>
              </a:rPr>
              <a:t>OF PRESCRIBED MEDS ARE NOT TAKEN AS DIRECTED</a:t>
            </a:r>
            <a:endParaRPr lang="en-US" sz="800" dirty="0"/>
          </a:p>
        </p:txBody>
      </p:sp>
      <p:sp>
        <p:nvSpPr>
          <p:cNvPr id="20" name="Text 18"/>
          <p:cNvSpPr/>
          <p:nvPr/>
        </p:nvSpPr>
        <p:spPr>
          <a:xfrm>
            <a:off x="6184032" y="3017007"/>
            <a:ext cx="2281312" cy="128588"/>
          </a:xfrm>
          <a:prstGeom prst="rect">
            <a:avLst/>
          </a:prstGeom>
          <a:noFill/>
          <a:ln/>
        </p:spPr>
        <p:txBody>
          <a:bodyPr wrap="none" lIns="0" tIns="0" rIns="0" bIns="0" rtlCol="0" anchor="t"/>
          <a:lstStyle/>
          <a:p>
            <a:pPr marL="0" indent="0" algn="l">
              <a:lnSpc>
                <a:spcPts val="1013"/>
              </a:lnSpc>
              <a:buNone/>
            </a:pPr>
            <a:r>
              <a:rPr lang="en-US" sz="800" kern="0" spc="27" dirty="0">
                <a:solidFill>
                  <a:srgbClr val="7A8AA0"/>
                </a:solidFill>
                <a:latin typeface="Carlito" pitchFamily="34" charset="0"/>
                <a:ea typeface="Carlito" pitchFamily="34" charset="-122"/>
                <a:cs typeface="Carlito" pitchFamily="34" charset="-120"/>
              </a:rPr>
              <a:t>ADHERENCE GAP</a:t>
            </a:r>
            <a:endParaRPr lang="en-US" sz="800" dirty="0"/>
          </a:p>
        </p:txBody>
      </p:sp>
      <p:sp>
        <p:nvSpPr>
          <p:cNvPr id="21" name="Text 19"/>
          <p:cNvSpPr/>
          <p:nvPr/>
        </p:nvSpPr>
        <p:spPr>
          <a:xfrm>
            <a:off x="514350" y="3452775"/>
            <a:ext cx="8115300" cy="754335"/>
          </a:xfrm>
          <a:prstGeom prst="roundRect">
            <a:avLst>
              <a:gd name="adj" fmla="val 10102"/>
            </a:avLst>
          </a:prstGeom>
          <a:solidFill>
            <a:srgbClr val="0F2A4A"/>
          </a:solidFill>
          <a:ln/>
        </p:spPr>
        <p:txBody>
          <a:bodyPr wrap="square" rtlCol="0" anchor="ctr"/>
          <a:lstStyle/>
          <a:p>
            <a:pPr marL="0" indent="0">
              <a:buNone/>
            </a:pPr>
            <a:endParaRPr lang="en-US" dirty="0"/>
          </a:p>
        </p:txBody>
      </p:sp>
      <p:sp>
        <p:nvSpPr>
          <p:cNvPr id="22" name="Text 20"/>
          <p:cNvSpPr/>
          <p:nvPr/>
        </p:nvSpPr>
        <p:spPr>
          <a:xfrm>
            <a:off x="742950" y="3701355"/>
            <a:ext cx="257175" cy="257175"/>
          </a:xfrm>
          <a:prstGeom prst="rect">
            <a:avLst/>
          </a:prstGeom>
          <a:noFill/>
          <a:ln/>
        </p:spPr>
        <p:txBody>
          <a:bodyPr wrap="none" lIns="0" tIns="0" rIns="0" bIns="0" rtlCol="0" anchor="ctr"/>
          <a:lstStyle/>
          <a:p>
            <a:pPr marL="0" indent="0" algn="ctr">
              <a:buNone/>
            </a:pPr>
            <a:r>
              <a:rPr lang="en-US" sz="2531" dirty="0">
                <a:solidFill>
                  <a:srgbClr val="C9A227"/>
                </a:solidFill>
                <a:latin typeface="Segoe UI Symbol" pitchFamily="34" charset="0"/>
                <a:ea typeface="Segoe UI Symbol" pitchFamily="34" charset="-122"/>
                <a:cs typeface="Segoe UI Symbol" pitchFamily="34" charset="-120"/>
              </a:rPr>
              <a:t>“</a:t>
            </a:r>
            <a:endParaRPr lang="en-US" sz="2531" dirty="0"/>
          </a:p>
        </p:txBody>
      </p:sp>
      <p:sp>
        <p:nvSpPr>
          <p:cNvPr id="23" name="Text 21"/>
          <p:cNvSpPr/>
          <p:nvPr/>
        </p:nvSpPr>
        <p:spPr>
          <a:xfrm>
            <a:off x="1128713" y="3609938"/>
            <a:ext cx="7272338" cy="440010"/>
          </a:xfrm>
          <a:prstGeom prst="rect">
            <a:avLst/>
          </a:prstGeom>
          <a:noFill/>
          <a:ln/>
        </p:spPr>
        <p:txBody>
          <a:bodyPr wrap="square" lIns="0" tIns="0" rIns="0" bIns="0" rtlCol="0" anchor="t"/>
          <a:lstStyle/>
          <a:p>
            <a:pPr marL="0" indent="0" algn="l">
              <a:lnSpc>
                <a:spcPts val="1733"/>
              </a:lnSpc>
              <a:buNone/>
            </a:pPr>
            <a:r>
              <a:rPr lang="en-US" sz="1238" i="1" dirty="0">
                <a:solidFill>
                  <a:srgbClr val="FFFFFF"/>
                </a:solidFill>
                <a:latin typeface="Tinos" pitchFamily="34" charset="0"/>
                <a:ea typeface="Tinos" pitchFamily="34" charset="-122"/>
                <a:cs typeface="Tinos" pitchFamily="34" charset="-120"/>
              </a:rPr>
              <a:t>Existing apps treat medication tracking, interaction safety, caregiver visibility, and emergency response as separate problems. MedWise treats them as one.</a:t>
            </a:r>
            <a:endParaRPr lang="en-US" sz="1238" dirty="0"/>
          </a:p>
        </p:txBody>
      </p:sp>
      <p:sp>
        <p:nvSpPr>
          <p:cNvPr id="24" name="Text 22"/>
          <p:cNvSpPr/>
          <p:nvPr/>
        </p:nvSpPr>
        <p:spPr>
          <a:xfrm>
            <a:off x="514350" y="4897041"/>
            <a:ext cx="7075326" cy="117872"/>
          </a:xfrm>
          <a:prstGeom prst="rect">
            <a:avLst/>
          </a:prstGeom>
          <a:noFill/>
          <a:ln/>
        </p:spPr>
        <p:txBody>
          <a:bodyPr wrap="square" lIns="0" tIns="0" rIns="0" bIns="0" rtlCol="0" anchor="t"/>
          <a:lstStyle/>
          <a:p>
            <a:pPr marL="0" indent="0" algn="l">
              <a:lnSpc>
                <a:spcPts val="928"/>
              </a:lnSpc>
              <a:buNone/>
            </a:pPr>
            <a:r>
              <a:rPr lang="en-US" sz="800" kern="0" spc="74"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25" name="Text 23"/>
          <p:cNvSpPr/>
          <p:nvPr/>
        </p:nvSpPr>
        <p:spPr>
          <a:xfrm>
            <a:off x="7603964" y="4897041"/>
            <a:ext cx="1025686" cy="117872"/>
          </a:xfrm>
          <a:prstGeom prst="rect">
            <a:avLst/>
          </a:prstGeom>
          <a:noFill/>
          <a:ln/>
        </p:spPr>
        <p:txBody>
          <a:bodyPr wrap="none" lIns="0" tIns="0" rIns="0" bIns="0" rtlCol="0" anchor="t"/>
          <a:lstStyle/>
          <a:p>
            <a:pPr marL="0" indent="0" algn="l">
              <a:lnSpc>
                <a:spcPts val="928"/>
              </a:lnSpc>
              <a:buNone/>
            </a:pPr>
            <a:r>
              <a:rPr lang="en-US" sz="800" kern="0" spc="74" dirty="0">
                <a:solidFill>
                  <a:srgbClr val="7A8AA0"/>
                </a:solidFill>
                <a:latin typeface="Carlito" pitchFamily="34" charset="0"/>
                <a:ea typeface="Carlito" pitchFamily="34" charset="-122"/>
                <a:cs typeface="Carlito" pitchFamily="34" charset="-120"/>
              </a:rPr>
              <a:t>PROBLEM STATEMENT</a:t>
            </a:r>
            <a:endParaRPr lang="en-US" sz="8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presetID="10" presetClass="entr" presetSubtype="0" fill="hold" nodeType="afterEffect">
                      <p:stCondLst>
                        <p:cond delay="15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300"/>
                            <p:tgtEl>
                              <p:spTgt spid="2"/>
                            </p:tgtEl>
                          </p:cBhvr>
                        </p:animEffect>
                      </p:childTnLst>
                    </p:cTn>
                  </p:par>
                  <p:par>
                    <p:cTn id="6" presetID="10" presetClass="entr" presetSubtype="0" fill="hold" nodeType="after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300"/>
                            <p:tgtEl>
                              <p:spTgt spid="3"/>
                            </p:tgtEl>
                          </p:cBhvr>
                        </p:animEffect>
                      </p:childTnLst>
                    </p:cTn>
                  </p:par>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300"/>
                            <p:tgtEl>
                              <p:spTgt spid="4"/>
                            </p:tgtEl>
                          </p:cBhvr>
                        </p:animEffect>
                      </p:childTnLst>
                    </p:cTn>
                  </p:par>
                  <p:par>
                    <p:cTn id="12" presetID="10"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300"/>
                            <p:tgtEl>
                              <p:spTgt spid="5"/>
                            </p:tgtEl>
                          </p:cBhvr>
                        </p:animEffect>
                      </p:childTnLst>
                    </p:cTn>
                  </p:par>
                  <p:par>
                    <p:cTn id="15" presetID="10" presetClass="entr" presetSubtype="0"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300"/>
                            <p:tgtEl>
                              <p:spTgt spid="6"/>
                            </p:tgtEl>
                          </p:cBhvr>
                        </p:animEffect>
                      </p:childTnLst>
                    </p:cTn>
                  </p:par>
                  <p:par>
                    <p:cTn id="18" presetID="10" presetClass="entr" presetSubtype="0"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300"/>
                            <p:tgtEl>
                              <p:spTgt spid="7"/>
                            </p:tgtEl>
                          </p:cBhvr>
                        </p:animEffect>
                      </p:childTnLst>
                    </p:cTn>
                  </p:par>
                  <p:par>
                    <p:cTn id="21" presetID="10" presetClass="entr" presetSubtype="0"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300"/>
                            <p:tgtEl>
                              <p:spTgt spid="9"/>
                            </p:tgtEl>
                          </p:cBhvr>
                        </p:animEffect>
                      </p:childTnLst>
                    </p:cTn>
                  </p:par>
                  <p:par>
                    <p:cTn id="27" presetID="10" presetClass="entr" presetSubtype="0" fill="hold"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300"/>
                            <p:tgtEl>
                              <p:spTgt spid="10"/>
                            </p:tgtEl>
                          </p:cBhvr>
                        </p:animEffect>
                      </p:childTnLst>
                    </p:cTn>
                  </p:par>
                  <p:par>
                    <p:cTn id="30" presetID="10" presetClass="entr" presetSubtype="0" fill="hold"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300"/>
                            <p:tgtEl>
                              <p:spTgt spid="11"/>
                            </p:tgtEl>
                          </p:cBhvr>
                        </p:animEffect>
                      </p:childTnLst>
                    </p:cTn>
                  </p:par>
                  <p:par>
                    <p:cTn id="33" presetID="10" presetClass="entr" presetSubtype="0" fill="hold"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300"/>
                            <p:tgtEl>
                              <p:spTgt spid="12"/>
                            </p:tgtEl>
                          </p:cBhvr>
                        </p:animEffect>
                      </p:childTnLst>
                    </p:cTn>
                  </p:par>
                  <p:par>
                    <p:cTn id="36" presetID="10" presetClass="entr" presetSubtype="0" fill="hold"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300"/>
                            <p:tgtEl>
                              <p:spTgt spid="13"/>
                            </p:tgtEl>
                          </p:cBhvr>
                        </p:animEffect>
                      </p:childTnLst>
                    </p:cTn>
                  </p:par>
                  <p:par>
                    <p:cTn id="39" presetID="10" presetClass="entr" presetSubtype="0" fill="hold"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300"/>
                            <p:tgtEl>
                              <p:spTgt spid="14"/>
                            </p:tgtEl>
                          </p:cBhvr>
                        </p:animEffect>
                      </p:childTnLst>
                    </p:cTn>
                  </p:par>
                  <p:par>
                    <p:cTn id="42" presetID="10" presetClass="entr" presetSubtype="0" fill="hold" nodeType="after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300"/>
                            <p:tgtEl>
                              <p:spTgt spid="15"/>
                            </p:tgtEl>
                          </p:cBhvr>
                        </p:animEffect>
                      </p:childTnLst>
                    </p:cTn>
                  </p:par>
                  <p:par>
                    <p:cTn id="45" presetID="10" presetClass="entr" presetSubtype="0" fill="hold" nodeType="after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300"/>
                            <p:tgtEl>
                              <p:spTgt spid="16"/>
                            </p:tgtEl>
                          </p:cBhvr>
                        </p:animEffect>
                      </p:childTnLst>
                    </p:cTn>
                  </p:par>
                  <p:par>
                    <p:cTn id="48" presetID="10" presetClass="entr" presetSubtype="0" fill="hold" nodeType="after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300"/>
                            <p:tgtEl>
                              <p:spTgt spid="17"/>
                            </p:tgtEl>
                          </p:cBhvr>
                        </p:animEffect>
                      </p:childTnLst>
                    </p:cTn>
                  </p:par>
                  <p:par>
                    <p:cTn id="51" presetID="10" presetClass="entr" presetSubtype="0" fill="hold" nodeType="after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300"/>
                            <p:tgtEl>
                              <p:spTgt spid="18"/>
                            </p:tgtEl>
                          </p:cBhvr>
                        </p:animEffect>
                      </p:childTnLst>
                    </p:cTn>
                  </p:par>
                  <p:par>
                    <p:cTn id="54" presetID="10" presetClass="entr" presetSubtype="0" fill="hold" nodeType="after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300"/>
                            <p:tgtEl>
                              <p:spTgt spid="19"/>
                            </p:tgtEl>
                          </p:cBhvr>
                        </p:animEffect>
                      </p:childTnLst>
                    </p:cTn>
                  </p:par>
                  <p:par>
                    <p:cTn id="57" presetID="10" presetClass="entr" presetSubtype="0" fill="hold" nodeType="after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300"/>
                            <p:tgtEl>
                              <p:spTgt spid="20"/>
                            </p:tgtEl>
                          </p:cBhvr>
                        </p:animEffect>
                      </p:childTnLst>
                    </p:cTn>
                  </p:par>
                  <p:par>
                    <p:cTn id="60" presetID="10" presetClass="entr" presetSubtype="0" fill="hold" nodeType="after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300"/>
                            <p:tgtEl>
                              <p:spTgt spid="21"/>
                            </p:tgtEl>
                          </p:cBhvr>
                        </p:animEffect>
                      </p:childTnLst>
                    </p:cTn>
                  </p:par>
                  <p:par>
                    <p:cTn id="63" presetID="10" presetClass="entr" presetSubtype="0" fill="hold" nodeType="after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300"/>
                            <p:tgtEl>
                              <p:spTgt spid="22"/>
                            </p:tgtEl>
                          </p:cBhvr>
                        </p:animEffect>
                      </p:childTnLst>
                    </p:cTn>
                  </p:par>
                  <p:par>
                    <p:cTn id="66" presetID="10" presetClass="entr" presetSubtype="0" fill="hold" nodeType="after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300"/>
                            <p:tgtEl>
                              <p:spTgt spid="23"/>
                            </p:tgtEl>
                          </p:cBhvr>
                        </p:animEffect>
                      </p:childTnLst>
                    </p:cTn>
                  </p:par>
                  <p:par>
                    <p:cTn id="69" presetID="10" presetClass="entr" presetSubtype="0" fill="hold" nodeType="after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300"/>
                            <p:tgtEl>
                              <p:spTgt spid="24"/>
                            </p:tgtEl>
                          </p:cBhvr>
                        </p:animEffect>
                      </p:childTnLst>
                    </p:cTn>
                  </p:par>
                  <p:par>
                    <p:cTn id="72" presetID="10" presetClass="entr" presetSubtype="0" fill="hold" nodeType="after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300"/>
                            <p:tgtEl>
                              <p:spTgt spid="25"/>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514350" y="632222"/>
            <a:ext cx="8115300" cy="0"/>
          </a:xfrm>
          <a:prstGeom prst="line">
            <a:avLst/>
          </a:prstGeom>
          <a:noFill/>
          <a:ln w="7144">
            <a:solidFill>
              <a:srgbClr val="D9D2BC"/>
            </a:solidFill>
            <a:prstDash val="solid"/>
          </a:ln>
        </p:spPr>
      </p:sp>
      <p:sp>
        <p:nvSpPr>
          <p:cNvPr id="3" name="Shape 1"/>
          <p:cNvSpPr/>
          <p:nvPr/>
        </p:nvSpPr>
        <p:spPr>
          <a:xfrm>
            <a:off x="514350" y="4836319"/>
            <a:ext cx="8115300" cy="0"/>
          </a:xfrm>
          <a:prstGeom prst="line">
            <a:avLst/>
          </a:prstGeom>
          <a:noFill/>
          <a:ln w="7144">
            <a:solidFill>
              <a:srgbClr val="D9D2BC"/>
            </a:solidFill>
            <a:prstDash val="solid"/>
          </a:ln>
        </p:spPr>
      </p:sp>
      <p:sp>
        <p:nvSpPr>
          <p:cNvPr id="4" name="Text 2"/>
          <p:cNvSpPr/>
          <p:nvPr/>
        </p:nvSpPr>
        <p:spPr>
          <a:xfrm>
            <a:off x="514350" y="400050"/>
            <a:ext cx="767964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02 · MOTIVATION</a:t>
            </a:r>
            <a:endParaRPr lang="en-US" sz="800" dirty="0"/>
          </a:p>
        </p:txBody>
      </p:sp>
      <p:sp>
        <p:nvSpPr>
          <p:cNvPr id="5" name="Text 3"/>
          <p:cNvSpPr/>
          <p:nvPr/>
        </p:nvSpPr>
        <p:spPr>
          <a:xfrm>
            <a:off x="8208280" y="400050"/>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04 / 21</a:t>
            </a:r>
            <a:endParaRPr lang="en-US" sz="800" dirty="0"/>
          </a:p>
        </p:txBody>
      </p:sp>
      <p:pic>
        <p:nvPicPr>
          <p:cNvPr id="6" name="Image 0" descr="/tmp/h2p-fit-1781621411143-xsjc4h.png"/>
          <p:cNvPicPr>
            <a:picLocks noChangeAspect="1"/>
          </p:cNvPicPr>
          <p:nvPr/>
        </p:nvPicPr>
        <p:blipFill>
          <a:blip r:embed="rId3"/>
          <a:stretch>
            <a:fillRect/>
          </a:stretch>
        </p:blipFill>
        <p:spPr>
          <a:xfrm>
            <a:off x="514350" y="835819"/>
            <a:ext cx="3264694" cy="3907631"/>
          </a:xfrm>
          <a:prstGeom prst="rect">
            <a:avLst/>
          </a:prstGeom>
        </p:spPr>
      </p:pic>
      <p:sp>
        <p:nvSpPr>
          <p:cNvPr id="7" name="Text 4"/>
          <p:cNvSpPr/>
          <p:nvPr/>
        </p:nvSpPr>
        <p:spPr>
          <a:xfrm>
            <a:off x="614363" y="4429125"/>
            <a:ext cx="2027932" cy="214313"/>
          </a:xfrm>
          <a:prstGeom prst="roundRect">
            <a:avLst>
              <a:gd name="adj" fmla="val 17778"/>
            </a:avLst>
          </a:prstGeom>
          <a:solidFill>
            <a:srgbClr val="0F2A4A">
              <a:alpha val="85000"/>
            </a:srgbClr>
          </a:solidFill>
          <a:ln/>
        </p:spPr>
        <p:txBody>
          <a:bodyPr wrap="square" rtlCol="0" anchor="ctr"/>
          <a:lstStyle/>
          <a:p>
            <a:pPr marL="0" indent="0">
              <a:buNone/>
            </a:pPr>
            <a:endParaRPr lang="en-US" dirty="0"/>
          </a:p>
        </p:txBody>
      </p:sp>
      <p:sp>
        <p:nvSpPr>
          <p:cNvPr id="8" name="Text 5"/>
          <p:cNvSpPr/>
          <p:nvPr/>
        </p:nvSpPr>
        <p:spPr>
          <a:xfrm>
            <a:off x="614363" y="4429125"/>
            <a:ext cx="2027932" cy="274320"/>
          </a:xfrm>
          <a:prstGeom prst="rect">
            <a:avLst/>
          </a:prstGeom>
          <a:noFill/>
          <a:ln/>
        </p:spPr>
        <p:txBody>
          <a:bodyPr wrap="square" lIns="71438" tIns="42863" rIns="71438" bIns="42863" rtlCol="0" anchor="t"/>
          <a:lstStyle/>
          <a:p>
            <a:pPr marL="0" indent="0" algn="l">
              <a:lnSpc>
                <a:spcPts val="1013"/>
              </a:lnSpc>
              <a:buNone/>
            </a:pPr>
            <a:r>
              <a:rPr lang="en-US" sz="800" kern="0" spc="27" dirty="0">
                <a:solidFill>
                  <a:srgbClr val="FFFFFF"/>
                </a:solidFill>
                <a:latin typeface="Carlito" pitchFamily="34" charset="0"/>
                <a:ea typeface="Carlito" pitchFamily="34" charset="-122"/>
                <a:cs typeface="Carlito" pitchFamily="34" charset="-120"/>
              </a:rPr>
              <a:t>Aging at home, supported by family.</a:t>
            </a:r>
            <a:endParaRPr lang="en-US" sz="800" dirty="0"/>
          </a:p>
        </p:txBody>
      </p:sp>
      <p:sp>
        <p:nvSpPr>
          <p:cNvPr id="9" name="Text 6"/>
          <p:cNvSpPr/>
          <p:nvPr/>
        </p:nvSpPr>
        <p:spPr>
          <a:xfrm>
            <a:off x="3979069" y="835819"/>
            <a:ext cx="4650581" cy="301618"/>
          </a:xfrm>
          <a:prstGeom prst="rect">
            <a:avLst/>
          </a:prstGeom>
          <a:noFill/>
          <a:ln/>
        </p:spPr>
        <p:txBody>
          <a:bodyPr wrap="square" lIns="0" tIns="0" rIns="0" bIns="0" rtlCol="0" anchor="t"/>
          <a:lstStyle/>
          <a:p>
            <a:pPr marL="0" indent="0" algn="l">
              <a:lnSpc>
                <a:spcPts val="2199"/>
              </a:lnSpc>
              <a:buNone/>
            </a:pPr>
            <a:r>
              <a:rPr lang="en-US" sz="1913" b="1" kern="0" spc="-19" dirty="0">
                <a:solidFill>
                  <a:srgbClr val="0F2A4A"/>
                </a:solidFill>
                <a:latin typeface="Tinos" pitchFamily="34" charset="0"/>
                <a:ea typeface="Tinos" pitchFamily="34" charset="-122"/>
                <a:cs typeface="Tinos" pitchFamily="34" charset="-120"/>
              </a:rPr>
              <a:t>Why this matters, and who benefits</a:t>
            </a:r>
            <a:endParaRPr lang="en-US" sz="1913" dirty="0"/>
          </a:p>
        </p:txBody>
      </p:sp>
      <p:sp>
        <p:nvSpPr>
          <p:cNvPr id="10" name="Text 7"/>
          <p:cNvSpPr/>
          <p:nvPr/>
        </p:nvSpPr>
        <p:spPr>
          <a:xfrm>
            <a:off x="3979069" y="1186532"/>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11" name="Text 8"/>
          <p:cNvSpPr/>
          <p:nvPr/>
        </p:nvSpPr>
        <p:spPr>
          <a:xfrm>
            <a:off x="3979069" y="1293688"/>
            <a:ext cx="4650581" cy="572857"/>
          </a:xfrm>
          <a:prstGeom prst="rect">
            <a:avLst/>
          </a:prstGeom>
          <a:noFill/>
          <a:ln/>
        </p:spPr>
        <p:txBody>
          <a:bodyPr wrap="square" lIns="0" tIns="0" rIns="0" bIns="0" rtlCol="0" anchor="t"/>
          <a:lstStyle/>
          <a:p>
            <a:pPr marL="0" indent="0" algn="l">
              <a:lnSpc>
                <a:spcPts val="1392"/>
              </a:lnSpc>
              <a:buNone/>
            </a:pPr>
            <a:r>
              <a:rPr lang="en-US" sz="844" dirty="0">
                <a:solidFill>
                  <a:srgbClr val="0F2A4A"/>
                </a:solidFill>
                <a:latin typeface="Carlito" pitchFamily="34" charset="0"/>
                <a:ea typeface="Carlito" pitchFamily="34" charset="-122"/>
                <a:cs typeface="Carlito" pitchFamily="34" charset="-120"/>
              </a:rPr>
              <a:t>Most medication apps are built for young, tech-fluent users managing one or two prescriptions. MedWise is built for the people those apps leave out — and for the families who worry about them.</a:t>
            </a:r>
            <a:endParaRPr lang="en-US" sz="844" dirty="0"/>
          </a:p>
        </p:txBody>
      </p:sp>
      <p:sp>
        <p:nvSpPr>
          <p:cNvPr id="12" name="Text 9"/>
          <p:cNvSpPr/>
          <p:nvPr/>
        </p:nvSpPr>
        <p:spPr>
          <a:xfrm>
            <a:off x="3982641" y="1927696"/>
            <a:ext cx="2275284" cy="637133"/>
          </a:xfrm>
          <a:prstGeom prst="roundRect">
            <a:avLst>
              <a:gd name="adj" fmla="val 8970"/>
            </a:avLst>
          </a:prstGeom>
          <a:solidFill>
            <a:srgbClr val="FFFFFF"/>
          </a:solidFill>
          <a:ln w="7144">
            <a:solidFill>
              <a:srgbClr val="D9D2BC"/>
            </a:solidFill>
            <a:prstDash val="solid"/>
          </a:ln>
        </p:spPr>
        <p:txBody>
          <a:bodyPr wrap="square" rtlCol="0" anchor="ctr"/>
          <a:lstStyle/>
          <a:p>
            <a:pPr marL="0" indent="0">
              <a:buNone/>
            </a:pPr>
            <a:endParaRPr lang="en-US" dirty="0"/>
          </a:p>
        </p:txBody>
      </p:sp>
      <p:sp>
        <p:nvSpPr>
          <p:cNvPr id="13" name="Text 10"/>
          <p:cNvSpPr/>
          <p:nvPr/>
        </p:nvSpPr>
        <p:spPr>
          <a:xfrm>
            <a:off x="4100513" y="2031281"/>
            <a:ext cx="257175" cy="257175"/>
          </a:xfrm>
          <a:prstGeom prst="roundRect">
            <a:avLst>
              <a:gd name="adj" fmla="val 22222"/>
            </a:avLst>
          </a:prstGeom>
          <a:solidFill>
            <a:srgbClr val="E6C75A"/>
          </a:solidFill>
          <a:ln/>
        </p:spPr>
        <p:txBody>
          <a:bodyPr wrap="square" rtlCol="0" anchor="ctr"/>
          <a:lstStyle/>
          <a:p>
            <a:pPr marL="0" indent="0">
              <a:buNone/>
            </a:pPr>
            <a:endParaRPr lang="en-US" dirty="0"/>
          </a:p>
        </p:txBody>
      </p:sp>
      <p:sp>
        <p:nvSpPr>
          <p:cNvPr id="14" name="Text 11"/>
          <p:cNvSpPr/>
          <p:nvPr/>
        </p:nvSpPr>
        <p:spPr>
          <a:xfrm>
            <a:off x="4115157" y="2045925"/>
            <a:ext cx="227886" cy="227886"/>
          </a:xfrm>
          <a:prstGeom prst="rect">
            <a:avLst/>
          </a:prstGeom>
          <a:noFill/>
          <a:ln/>
        </p:spPr>
        <p:txBody>
          <a:bodyPr wrap="none" lIns="0" tIns="0" rIns="0" bIns="0" rtlCol="0" anchor="ctr"/>
          <a:lstStyle/>
          <a:p>
            <a:pPr marL="0" indent="0" algn="ctr">
              <a:buNone/>
            </a:pPr>
            <a:r>
              <a:rPr lang="en-US" sz="1547" dirty="0">
                <a:solidFill>
                  <a:srgbClr val="8C6F12"/>
                </a:solidFill>
                <a:latin typeface="Segoe UI Symbol" pitchFamily="34" charset="0"/>
                <a:ea typeface="Segoe UI Symbol" pitchFamily="34" charset="-122"/>
                <a:cs typeface="Segoe UI Symbol" pitchFamily="34" charset="-120"/>
              </a:rPr>
              <a:t>✦</a:t>
            </a:r>
            <a:endParaRPr lang="en-US" sz="1547" dirty="0"/>
          </a:p>
        </p:txBody>
      </p:sp>
      <p:sp>
        <p:nvSpPr>
          <p:cNvPr id="15" name="Text 12"/>
          <p:cNvSpPr/>
          <p:nvPr/>
        </p:nvSpPr>
        <p:spPr>
          <a:xfrm>
            <a:off x="4443413" y="2031281"/>
            <a:ext cx="1696641" cy="123926"/>
          </a:xfrm>
          <a:prstGeom prst="rect">
            <a:avLst/>
          </a:prstGeom>
          <a:noFill/>
          <a:ln/>
        </p:spPr>
        <p:txBody>
          <a:bodyPr wrap="none" lIns="0" tIns="0" rIns="0" bIns="0" rtlCol="0" anchor="t">
            <a:normAutofit fontScale="55000" lnSpcReduction="20000"/>
          </a:bodyPr>
          <a:lstStyle/>
          <a:p>
            <a:pPr marL="0" indent="0" algn="l">
              <a:lnSpc>
                <a:spcPts val="1080"/>
              </a:lnSpc>
              <a:buNone/>
            </a:pPr>
            <a:r>
              <a:rPr lang="en-US" sz="900" b="1" dirty="0">
                <a:solidFill>
                  <a:srgbClr val="0F2A4A"/>
                </a:solidFill>
                <a:latin typeface="Carlito" pitchFamily="34" charset="0"/>
                <a:ea typeface="Carlito" pitchFamily="34" charset="-122"/>
                <a:cs typeface="Carlito" pitchFamily="34" charset="-120"/>
              </a:rPr>
              <a:t>Patients</a:t>
            </a:r>
            <a:endParaRPr lang="en-US" sz="900" dirty="0"/>
          </a:p>
        </p:txBody>
      </p:sp>
      <p:sp>
        <p:nvSpPr>
          <p:cNvPr id="16" name="Text 13"/>
          <p:cNvSpPr/>
          <p:nvPr/>
        </p:nvSpPr>
        <p:spPr>
          <a:xfrm>
            <a:off x="4443413" y="2182639"/>
            <a:ext cx="1696641" cy="278606"/>
          </a:xfrm>
          <a:prstGeom prst="rect">
            <a:avLst/>
          </a:prstGeom>
          <a:noFill/>
          <a:ln/>
        </p:spPr>
        <p:txBody>
          <a:bodyPr wrap="square" lIns="0" tIns="0" rIns="0" bIns="0" rtlCol="0" anchor="t"/>
          <a:lstStyle/>
          <a:p>
            <a:pPr marL="0" indent="0" algn="l">
              <a:lnSpc>
                <a:spcPts val="1097"/>
              </a:lnSpc>
              <a:buNone/>
            </a:pPr>
            <a:r>
              <a:rPr lang="en-US" sz="800" dirty="0">
                <a:solidFill>
                  <a:srgbClr val="4A5A75"/>
                </a:solidFill>
                <a:latin typeface="Carlito" pitchFamily="34" charset="0"/>
                <a:ea typeface="Carlito" pitchFamily="34" charset="-122"/>
                <a:cs typeface="Carlito" pitchFamily="34" charset="-120"/>
              </a:rPr>
              <a:t>Take the right pill at the right time, with safety checks built in.</a:t>
            </a:r>
            <a:endParaRPr lang="en-US" sz="800" dirty="0"/>
          </a:p>
        </p:txBody>
      </p:sp>
      <p:sp>
        <p:nvSpPr>
          <p:cNvPr id="17" name="Text 14"/>
          <p:cNvSpPr/>
          <p:nvPr/>
        </p:nvSpPr>
        <p:spPr>
          <a:xfrm>
            <a:off x="6350794" y="1927696"/>
            <a:ext cx="2275284" cy="637133"/>
          </a:xfrm>
          <a:prstGeom prst="roundRect">
            <a:avLst>
              <a:gd name="adj" fmla="val 8970"/>
            </a:avLst>
          </a:prstGeom>
          <a:solidFill>
            <a:srgbClr val="FFFFFF"/>
          </a:solidFill>
          <a:ln w="7144">
            <a:solidFill>
              <a:srgbClr val="D9D2BC"/>
            </a:solidFill>
            <a:prstDash val="solid"/>
          </a:ln>
        </p:spPr>
        <p:txBody>
          <a:bodyPr wrap="square" rtlCol="0" anchor="ctr"/>
          <a:lstStyle/>
          <a:p>
            <a:pPr marL="0" indent="0">
              <a:buNone/>
            </a:pPr>
            <a:endParaRPr lang="en-US" dirty="0"/>
          </a:p>
        </p:txBody>
      </p:sp>
      <p:sp>
        <p:nvSpPr>
          <p:cNvPr id="18" name="Text 15"/>
          <p:cNvSpPr/>
          <p:nvPr/>
        </p:nvSpPr>
        <p:spPr>
          <a:xfrm>
            <a:off x="6468666" y="2031281"/>
            <a:ext cx="257175" cy="257175"/>
          </a:xfrm>
          <a:prstGeom prst="roundRect">
            <a:avLst>
              <a:gd name="adj" fmla="val 22222"/>
            </a:avLst>
          </a:prstGeom>
          <a:solidFill>
            <a:srgbClr val="E6C75A"/>
          </a:solidFill>
          <a:ln/>
        </p:spPr>
        <p:txBody>
          <a:bodyPr wrap="square" rtlCol="0" anchor="ctr"/>
          <a:lstStyle/>
          <a:p>
            <a:pPr marL="0" indent="0">
              <a:buNone/>
            </a:pPr>
            <a:endParaRPr lang="en-US" dirty="0"/>
          </a:p>
        </p:txBody>
      </p:sp>
      <p:sp>
        <p:nvSpPr>
          <p:cNvPr id="19" name="Text 16"/>
          <p:cNvSpPr/>
          <p:nvPr/>
        </p:nvSpPr>
        <p:spPr>
          <a:xfrm>
            <a:off x="6483310" y="2045925"/>
            <a:ext cx="227886" cy="227886"/>
          </a:xfrm>
          <a:prstGeom prst="rect">
            <a:avLst/>
          </a:prstGeom>
          <a:noFill/>
          <a:ln/>
        </p:spPr>
        <p:txBody>
          <a:bodyPr wrap="none" lIns="0" tIns="0" rIns="0" bIns="0" rtlCol="0" anchor="ctr"/>
          <a:lstStyle/>
          <a:p>
            <a:pPr marL="0" indent="0" algn="ctr">
              <a:buNone/>
            </a:pPr>
            <a:r>
              <a:rPr lang="en-US" sz="1547" dirty="0">
                <a:solidFill>
                  <a:srgbClr val="8C6F12"/>
                </a:solidFill>
                <a:latin typeface="Segoe UI Symbol" pitchFamily="34" charset="0"/>
                <a:ea typeface="Segoe UI Symbol" pitchFamily="34" charset="-122"/>
                <a:cs typeface="Segoe UI Symbol" pitchFamily="34" charset="-120"/>
              </a:rPr>
              <a:t>♟</a:t>
            </a:r>
            <a:endParaRPr lang="en-US" sz="1547" dirty="0"/>
          </a:p>
        </p:txBody>
      </p:sp>
      <p:sp>
        <p:nvSpPr>
          <p:cNvPr id="20" name="Text 17"/>
          <p:cNvSpPr/>
          <p:nvPr/>
        </p:nvSpPr>
        <p:spPr>
          <a:xfrm>
            <a:off x="6811566" y="2031281"/>
            <a:ext cx="1696641" cy="123926"/>
          </a:xfrm>
          <a:prstGeom prst="rect">
            <a:avLst/>
          </a:prstGeom>
          <a:noFill/>
          <a:ln/>
        </p:spPr>
        <p:txBody>
          <a:bodyPr wrap="none" lIns="0" tIns="0" rIns="0" bIns="0" rtlCol="0" anchor="t">
            <a:normAutofit fontScale="55000" lnSpcReduction="20000"/>
          </a:bodyPr>
          <a:lstStyle/>
          <a:p>
            <a:pPr marL="0" indent="0" algn="l">
              <a:lnSpc>
                <a:spcPts val="1080"/>
              </a:lnSpc>
              <a:buNone/>
            </a:pPr>
            <a:r>
              <a:rPr lang="en-US" sz="900" b="1" dirty="0">
                <a:solidFill>
                  <a:srgbClr val="0F2A4A"/>
                </a:solidFill>
                <a:latin typeface="Carlito" pitchFamily="34" charset="0"/>
                <a:ea typeface="Carlito" pitchFamily="34" charset="-122"/>
                <a:cs typeface="Carlito" pitchFamily="34" charset="-120"/>
              </a:rPr>
              <a:t>Families</a:t>
            </a:r>
            <a:endParaRPr lang="en-US" sz="900" dirty="0"/>
          </a:p>
        </p:txBody>
      </p:sp>
      <p:sp>
        <p:nvSpPr>
          <p:cNvPr id="21" name="Text 18"/>
          <p:cNvSpPr/>
          <p:nvPr/>
        </p:nvSpPr>
        <p:spPr>
          <a:xfrm>
            <a:off x="6811566" y="2182639"/>
            <a:ext cx="1696641" cy="278606"/>
          </a:xfrm>
          <a:prstGeom prst="rect">
            <a:avLst/>
          </a:prstGeom>
          <a:noFill/>
          <a:ln/>
        </p:spPr>
        <p:txBody>
          <a:bodyPr wrap="square" lIns="0" tIns="0" rIns="0" bIns="0" rtlCol="0" anchor="t"/>
          <a:lstStyle/>
          <a:p>
            <a:pPr marL="0" indent="0" algn="l">
              <a:lnSpc>
                <a:spcPts val="1097"/>
              </a:lnSpc>
              <a:buNone/>
            </a:pPr>
            <a:r>
              <a:rPr lang="en-US" sz="800" dirty="0">
                <a:solidFill>
                  <a:srgbClr val="4A5A75"/>
                </a:solidFill>
                <a:latin typeface="Carlito" pitchFamily="34" charset="0"/>
                <a:ea typeface="Carlito" pitchFamily="34" charset="-122"/>
                <a:cs typeface="Carlito" pitchFamily="34" charset="-120"/>
              </a:rPr>
              <a:t>See adherence and emergencies in real time, from anywhere.</a:t>
            </a:r>
            <a:endParaRPr lang="en-US" sz="800" dirty="0"/>
          </a:p>
        </p:txBody>
      </p:sp>
      <p:sp>
        <p:nvSpPr>
          <p:cNvPr id="22" name="Text 19"/>
          <p:cNvSpPr/>
          <p:nvPr/>
        </p:nvSpPr>
        <p:spPr>
          <a:xfrm>
            <a:off x="3982641" y="2643411"/>
            <a:ext cx="2275284" cy="637133"/>
          </a:xfrm>
          <a:prstGeom prst="roundRect">
            <a:avLst>
              <a:gd name="adj" fmla="val 8970"/>
            </a:avLst>
          </a:prstGeom>
          <a:solidFill>
            <a:srgbClr val="FFFFFF"/>
          </a:solidFill>
          <a:ln w="7144">
            <a:solidFill>
              <a:srgbClr val="D9D2BC"/>
            </a:solidFill>
            <a:prstDash val="solid"/>
          </a:ln>
        </p:spPr>
        <p:txBody>
          <a:bodyPr wrap="square" rtlCol="0" anchor="ctr"/>
          <a:lstStyle/>
          <a:p>
            <a:pPr marL="0" indent="0">
              <a:buNone/>
            </a:pPr>
            <a:endParaRPr lang="en-US" dirty="0"/>
          </a:p>
        </p:txBody>
      </p:sp>
      <p:sp>
        <p:nvSpPr>
          <p:cNvPr id="23" name="Text 20"/>
          <p:cNvSpPr/>
          <p:nvPr/>
        </p:nvSpPr>
        <p:spPr>
          <a:xfrm>
            <a:off x="4100513" y="2746995"/>
            <a:ext cx="257175" cy="257175"/>
          </a:xfrm>
          <a:prstGeom prst="roundRect">
            <a:avLst>
              <a:gd name="adj" fmla="val 22222"/>
            </a:avLst>
          </a:prstGeom>
          <a:solidFill>
            <a:srgbClr val="E6C75A"/>
          </a:solidFill>
          <a:ln/>
        </p:spPr>
        <p:txBody>
          <a:bodyPr wrap="square" rtlCol="0" anchor="ctr"/>
          <a:lstStyle/>
          <a:p>
            <a:pPr marL="0" indent="0">
              <a:buNone/>
            </a:pPr>
            <a:endParaRPr lang="en-US" dirty="0"/>
          </a:p>
        </p:txBody>
      </p:sp>
      <p:sp>
        <p:nvSpPr>
          <p:cNvPr id="24" name="Text 21"/>
          <p:cNvSpPr/>
          <p:nvPr/>
        </p:nvSpPr>
        <p:spPr>
          <a:xfrm>
            <a:off x="4115157" y="2761640"/>
            <a:ext cx="227886" cy="227886"/>
          </a:xfrm>
          <a:prstGeom prst="rect">
            <a:avLst/>
          </a:prstGeom>
          <a:noFill/>
          <a:ln/>
        </p:spPr>
        <p:txBody>
          <a:bodyPr wrap="none" lIns="0" tIns="0" rIns="0" bIns="0" rtlCol="0" anchor="ctr"/>
          <a:lstStyle/>
          <a:p>
            <a:pPr marL="0" indent="0" algn="ctr">
              <a:buNone/>
            </a:pPr>
            <a:r>
              <a:rPr lang="en-US" sz="1547" dirty="0">
                <a:solidFill>
                  <a:srgbClr val="8C6F12"/>
                </a:solidFill>
                <a:latin typeface="Segoe UI Symbol" pitchFamily="34" charset="0"/>
                <a:ea typeface="Segoe UI Symbol" pitchFamily="34" charset="-122"/>
                <a:cs typeface="Segoe UI Symbol" pitchFamily="34" charset="-120"/>
              </a:rPr>
              <a:t>✚</a:t>
            </a:r>
            <a:endParaRPr lang="en-US" sz="1547" dirty="0"/>
          </a:p>
        </p:txBody>
      </p:sp>
      <p:sp>
        <p:nvSpPr>
          <p:cNvPr id="25" name="Text 22"/>
          <p:cNvSpPr/>
          <p:nvPr/>
        </p:nvSpPr>
        <p:spPr>
          <a:xfrm>
            <a:off x="4443413" y="2746995"/>
            <a:ext cx="1696641" cy="123926"/>
          </a:xfrm>
          <a:prstGeom prst="rect">
            <a:avLst/>
          </a:prstGeom>
          <a:noFill/>
          <a:ln/>
        </p:spPr>
        <p:txBody>
          <a:bodyPr wrap="none" lIns="0" tIns="0" rIns="0" bIns="0" rtlCol="0" anchor="t">
            <a:normAutofit fontScale="55000" lnSpcReduction="20000"/>
          </a:bodyPr>
          <a:lstStyle/>
          <a:p>
            <a:pPr marL="0" indent="0" algn="l">
              <a:lnSpc>
                <a:spcPts val="1080"/>
              </a:lnSpc>
              <a:buNone/>
            </a:pPr>
            <a:r>
              <a:rPr lang="en-US" sz="900" b="1" dirty="0">
                <a:solidFill>
                  <a:srgbClr val="0F2A4A"/>
                </a:solidFill>
                <a:latin typeface="Carlito" pitchFamily="34" charset="0"/>
                <a:ea typeface="Carlito" pitchFamily="34" charset="-122"/>
                <a:cs typeface="Carlito" pitchFamily="34" charset="-120"/>
              </a:rPr>
              <a:t>Clinicians</a:t>
            </a:r>
            <a:endParaRPr lang="en-US" sz="900" dirty="0"/>
          </a:p>
        </p:txBody>
      </p:sp>
      <p:sp>
        <p:nvSpPr>
          <p:cNvPr id="26" name="Text 23"/>
          <p:cNvSpPr/>
          <p:nvPr/>
        </p:nvSpPr>
        <p:spPr>
          <a:xfrm>
            <a:off x="4443413" y="2898353"/>
            <a:ext cx="1696641" cy="278606"/>
          </a:xfrm>
          <a:prstGeom prst="rect">
            <a:avLst/>
          </a:prstGeom>
          <a:noFill/>
          <a:ln/>
        </p:spPr>
        <p:txBody>
          <a:bodyPr wrap="square" lIns="0" tIns="0" rIns="0" bIns="0" rtlCol="0" anchor="t"/>
          <a:lstStyle/>
          <a:p>
            <a:pPr marL="0" indent="0" algn="l">
              <a:lnSpc>
                <a:spcPts val="1097"/>
              </a:lnSpc>
              <a:buNone/>
            </a:pPr>
            <a:r>
              <a:rPr lang="en-US" sz="800" dirty="0">
                <a:solidFill>
                  <a:srgbClr val="4A5A75"/>
                </a:solidFill>
                <a:latin typeface="Carlito" pitchFamily="34" charset="0"/>
                <a:ea typeface="Carlito" pitchFamily="34" charset="-122"/>
                <a:cs typeface="Carlito" pitchFamily="34" charset="-120"/>
              </a:rPr>
              <a:t>Get a clearer picture of what the patient actually takes.</a:t>
            </a:r>
            <a:endParaRPr lang="en-US" sz="800" dirty="0"/>
          </a:p>
        </p:txBody>
      </p:sp>
      <p:sp>
        <p:nvSpPr>
          <p:cNvPr id="27" name="Text 24"/>
          <p:cNvSpPr/>
          <p:nvPr/>
        </p:nvSpPr>
        <p:spPr>
          <a:xfrm>
            <a:off x="6350794" y="2643411"/>
            <a:ext cx="2275284" cy="637133"/>
          </a:xfrm>
          <a:prstGeom prst="roundRect">
            <a:avLst>
              <a:gd name="adj" fmla="val 8970"/>
            </a:avLst>
          </a:prstGeom>
          <a:solidFill>
            <a:srgbClr val="FFFFFF"/>
          </a:solidFill>
          <a:ln w="7144">
            <a:solidFill>
              <a:srgbClr val="D9D2BC"/>
            </a:solidFill>
            <a:prstDash val="solid"/>
          </a:ln>
        </p:spPr>
        <p:txBody>
          <a:bodyPr wrap="square" rtlCol="0" anchor="ctr"/>
          <a:lstStyle/>
          <a:p>
            <a:pPr marL="0" indent="0">
              <a:buNone/>
            </a:pPr>
            <a:endParaRPr lang="en-US" dirty="0"/>
          </a:p>
        </p:txBody>
      </p:sp>
      <p:sp>
        <p:nvSpPr>
          <p:cNvPr id="28" name="Text 25"/>
          <p:cNvSpPr/>
          <p:nvPr/>
        </p:nvSpPr>
        <p:spPr>
          <a:xfrm>
            <a:off x="6468666" y="2746995"/>
            <a:ext cx="257175" cy="257175"/>
          </a:xfrm>
          <a:prstGeom prst="roundRect">
            <a:avLst>
              <a:gd name="adj" fmla="val 22222"/>
            </a:avLst>
          </a:prstGeom>
          <a:solidFill>
            <a:srgbClr val="E6C75A"/>
          </a:solidFill>
          <a:ln/>
        </p:spPr>
        <p:txBody>
          <a:bodyPr wrap="square" rtlCol="0" anchor="ctr"/>
          <a:lstStyle/>
          <a:p>
            <a:pPr marL="0" indent="0">
              <a:buNone/>
            </a:pPr>
            <a:endParaRPr lang="en-US" dirty="0"/>
          </a:p>
        </p:txBody>
      </p:sp>
      <p:sp>
        <p:nvSpPr>
          <p:cNvPr id="29" name="Text 26"/>
          <p:cNvSpPr/>
          <p:nvPr/>
        </p:nvSpPr>
        <p:spPr>
          <a:xfrm>
            <a:off x="6483310" y="2761640"/>
            <a:ext cx="227886" cy="227886"/>
          </a:xfrm>
          <a:prstGeom prst="rect">
            <a:avLst/>
          </a:prstGeom>
          <a:noFill/>
          <a:ln/>
        </p:spPr>
        <p:txBody>
          <a:bodyPr wrap="none" lIns="0" tIns="0" rIns="0" bIns="0" rtlCol="0" anchor="ctr"/>
          <a:lstStyle/>
          <a:p>
            <a:pPr marL="0" indent="0" algn="ctr">
              <a:buNone/>
            </a:pPr>
            <a:r>
              <a:rPr lang="en-US" sz="1547" dirty="0">
                <a:solidFill>
                  <a:srgbClr val="8C6F12"/>
                </a:solidFill>
                <a:latin typeface="Segoe UI Symbol" pitchFamily="34" charset="0"/>
                <a:ea typeface="Segoe UI Symbol" pitchFamily="34" charset="-122"/>
                <a:cs typeface="Segoe UI Symbol" pitchFamily="34" charset="-120"/>
              </a:rPr>
              <a:t>◯</a:t>
            </a:r>
            <a:endParaRPr lang="en-US" sz="1547" dirty="0"/>
          </a:p>
        </p:txBody>
      </p:sp>
      <p:sp>
        <p:nvSpPr>
          <p:cNvPr id="30" name="Text 27"/>
          <p:cNvSpPr/>
          <p:nvPr/>
        </p:nvSpPr>
        <p:spPr>
          <a:xfrm>
            <a:off x="6811566" y="2746995"/>
            <a:ext cx="1696641" cy="123926"/>
          </a:xfrm>
          <a:prstGeom prst="rect">
            <a:avLst/>
          </a:prstGeom>
          <a:noFill/>
          <a:ln/>
        </p:spPr>
        <p:txBody>
          <a:bodyPr wrap="none" lIns="0" tIns="0" rIns="0" bIns="0" rtlCol="0" anchor="t">
            <a:normAutofit fontScale="55000" lnSpcReduction="20000"/>
          </a:bodyPr>
          <a:lstStyle/>
          <a:p>
            <a:pPr marL="0" indent="0" algn="l">
              <a:lnSpc>
                <a:spcPts val="1080"/>
              </a:lnSpc>
              <a:buNone/>
            </a:pPr>
            <a:r>
              <a:rPr lang="en-US" sz="900" b="1" dirty="0">
                <a:solidFill>
                  <a:srgbClr val="0F2A4A"/>
                </a:solidFill>
                <a:latin typeface="Carlito" pitchFamily="34" charset="0"/>
                <a:ea typeface="Carlito" pitchFamily="34" charset="-122"/>
                <a:cs typeface="Carlito" pitchFamily="34" charset="-120"/>
              </a:rPr>
              <a:t>Healthcare system</a:t>
            </a:r>
            <a:endParaRPr lang="en-US" sz="900" dirty="0"/>
          </a:p>
        </p:txBody>
      </p:sp>
      <p:sp>
        <p:nvSpPr>
          <p:cNvPr id="31" name="Text 28"/>
          <p:cNvSpPr/>
          <p:nvPr/>
        </p:nvSpPr>
        <p:spPr>
          <a:xfrm>
            <a:off x="6811566" y="2898353"/>
            <a:ext cx="1696641" cy="278606"/>
          </a:xfrm>
          <a:prstGeom prst="rect">
            <a:avLst/>
          </a:prstGeom>
          <a:noFill/>
          <a:ln/>
        </p:spPr>
        <p:txBody>
          <a:bodyPr wrap="square" lIns="0" tIns="0" rIns="0" bIns="0" rtlCol="0" anchor="t"/>
          <a:lstStyle/>
          <a:p>
            <a:pPr marL="0" indent="0" algn="l">
              <a:lnSpc>
                <a:spcPts val="1097"/>
              </a:lnSpc>
              <a:buNone/>
            </a:pPr>
            <a:r>
              <a:rPr lang="en-US" sz="800" dirty="0">
                <a:solidFill>
                  <a:srgbClr val="4A5A75"/>
                </a:solidFill>
                <a:latin typeface="Carlito" pitchFamily="34" charset="0"/>
                <a:ea typeface="Carlito" pitchFamily="34" charset="-122"/>
                <a:cs typeface="Carlito" pitchFamily="34" charset="-120"/>
              </a:rPr>
              <a:t>Reduce preventable ER visits from adverse drug events.</a:t>
            </a:r>
            <a:endParaRPr lang="en-US" sz="800" dirty="0"/>
          </a:p>
        </p:txBody>
      </p:sp>
      <p:sp>
        <p:nvSpPr>
          <p:cNvPr id="32" name="Text 29"/>
          <p:cNvSpPr/>
          <p:nvPr/>
        </p:nvSpPr>
        <p:spPr>
          <a:xfrm>
            <a:off x="3979069" y="3384128"/>
            <a:ext cx="4650581" cy="359978"/>
          </a:xfrm>
          <a:prstGeom prst="roundRect">
            <a:avLst>
              <a:gd name="adj" fmla="val 15876"/>
            </a:avLst>
          </a:prstGeom>
          <a:solidFill>
            <a:srgbClr val="0F2A4A"/>
          </a:solidFill>
          <a:ln/>
        </p:spPr>
        <p:txBody>
          <a:bodyPr wrap="square" rtlCol="0" anchor="ctr"/>
          <a:lstStyle/>
          <a:p>
            <a:pPr marL="0" indent="0">
              <a:buNone/>
            </a:pPr>
            <a:endParaRPr lang="en-US" dirty="0"/>
          </a:p>
        </p:txBody>
      </p:sp>
      <p:sp>
        <p:nvSpPr>
          <p:cNvPr id="33" name="Text 30"/>
          <p:cNvSpPr/>
          <p:nvPr/>
        </p:nvSpPr>
        <p:spPr>
          <a:xfrm>
            <a:off x="4434929" y="3341265"/>
            <a:ext cx="3831729" cy="131159"/>
          </a:xfrm>
          <a:prstGeom prst="rect">
            <a:avLst/>
          </a:prstGeom>
          <a:noFill/>
          <a:ln/>
        </p:spPr>
        <p:txBody>
          <a:bodyPr wrap="square" lIns="157163" tIns="100013" rIns="157163" bIns="100013" rtlCol="0" anchor="t"/>
          <a:lstStyle/>
          <a:p>
            <a:pPr marL="0" indent="0" algn="l">
              <a:lnSpc>
                <a:spcPts val="1260"/>
              </a:lnSpc>
              <a:buNone/>
            </a:pPr>
            <a:r>
              <a:rPr lang="en-US" sz="900" i="1" dirty="0">
                <a:solidFill>
                  <a:srgbClr val="FFFFFF"/>
                </a:solidFill>
                <a:latin typeface="Tinos" pitchFamily="34" charset="0"/>
                <a:ea typeface="Tinos" pitchFamily="34" charset="-122"/>
                <a:cs typeface="Tinos" pitchFamily="34" charset="-120"/>
              </a:rPr>
              <a:t>When a missed dose becomes a missed alarm, families deserve to know — instantly.</a:t>
            </a:r>
            <a:endParaRPr lang="en-US" sz="900" dirty="0"/>
          </a:p>
        </p:txBody>
      </p:sp>
      <p:sp>
        <p:nvSpPr>
          <p:cNvPr id="34" name="Text 31"/>
          <p:cNvSpPr/>
          <p:nvPr/>
        </p:nvSpPr>
        <p:spPr>
          <a:xfrm>
            <a:off x="4136231" y="3485480"/>
            <a:ext cx="242888" cy="157163"/>
          </a:xfrm>
          <a:prstGeom prst="rect">
            <a:avLst/>
          </a:prstGeom>
          <a:noFill/>
          <a:ln/>
        </p:spPr>
        <p:txBody>
          <a:bodyPr wrap="none" lIns="0" tIns="0" rIns="0" bIns="0" rtlCol="0" anchor="ctr"/>
          <a:lstStyle/>
          <a:p>
            <a:pPr marL="0" indent="0" algn="ctr">
              <a:buNone/>
            </a:pPr>
            <a:r>
              <a:rPr lang="en-US" sz="1547" dirty="0">
                <a:solidFill>
                  <a:srgbClr val="C9A227"/>
                </a:solidFill>
                <a:latin typeface="Segoe UI Symbol" pitchFamily="34" charset="0"/>
                <a:ea typeface="Segoe UI Symbol" pitchFamily="34" charset="-122"/>
                <a:cs typeface="Segoe UI Symbol" pitchFamily="34" charset="-120"/>
              </a:rPr>
              <a:t>◖</a:t>
            </a:r>
            <a:endParaRPr lang="en-US" sz="1547" dirty="0"/>
          </a:p>
        </p:txBody>
      </p:sp>
      <p:sp>
        <p:nvSpPr>
          <p:cNvPr id="35" name="Text 32"/>
          <p:cNvSpPr/>
          <p:nvPr/>
        </p:nvSpPr>
        <p:spPr>
          <a:xfrm>
            <a:off x="514350" y="4897041"/>
            <a:ext cx="7517681" cy="117872"/>
          </a:xfrm>
          <a:prstGeom prst="rect">
            <a:avLst/>
          </a:prstGeom>
          <a:noFill/>
          <a:ln/>
        </p:spPr>
        <p:txBody>
          <a:bodyPr wrap="square" lIns="0" tIns="0" rIns="0" bIns="0" rtlCol="0" anchor="t"/>
          <a:lstStyle/>
          <a:p>
            <a:pPr marL="0" indent="0" algn="l">
              <a:lnSpc>
                <a:spcPts val="928"/>
              </a:lnSpc>
              <a:buNone/>
            </a:pPr>
            <a:r>
              <a:rPr lang="en-US" sz="800" kern="0" spc="74"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36" name="Text 33"/>
          <p:cNvSpPr/>
          <p:nvPr/>
        </p:nvSpPr>
        <p:spPr>
          <a:xfrm>
            <a:off x="8046318" y="4897041"/>
            <a:ext cx="583332" cy="117872"/>
          </a:xfrm>
          <a:prstGeom prst="rect">
            <a:avLst/>
          </a:prstGeom>
          <a:noFill/>
          <a:ln/>
        </p:spPr>
        <p:txBody>
          <a:bodyPr wrap="none" lIns="0" tIns="0" rIns="0" bIns="0" rtlCol="0" anchor="t"/>
          <a:lstStyle/>
          <a:p>
            <a:pPr marL="0" indent="0" algn="l">
              <a:lnSpc>
                <a:spcPts val="928"/>
              </a:lnSpc>
              <a:buNone/>
            </a:pPr>
            <a:r>
              <a:rPr lang="en-US" sz="800" kern="0" spc="74" dirty="0">
                <a:solidFill>
                  <a:srgbClr val="7A8AA0"/>
                </a:solidFill>
                <a:latin typeface="Carlito" pitchFamily="34" charset="0"/>
                <a:ea typeface="Carlito" pitchFamily="34" charset="-122"/>
                <a:cs typeface="Carlito" pitchFamily="34" charset="-120"/>
              </a:rPr>
              <a:t>MOTIVATION</a:t>
            </a:r>
            <a:endParaRPr lang="en-US" sz="8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presetID="10" presetClass="entr" presetSubtype="0" fill="hold" nodeType="afterEffect">
                      <p:stCondLst>
                        <p:cond delay="15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300"/>
                            <p:tgtEl>
                              <p:spTgt spid="2"/>
                            </p:tgtEl>
                          </p:cBhvr>
                        </p:animEffect>
                      </p:childTnLst>
                    </p:cTn>
                  </p:par>
                  <p:par>
                    <p:cTn id="6" presetID="10" presetClass="entr" presetSubtype="0" fill="hold" nodeType="after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300"/>
                            <p:tgtEl>
                              <p:spTgt spid="3"/>
                            </p:tgtEl>
                          </p:cBhvr>
                        </p:animEffect>
                      </p:childTnLst>
                    </p:cTn>
                  </p:par>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300"/>
                            <p:tgtEl>
                              <p:spTgt spid="4"/>
                            </p:tgtEl>
                          </p:cBhvr>
                        </p:animEffect>
                      </p:childTnLst>
                    </p:cTn>
                  </p:par>
                  <p:par>
                    <p:cTn id="12" presetID="10"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300"/>
                            <p:tgtEl>
                              <p:spTgt spid="5"/>
                            </p:tgtEl>
                          </p:cBhvr>
                        </p:animEffect>
                      </p:childTnLst>
                    </p:cTn>
                  </p:par>
                  <p:par>
                    <p:cTn id="15" presetID="10"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300"/>
                            <p:tgtEl>
                              <p:spTgt spid="7"/>
                            </p:tgtEl>
                          </p:cBhvr>
                        </p:animEffect>
                      </p:childTnLst>
                    </p:cTn>
                  </p:par>
                  <p:par>
                    <p:cTn id="18" presetID="10" presetClass="entr" presetSubtype="0"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300"/>
                            <p:tgtEl>
                              <p:spTgt spid="8"/>
                            </p:tgtEl>
                          </p:cBhvr>
                        </p:animEffect>
                      </p:childTnLst>
                    </p:cTn>
                  </p:par>
                  <p:par>
                    <p:cTn id="21" presetID="10" presetClass="entr" presetSubtype="0"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300"/>
                            <p:tgtEl>
                              <p:spTgt spid="9"/>
                            </p:tgtEl>
                          </p:cBhvr>
                        </p:animEffect>
                      </p:childTnLst>
                    </p:cTn>
                  </p:par>
                  <p:par>
                    <p:cTn id="24" presetID="10" presetClass="entr" presetSubtype="0" fill="hold"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300"/>
                            <p:tgtEl>
                              <p:spTgt spid="10"/>
                            </p:tgtEl>
                          </p:cBhvr>
                        </p:animEffect>
                      </p:childTnLst>
                    </p:cTn>
                  </p:par>
                  <p:par>
                    <p:cTn id="27" presetID="10" presetClass="entr" presetSubtype="0"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300"/>
                            <p:tgtEl>
                              <p:spTgt spid="11"/>
                            </p:tgtEl>
                          </p:cBhvr>
                        </p:animEffect>
                      </p:childTnLst>
                    </p:cTn>
                  </p:par>
                  <p:par>
                    <p:cTn id="30" presetID="10" presetClass="entr" presetSubtype="0" fill="hold"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300"/>
                            <p:tgtEl>
                              <p:spTgt spid="12"/>
                            </p:tgtEl>
                          </p:cBhvr>
                        </p:animEffect>
                      </p:childTnLst>
                    </p:cTn>
                  </p:par>
                  <p:par>
                    <p:cTn id="33" presetID="10" presetClass="entr" presetSubtype="0" fill="hold"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300"/>
                            <p:tgtEl>
                              <p:spTgt spid="13"/>
                            </p:tgtEl>
                          </p:cBhvr>
                        </p:animEffect>
                      </p:childTnLst>
                    </p:cTn>
                  </p:par>
                  <p:par>
                    <p:cTn id="36" presetID="10" presetClass="entr" presetSubtype="0" fill="hold" nodeType="after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300"/>
                            <p:tgtEl>
                              <p:spTgt spid="14"/>
                            </p:tgtEl>
                          </p:cBhvr>
                        </p:animEffect>
                      </p:childTnLst>
                    </p:cTn>
                  </p:par>
                  <p:par>
                    <p:cTn id="39" presetID="10" presetClass="entr" presetSubtype="0" fill="hold" nodeType="after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300"/>
                            <p:tgtEl>
                              <p:spTgt spid="15"/>
                            </p:tgtEl>
                          </p:cBhvr>
                        </p:animEffect>
                      </p:childTnLst>
                    </p:cTn>
                  </p:par>
                  <p:par>
                    <p:cTn id="42" presetID="10" presetClass="entr" presetSubtype="0" fill="hold" nodeType="after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300"/>
                            <p:tgtEl>
                              <p:spTgt spid="16"/>
                            </p:tgtEl>
                          </p:cBhvr>
                        </p:animEffect>
                      </p:childTnLst>
                    </p:cTn>
                  </p:par>
                  <p:par>
                    <p:cTn id="45" presetID="10" presetClass="entr" presetSubtype="0" fill="hold" nodeType="after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300"/>
                            <p:tgtEl>
                              <p:spTgt spid="17"/>
                            </p:tgtEl>
                          </p:cBhvr>
                        </p:animEffect>
                      </p:childTnLst>
                    </p:cTn>
                  </p:par>
                  <p:par>
                    <p:cTn id="48" presetID="10" presetClass="entr" presetSubtype="0" fill="hold" nodeType="after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300"/>
                            <p:tgtEl>
                              <p:spTgt spid="18"/>
                            </p:tgtEl>
                          </p:cBhvr>
                        </p:animEffect>
                      </p:childTnLst>
                    </p:cTn>
                  </p:par>
                  <p:par>
                    <p:cTn id="51" presetID="10" presetClass="entr" presetSubtype="0" fill="hold" nodeType="after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300"/>
                            <p:tgtEl>
                              <p:spTgt spid="19"/>
                            </p:tgtEl>
                          </p:cBhvr>
                        </p:animEffect>
                      </p:childTnLst>
                    </p:cTn>
                  </p:par>
                  <p:par>
                    <p:cTn id="54" presetID="10" presetClass="entr" presetSubtype="0" fill="hold" nodeType="after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300"/>
                            <p:tgtEl>
                              <p:spTgt spid="20"/>
                            </p:tgtEl>
                          </p:cBhvr>
                        </p:animEffect>
                      </p:childTnLst>
                    </p:cTn>
                  </p:par>
                  <p:par>
                    <p:cTn id="57" presetID="10" presetClass="entr" presetSubtype="0" fill="hold" nodeType="after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300"/>
                            <p:tgtEl>
                              <p:spTgt spid="21"/>
                            </p:tgtEl>
                          </p:cBhvr>
                        </p:animEffect>
                      </p:childTnLst>
                    </p:cTn>
                  </p:par>
                  <p:par>
                    <p:cTn id="60" presetID="10" presetClass="entr" presetSubtype="0" fill="hold" nodeType="after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300"/>
                            <p:tgtEl>
                              <p:spTgt spid="22"/>
                            </p:tgtEl>
                          </p:cBhvr>
                        </p:animEffect>
                      </p:childTnLst>
                    </p:cTn>
                  </p:par>
                  <p:par>
                    <p:cTn id="63" presetID="10" presetClass="entr" presetSubtype="0" fill="hold" nodeType="after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300"/>
                            <p:tgtEl>
                              <p:spTgt spid="23"/>
                            </p:tgtEl>
                          </p:cBhvr>
                        </p:animEffect>
                      </p:childTnLst>
                    </p:cTn>
                  </p:par>
                  <p:par>
                    <p:cTn id="66" presetID="10" presetClass="entr" presetSubtype="0" fill="hold" nodeType="after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300"/>
                            <p:tgtEl>
                              <p:spTgt spid="24"/>
                            </p:tgtEl>
                          </p:cBhvr>
                        </p:animEffect>
                      </p:childTnLst>
                    </p:cTn>
                  </p:par>
                  <p:par>
                    <p:cTn id="69" presetID="10" presetClass="entr" presetSubtype="0" fill="hold" nodeType="after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300"/>
                            <p:tgtEl>
                              <p:spTgt spid="25"/>
                            </p:tgtEl>
                          </p:cBhvr>
                        </p:animEffect>
                      </p:childTnLst>
                    </p:cTn>
                  </p:par>
                  <p:par>
                    <p:cTn id="72" presetID="10" presetClass="entr" presetSubtype="0" fill="hold" nodeType="after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300"/>
                            <p:tgtEl>
                              <p:spTgt spid="26"/>
                            </p:tgtEl>
                          </p:cBhvr>
                        </p:animEffect>
                      </p:childTnLst>
                    </p:cTn>
                  </p:par>
                  <p:par>
                    <p:cTn id="75" presetID="10" presetClass="entr" presetSubtype="0" fill="hold" nodeType="after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300"/>
                            <p:tgtEl>
                              <p:spTgt spid="27"/>
                            </p:tgtEl>
                          </p:cBhvr>
                        </p:animEffect>
                      </p:childTnLst>
                    </p:cTn>
                  </p:par>
                  <p:par>
                    <p:cTn id="78" presetID="10" presetClass="entr" presetSubtype="0" fill="hold" nodeType="after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300"/>
                            <p:tgtEl>
                              <p:spTgt spid="28"/>
                            </p:tgtEl>
                          </p:cBhvr>
                        </p:animEffect>
                      </p:childTnLst>
                    </p:cTn>
                  </p:par>
                  <p:par>
                    <p:cTn id="81" presetID="10" presetClass="entr" presetSubtype="0" fill="hold" nodeType="after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300"/>
                            <p:tgtEl>
                              <p:spTgt spid="29"/>
                            </p:tgtEl>
                          </p:cBhvr>
                        </p:animEffect>
                      </p:childTnLst>
                    </p:cTn>
                  </p:par>
                  <p:par>
                    <p:cTn id="84" presetID="10" presetClass="entr" presetSubtype="0" fill="hold" nodeType="after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300"/>
                            <p:tgtEl>
                              <p:spTgt spid="30"/>
                            </p:tgtEl>
                          </p:cBhvr>
                        </p:animEffect>
                      </p:childTnLst>
                    </p:cTn>
                  </p:par>
                  <p:par>
                    <p:cTn id="87" presetID="10" presetClass="entr" presetSubtype="0" fill="hold" nodeType="after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300"/>
                            <p:tgtEl>
                              <p:spTgt spid="31"/>
                            </p:tgtEl>
                          </p:cBhvr>
                        </p:animEffect>
                      </p:childTnLst>
                    </p:cTn>
                  </p:par>
                  <p:par>
                    <p:cTn id="90" presetID="10" presetClass="entr" presetSubtype="0" fill="hold" nodeType="after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300"/>
                            <p:tgtEl>
                              <p:spTgt spid="32"/>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514350" y="632222"/>
            <a:ext cx="8115300" cy="0"/>
          </a:xfrm>
          <a:prstGeom prst="line">
            <a:avLst/>
          </a:prstGeom>
          <a:noFill/>
          <a:ln w="7144">
            <a:solidFill>
              <a:srgbClr val="D9D2BC"/>
            </a:solidFill>
            <a:prstDash val="solid"/>
          </a:ln>
        </p:spPr>
      </p:sp>
      <p:sp>
        <p:nvSpPr>
          <p:cNvPr id="3" name="Shape 1"/>
          <p:cNvSpPr/>
          <p:nvPr/>
        </p:nvSpPr>
        <p:spPr>
          <a:xfrm>
            <a:off x="514350" y="4836319"/>
            <a:ext cx="8115300" cy="0"/>
          </a:xfrm>
          <a:prstGeom prst="line">
            <a:avLst/>
          </a:prstGeom>
          <a:noFill/>
          <a:ln w="7144">
            <a:solidFill>
              <a:srgbClr val="D9D2BC"/>
            </a:solidFill>
            <a:prstDash val="solid"/>
          </a:ln>
        </p:spPr>
      </p:sp>
      <p:sp>
        <p:nvSpPr>
          <p:cNvPr id="4" name="Text 2"/>
          <p:cNvSpPr/>
          <p:nvPr/>
        </p:nvSpPr>
        <p:spPr>
          <a:xfrm>
            <a:off x="514350" y="400050"/>
            <a:ext cx="767964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03 · OBJECTIVES</a:t>
            </a:r>
            <a:endParaRPr lang="en-US" sz="800" dirty="0"/>
          </a:p>
        </p:txBody>
      </p:sp>
      <p:sp>
        <p:nvSpPr>
          <p:cNvPr id="5" name="Text 3"/>
          <p:cNvSpPr/>
          <p:nvPr/>
        </p:nvSpPr>
        <p:spPr>
          <a:xfrm>
            <a:off x="8208280" y="400050"/>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05 / 21</a:t>
            </a:r>
            <a:endParaRPr lang="en-US" sz="800" dirty="0"/>
          </a:p>
        </p:txBody>
      </p:sp>
      <p:sp>
        <p:nvSpPr>
          <p:cNvPr id="6" name="Text 4"/>
          <p:cNvSpPr/>
          <p:nvPr/>
        </p:nvSpPr>
        <p:spPr>
          <a:xfrm>
            <a:off x="517922" y="839391"/>
            <a:ext cx="3290813" cy="3900488"/>
          </a:xfrm>
          <a:prstGeom prst="roundRect">
            <a:avLst>
              <a:gd name="adj" fmla="val 2316"/>
            </a:avLst>
          </a:prstGeom>
          <a:solidFill>
            <a:srgbClr val="FFFFFF"/>
          </a:solidFill>
          <a:ln w="7144">
            <a:solidFill>
              <a:srgbClr val="D9D2BC"/>
            </a:solidFill>
            <a:prstDash val="solid"/>
          </a:ln>
          <a:effectLst>
            <a:outerShdw blurRad="76200" dist="19050" dir="5400000" algn="bl" rotWithShape="0">
              <a:srgbClr val="0F2A4A">
                <a:alpha val="5000"/>
              </a:srgbClr>
            </a:outerShdw>
          </a:effectLst>
        </p:spPr>
        <p:txBody>
          <a:bodyPr wrap="square" rtlCol="0" anchor="ctr"/>
          <a:lstStyle/>
          <a:p>
            <a:pPr marL="0" indent="0">
              <a:buNone/>
            </a:pPr>
            <a:endParaRPr lang="en-US" dirty="0"/>
          </a:p>
        </p:txBody>
      </p:sp>
      <p:sp>
        <p:nvSpPr>
          <p:cNvPr id="7" name="Text 5"/>
          <p:cNvSpPr/>
          <p:nvPr/>
        </p:nvSpPr>
        <p:spPr>
          <a:xfrm>
            <a:off x="684371" y="1032486"/>
            <a:ext cx="973515" cy="196025"/>
          </a:xfrm>
          <a:prstGeom prst="roundRect">
            <a:avLst>
              <a:gd name="adj" fmla="val 4854215"/>
            </a:avLst>
          </a:prstGeom>
          <a:solidFill>
            <a:srgbClr val="E6C75A"/>
          </a:solidFill>
          <a:ln/>
        </p:spPr>
        <p:txBody>
          <a:bodyPr wrap="square" rtlCol="0" anchor="ctr"/>
          <a:lstStyle/>
          <a:p>
            <a:pPr marL="0" indent="0">
              <a:buNone/>
            </a:pPr>
            <a:endParaRPr lang="en-US" dirty="0"/>
          </a:p>
        </p:txBody>
      </p:sp>
      <p:sp>
        <p:nvSpPr>
          <p:cNvPr id="8" name="Text 6"/>
          <p:cNvSpPr/>
          <p:nvPr/>
        </p:nvSpPr>
        <p:spPr>
          <a:xfrm>
            <a:off x="707231" y="1042988"/>
            <a:ext cx="927795" cy="175022"/>
          </a:xfrm>
          <a:prstGeom prst="rect">
            <a:avLst/>
          </a:prstGeom>
          <a:noFill/>
          <a:ln/>
        </p:spPr>
        <p:txBody>
          <a:bodyPr wrap="none" lIns="0" tIns="0" rIns="0" bIns="0" rtlCol="0" anchor="ctr"/>
          <a:lstStyle/>
          <a:p>
            <a:pPr marL="0" indent="0" algn="ctr">
              <a:lnSpc>
                <a:spcPts val="928"/>
              </a:lnSpc>
              <a:buNone/>
            </a:pPr>
            <a:r>
              <a:rPr lang="en-US" sz="800" kern="0" spc="50" dirty="0">
                <a:solidFill>
                  <a:srgbClr val="8C6F12"/>
                </a:solidFill>
                <a:latin typeface="Carlito" pitchFamily="34" charset="0"/>
                <a:ea typeface="Carlito" pitchFamily="34" charset="-122"/>
                <a:cs typeface="Carlito" pitchFamily="34" charset="-120"/>
              </a:rPr>
              <a:t>PROJECT GOALS</a:t>
            </a:r>
            <a:endParaRPr lang="en-US" sz="800" dirty="0"/>
          </a:p>
        </p:txBody>
      </p:sp>
      <p:sp>
        <p:nvSpPr>
          <p:cNvPr id="9" name="Text 7"/>
          <p:cNvSpPr/>
          <p:nvPr/>
        </p:nvSpPr>
        <p:spPr>
          <a:xfrm>
            <a:off x="707231" y="1318022"/>
            <a:ext cx="2912194" cy="603236"/>
          </a:xfrm>
          <a:prstGeom prst="rect">
            <a:avLst/>
          </a:prstGeom>
          <a:noFill/>
          <a:ln/>
        </p:spPr>
        <p:txBody>
          <a:bodyPr wrap="square" lIns="0" tIns="0" rIns="0" bIns="0" rtlCol="0" anchor="t"/>
          <a:lstStyle/>
          <a:p>
            <a:pPr marL="0" indent="0" algn="l">
              <a:lnSpc>
                <a:spcPts val="2199"/>
              </a:lnSpc>
              <a:buNone/>
            </a:pPr>
            <a:r>
              <a:rPr lang="en-US" sz="1913" b="1" kern="0" spc="-19" dirty="0">
                <a:solidFill>
                  <a:srgbClr val="0F2A4A"/>
                </a:solidFill>
                <a:latin typeface="Tinos" pitchFamily="34" charset="0"/>
                <a:ea typeface="Tinos" pitchFamily="34" charset="-122"/>
                <a:cs typeface="Tinos" pitchFamily="34" charset="-120"/>
              </a:rPr>
              <a:t>Six objectives, one connected system.</a:t>
            </a:r>
            <a:endParaRPr lang="en-US" sz="1913" dirty="0"/>
          </a:p>
        </p:txBody>
      </p:sp>
      <p:sp>
        <p:nvSpPr>
          <p:cNvPr id="10" name="Text 8"/>
          <p:cNvSpPr/>
          <p:nvPr/>
        </p:nvSpPr>
        <p:spPr>
          <a:xfrm>
            <a:off x="707231" y="1948011"/>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11" name="Text 9"/>
          <p:cNvSpPr/>
          <p:nvPr/>
        </p:nvSpPr>
        <p:spPr>
          <a:xfrm>
            <a:off x="707231" y="2069455"/>
            <a:ext cx="2912194" cy="954762"/>
          </a:xfrm>
          <a:prstGeom prst="rect">
            <a:avLst/>
          </a:prstGeom>
          <a:noFill/>
          <a:ln/>
        </p:spPr>
        <p:txBody>
          <a:bodyPr wrap="square" lIns="0" tIns="0" rIns="0" bIns="0" rtlCol="0" anchor="t"/>
          <a:lstStyle/>
          <a:p>
            <a:pPr marL="0" indent="0" algn="l">
              <a:lnSpc>
                <a:spcPts val="1392"/>
              </a:lnSpc>
              <a:buNone/>
            </a:pPr>
            <a:r>
              <a:rPr lang="en-US" sz="844" dirty="0">
                <a:solidFill>
                  <a:srgbClr val="4A5A75"/>
                </a:solidFill>
                <a:latin typeface="Carlito" pitchFamily="34" charset="0"/>
                <a:ea typeface="Carlito" pitchFamily="34" charset="-122"/>
                <a:cs typeface="Carlito" pitchFamily="34" charset="-120"/>
              </a:rPr>
              <a:t>MedWise was scoped around six concrete, testable objectives — each mapping to a core feature module in the final system. Together they form a single closed loop: track, check, remind, monitor, respond, guide.</a:t>
            </a:r>
            <a:endParaRPr lang="en-US" sz="844" dirty="0"/>
          </a:p>
        </p:txBody>
      </p:sp>
      <p:sp>
        <p:nvSpPr>
          <p:cNvPr id="12" name="Text 10"/>
          <p:cNvSpPr/>
          <p:nvPr/>
        </p:nvSpPr>
        <p:spPr>
          <a:xfrm>
            <a:off x="684371" y="4203683"/>
            <a:ext cx="2912194" cy="371475"/>
          </a:xfrm>
          <a:prstGeom prst="roundRect">
            <a:avLst>
              <a:gd name="adj" fmla="val 10256"/>
            </a:avLst>
          </a:prstGeom>
          <a:solidFill>
            <a:srgbClr val="0F2A4A"/>
          </a:solidFill>
          <a:ln/>
        </p:spPr>
        <p:txBody>
          <a:bodyPr wrap="square" rtlCol="0" anchor="ctr"/>
          <a:lstStyle/>
          <a:p>
            <a:pPr marL="0" indent="0">
              <a:buNone/>
            </a:pPr>
            <a:endParaRPr lang="en-US" dirty="0"/>
          </a:p>
        </p:txBody>
      </p:sp>
      <p:sp>
        <p:nvSpPr>
          <p:cNvPr id="13" name="Text 11"/>
          <p:cNvSpPr/>
          <p:nvPr/>
        </p:nvSpPr>
        <p:spPr>
          <a:xfrm>
            <a:off x="950119" y="4236244"/>
            <a:ext cx="2028825" cy="292608"/>
          </a:xfrm>
          <a:prstGeom prst="rect">
            <a:avLst/>
          </a:prstGeom>
          <a:noFill/>
          <a:ln/>
        </p:spPr>
        <p:txBody>
          <a:bodyPr wrap="square" lIns="100013" tIns="57150" rIns="100013" bIns="57150" rtlCol="0" anchor="t"/>
          <a:lstStyle/>
          <a:p>
            <a:pPr marL="0" indent="0" algn="l">
              <a:lnSpc>
                <a:spcPts val="1013"/>
              </a:lnSpc>
              <a:buNone/>
            </a:pPr>
            <a:r>
              <a:rPr lang="en-US" sz="800" kern="0" spc="27" dirty="0">
                <a:solidFill>
                  <a:srgbClr val="FFFFFF"/>
                </a:solidFill>
                <a:latin typeface="Carlito" pitchFamily="34" charset="0"/>
                <a:ea typeface="Carlito" pitchFamily="34" charset="-122"/>
                <a:cs typeface="Carlito" pitchFamily="34" charset="-120"/>
              </a:rPr>
              <a:t>All objectives met in v1.0 · deployed to medwise.runasp.net</a:t>
            </a:r>
            <a:endParaRPr lang="en-US" sz="800" dirty="0"/>
          </a:p>
        </p:txBody>
      </p:sp>
      <p:sp>
        <p:nvSpPr>
          <p:cNvPr id="14" name="Text 12"/>
          <p:cNvSpPr/>
          <p:nvPr/>
        </p:nvSpPr>
        <p:spPr>
          <a:xfrm>
            <a:off x="807244" y="4300538"/>
            <a:ext cx="100013" cy="100013"/>
          </a:xfrm>
          <a:prstGeom prst="rect">
            <a:avLst/>
          </a:prstGeom>
          <a:noFill/>
          <a:ln/>
        </p:spPr>
        <p:txBody>
          <a:bodyPr wrap="none" lIns="0" tIns="0" rIns="0" bIns="0" rtlCol="0" anchor="ctr"/>
          <a:lstStyle/>
          <a:p>
            <a:pPr marL="0" indent="0" algn="ctr">
              <a:buNone/>
            </a:pPr>
            <a:r>
              <a:rPr lang="en-US" sz="984" dirty="0">
                <a:solidFill>
                  <a:srgbClr val="C9A227"/>
                </a:solidFill>
                <a:latin typeface="Segoe UI Symbol" pitchFamily="34" charset="0"/>
                <a:ea typeface="Segoe UI Symbol" pitchFamily="34" charset="-122"/>
                <a:cs typeface="Segoe UI Symbol" pitchFamily="34" charset="-120"/>
              </a:rPr>
              <a:t>✓</a:t>
            </a:r>
            <a:endParaRPr lang="en-US" sz="984" dirty="0"/>
          </a:p>
        </p:txBody>
      </p:sp>
      <p:sp>
        <p:nvSpPr>
          <p:cNvPr id="15" name="Text 13"/>
          <p:cNvSpPr/>
          <p:nvPr/>
        </p:nvSpPr>
        <p:spPr>
          <a:xfrm>
            <a:off x="3162226" y="3507581"/>
            <a:ext cx="457200" cy="1028700"/>
          </a:xfrm>
          <a:prstGeom prst="rect">
            <a:avLst/>
          </a:prstGeom>
          <a:noFill/>
          <a:ln/>
        </p:spPr>
        <p:txBody>
          <a:bodyPr wrap="square" lIns="0" tIns="0" rIns="0" bIns="0" rtlCol="0" anchor="t"/>
          <a:lstStyle/>
          <a:p>
            <a:pPr marL="0" indent="0" algn="l">
              <a:lnSpc>
                <a:spcPts val="11250"/>
              </a:lnSpc>
              <a:buNone/>
            </a:pPr>
            <a:r>
              <a:rPr lang="en-US" sz="11250" b="1" dirty="0">
                <a:solidFill>
                  <a:srgbClr val="0F2A4A">
                    <a:alpha val="4000"/>
                  </a:srgbClr>
                </a:solidFill>
                <a:latin typeface="Liberation Sans Narrow" pitchFamily="34" charset="0"/>
                <a:ea typeface="Liberation Sans Narrow" pitchFamily="34" charset="-122"/>
                <a:cs typeface="Liberation Sans Narrow" pitchFamily="34" charset="-120"/>
              </a:rPr>
              <a:t>6</a:t>
            </a:r>
            <a:endParaRPr lang="en-US" sz="11250" dirty="0"/>
          </a:p>
        </p:txBody>
      </p:sp>
      <p:sp>
        <p:nvSpPr>
          <p:cNvPr id="16" name="Text 14"/>
          <p:cNvSpPr/>
          <p:nvPr/>
        </p:nvSpPr>
        <p:spPr>
          <a:xfrm>
            <a:off x="3958754" y="839391"/>
            <a:ext cx="2258653" cy="1200150"/>
          </a:xfrm>
          <a:prstGeom prst="roundRect">
            <a:avLst>
              <a:gd name="adj" fmla="val 4762"/>
            </a:avLst>
          </a:prstGeom>
          <a:solidFill>
            <a:srgbClr val="FFFFFF"/>
          </a:solidFill>
          <a:ln w="7144">
            <a:solidFill>
              <a:srgbClr val="D9D2BC"/>
            </a:solidFill>
            <a:prstDash val="solid"/>
          </a:ln>
          <a:effectLst>
            <a:outerShdw blurRad="19050" dist="9525" dir="5400000" algn="bl" rotWithShape="0">
              <a:srgbClr val="0F2A4A">
                <a:alpha val="4000"/>
              </a:srgbClr>
            </a:outerShdw>
          </a:effectLst>
        </p:spPr>
        <p:txBody>
          <a:bodyPr wrap="square" rtlCol="0" anchor="ctr"/>
          <a:lstStyle/>
          <a:p>
            <a:pPr marL="0" indent="0">
              <a:buNone/>
            </a:pPr>
            <a:endParaRPr lang="en-US" dirty="0"/>
          </a:p>
        </p:txBody>
      </p:sp>
      <p:sp>
        <p:nvSpPr>
          <p:cNvPr id="17" name="Text 15"/>
          <p:cNvSpPr/>
          <p:nvPr/>
        </p:nvSpPr>
        <p:spPr>
          <a:xfrm>
            <a:off x="4048051" y="771525"/>
            <a:ext cx="185738" cy="185738"/>
          </a:xfrm>
          <a:prstGeom prst="ellipse">
            <a:avLst/>
          </a:prstGeom>
          <a:solidFill>
            <a:srgbClr val="C9A227"/>
          </a:solidFill>
          <a:ln/>
          <a:effectLst>
            <a:outerShdw blurRad="38100" dist="19050" dir="5400000" algn="bl" rotWithShape="0">
              <a:srgbClr val="0F2A4A">
                <a:alpha val="18000"/>
              </a:srgbClr>
            </a:outerShdw>
          </a:effectLst>
        </p:spPr>
        <p:txBody>
          <a:bodyPr wrap="square" rtlCol="0" anchor="ctr"/>
          <a:lstStyle/>
          <a:p>
            <a:pPr marL="0" indent="0">
              <a:buNone/>
            </a:pPr>
            <a:endParaRPr lang="en-US" dirty="0"/>
          </a:p>
        </p:txBody>
      </p:sp>
      <p:sp>
        <p:nvSpPr>
          <p:cNvPr id="18" name="Text 16"/>
          <p:cNvSpPr/>
          <p:nvPr/>
        </p:nvSpPr>
        <p:spPr>
          <a:xfrm>
            <a:off x="4062338" y="771525"/>
            <a:ext cx="171450" cy="185738"/>
          </a:xfrm>
          <a:prstGeom prst="rect">
            <a:avLst/>
          </a:prstGeom>
          <a:noFill/>
          <a:ln/>
        </p:spPr>
        <p:txBody>
          <a:bodyPr wrap="none" lIns="0" tIns="0" rIns="0" bIns="0" rtlCol="0" anchor="ctr"/>
          <a:lstStyle/>
          <a:p>
            <a:pPr marL="0" indent="0" algn="ctr">
              <a:lnSpc>
                <a:spcPts val="1013"/>
              </a:lnSpc>
              <a:buNone/>
            </a:pPr>
            <a:r>
              <a:rPr lang="en-US" sz="800" b="1" kern="0" spc="14" dirty="0">
                <a:solidFill>
                  <a:srgbClr val="0F2A4A"/>
                </a:solidFill>
                <a:latin typeface="Liberation Sans Narrow" pitchFamily="34" charset="0"/>
                <a:ea typeface="Liberation Sans Narrow" pitchFamily="34" charset="-122"/>
                <a:cs typeface="Liberation Sans Narrow" pitchFamily="34" charset="-120"/>
              </a:rPr>
              <a:t>01</a:t>
            </a:r>
            <a:endParaRPr lang="en-US" sz="800" dirty="0"/>
          </a:p>
        </p:txBody>
      </p:sp>
      <p:sp>
        <p:nvSpPr>
          <p:cNvPr id="19" name="Text 17"/>
          <p:cNvSpPr/>
          <p:nvPr/>
        </p:nvSpPr>
        <p:spPr>
          <a:xfrm>
            <a:off x="4062338" y="971550"/>
            <a:ext cx="2051484" cy="126159"/>
          </a:xfrm>
          <a:prstGeom prst="rect">
            <a:avLst/>
          </a:prstGeom>
          <a:noFill/>
          <a:ln/>
        </p:spPr>
        <p:txBody>
          <a:bodyPr wrap="none" lIns="0" tIns="0" rIns="0" bIns="0" rtlCol="0" anchor="t">
            <a:normAutofit/>
          </a:bodyPr>
          <a:lstStyle/>
          <a:p>
            <a:pPr marL="0" indent="0" algn="l">
              <a:lnSpc>
                <a:spcPts val="984"/>
              </a:lnSpc>
              <a:buNone/>
            </a:pPr>
            <a:r>
              <a:rPr lang="en-US" sz="800" b="1" dirty="0">
                <a:solidFill>
                  <a:srgbClr val="0F2A4A"/>
                </a:solidFill>
                <a:latin typeface="Carlito" pitchFamily="34" charset="0"/>
                <a:ea typeface="Carlito" pitchFamily="34" charset="-122"/>
                <a:cs typeface="Carlito" pitchFamily="34" charset="-120"/>
              </a:rPr>
              <a:t>Medication Tracking</a:t>
            </a:r>
            <a:endParaRPr lang="en-US" sz="800" dirty="0"/>
          </a:p>
        </p:txBody>
      </p:sp>
      <p:sp>
        <p:nvSpPr>
          <p:cNvPr id="20" name="Text 18"/>
          <p:cNvSpPr/>
          <p:nvPr/>
        </p:nvSpPr>
        <p:spPr>
          <a:xfrm>
            <a:off x="4062338" y="1125141"/>
            <a:ext cx="2051484" cy="318040"/>
          </a:xfrm>
          <a:prstGeom prst="rect">
            <a:avLst/>
          </a:prstGeom>
          <a:noFill/>
          <a:ln/>
        </p:spPr>
        <p:txBody>
          <a:bodyPr wrap="square" lIns="0" tIns="0" rIns="0" bIns="0" rtlCol="0" anchor="t"/>
          <a:lstStyle/>
          <a:p>
            <a:pPr marL="0" indent="0" algn="l">
              <a:lnSpc>
                <a:spcPts val="979"/>
              </a:lnSpc>
              <a:buNone/>
            </a:pPr>
            <a:r>
              <a:rPr lang="en-US" sz="800" dirty="0">
                <a:solidFill>
                  <a:srgbClr val="4A5A75"/>
                </a:solidFill>
                <a:latin typeface="Carlito" pitchFamily="34" charset="0"/>
                <a:ea typeface="Carlito" pitchFamily="34" charset="-122"/>
                <a:cs typeface="Carlito" pitchFamily="34" charset="-120"/>
              </a:rPr>
              <a:t>Add, edit, and list every prescription with active ingredient, time, and frequency.</a:t>
            </a:r>
            <a:endParaRPr lang="en-US" sz="800" dirty="0"/>
          </a:p>
        </p:txBody>
      </p:sp>
      <p:sp>
        <p:nvSpPr>
          <p:cNvPr id="21" name="Text 19"/>
          <p:cNvSpPr/>
          <p:nvPr/>
        </p:nvSpPr>
        <p:spPr>
          <a:xfrm>
            <a:off x="6367425" y="839391"/>
            <a:ext cx="2258653" cy="1200150"/>
          </a:xfrm>
          <a:prstGeom prst="roundRect">
            <a:avLst>
              <a:gd name="adj" fmla="val 4762"/>
            </a:avLst>
          </a:prstGeom>
          <a:solidFill>
            <a:srgbClr val="FFFFFF"/>
          </a:solidFill>
          <a:ln w="7144">
            <a:solidFill>
              <a:srgbClr val="D9D2BC"/>
            </a:solidFill>
            <a:prstDash val="solid"/>
          </a:ln>
          <a:effectLst>
            <a:outerShdw blurRad="19050" dist="9525" dir="5400000" algn="bl" rotWithShape="0">
              <a:srgbClr val="0F2A4A">
                <a:alpha val="4000"/>
              </a:srgbClr>
            </a:outerShdw>
          </a:effectLst>
        </p:spPr>
        <p:txBody>
          <a:bodyPr wrap="square" rtlCol="0" anchor="ctr"/>
          <a:lstStyle/>
          <a:p>
            <a:pPr marL="0" indent="0">
              <a:buNone/>
            </a:pPr>
            <a:endParaRPr lang="en-US" dirty="0"/>
          </a:p>
        </p:txBody>
      </p:sp>
      <p:sp>
        <p:nvSpPr>
          <p:cNvPr id="22" name="Text 20"/>
          <p:cNvSpPr/>
          <p:nvPr/>
        </p:nvSpPr>
        <p:spPr>
          <a:xfrm>
            <a:off x="6456722" y="771525"/>
            <a:ext cx="185738" cy="185738"/>
          </a:xfrm>
          <a:prstGeom prst="ellipse">
            <a:avLst/>
          </a:prstGeom>
          <a:solidFill>
            <a:srgbClr val="C9A227"/>
          </a:solidFill>
          <a:ln/>
          <a:effectLst>
            <a:outerShdw blurRad="38100" dist="19050" dir="5400000" algn="bl" rotWithShape="0">
              <a:srgbClr val="0F2A4A">
                <a:alpha val="18000"/>
              </a:srgbClr>
            </a:outerShdw>
          </a:effectLst>
        </p:spPr>
        <p:txBody>
          <a:bodyPr wrap="square" rtlCol="0" anchor="ctr"/>
          <a:lstStyle/>
          <a:p>
            <a:pPr marL="0" indent="0">
              <a:buNone/>
            </a:pPr>
            <a:endParaRPr lang="en-US" dirty="0"/>
          </a:p>
        </p:txBody>
      </p:sp>
      <p:sp>
        <p:nvSpPr>
          <p:cNvPr id="23" name="Text 21"/>
          <p:cNvSpPr/>
          <p:nvPr/>
        </p:nvSpPr>
        <p:spPr>
          <a:xfrm>
            <a:off x="6471010" y="771525"/>
            <a:ext cx="171450" cy="185738"/>
          </a:xfrm>
          <a:prstGeom prst="rect">
            <a:avLst/>
          </a:prstGeom>
          <a:noFill/>
          <a:ln/>
        </p:spPr>
        <p:txBody>
          <a:bodyPr wrap="none" lIns="0" tIns="0" rIns="0" bIns="0" rtlCol="0" anchor="ctr"/>
          <a:lstStyle/>
          <a:p>
            <a:pPr marL="0" indent="0" algn="ctr">
              <a:lnSpc>
                <a:spcPts val="1013"/>
              </a:lnSpc>
              <a:buNone/>
            </a:pPr>
            <a:r>
              <a:rPr lang="en-US" sz="800" b="1" kern="0" spc="14" dirty="0">
                <a:solidFill>
                  <a:srgbClr val="0F2A4A"/>
                </a:solidFill>
                <a:latin typeface="Liberation Sans Narrow" pitchFamily="34" charset="0"/>
                <a:ea typeface="Liberation Sans Narrow" pitchFamily="34" charset="-122"/>
                <a:cs typeface="Liberation Sans Narrow" pitchFamily="34" charset="-120"/>
              </a:rPr>
              <a:t>02</a:t>
            </a:r>
            <a:endParaRPr lang="en-US" sz="800" dirty="0"/>
          </a:p>
        </p:txBody>
      </p:sp>
      <p:sp>
        <p:nvSpPr>
          <p:cNvPr id="24" name="Text 22"/>
          <p:cNvSpPr/>
          <p:nvPr/>
        </p:nvSpPr>
        <p:spPr>
          <a:xfrm>
            <a:off x="6471010" y="971550"/>
            <a:ext cx="2051484" cy="126159"/>
          </a:xfrm>
          <a:prstGeom prst="rect">
            <a:avLst/>
          </a:prstGeom>
          <a:noFill/>
          <a:ln/>
        </p:spPr>
        <p:txBody>
          <a:bodyPr wrap="none" lIns="0" tIns="0" rIns="0" bIns="0" rtlCol="0" anchor="t">
            <a:normAutofit/>
          </a:bodyPr>
          <a:lstStyle/>
          <a:p>
            <a:pPr marL="0" indent="0" algn="l">
              <a:lnSpc>
                <a:spcPts val="984"/>
              </a:lnSpc>
              <a:buNone/>
            </a:pPr>
            <a:r>
              <a:rPr lang="en-US" sz="800" b="1" dirty="0">
                <a:solidFill>
                  <a:srgbClr val="0F2A4A"/>
                </a:solidFill>
                <a:latin typeface="Carlito" pitchFamily="34" charset="0"/>
                <a:ea typeface="Carlito" pitchFamily="34" charset="-122"/>
                <a:cs typeface="Carlito" pitchFamily="34" charset="-120"/>
              </a:rPr>
              <a:t>Drug-Interaction Safety</a:t>
            </a:r>
            <a:endParaRPr lang="en-US" sz="800" dirty="0"/>
          </a:p>
        </p:txBody>
      </p:sp>
      <p:sp>
        <p:nvSpPr>
          <p:cNvPr id="25" name="Text 23"/>
          <p:cNvSpPr/>
          <p:nvPr/>
        </p:nvSpPr>
        <p:spPr>
          <a:xfrm>
            <a:off x="6471010" y="1125141"/>
            <a:ext cx="2051484" cy="318040"/>
          </a:xfrm>
          <a:prstGeom prst="rect">
            <a:avLst/>
          </a:prstGeom>
          <a:noFill/>
          <a:ln/>
        </p:spPr>
        <p:txBody>
          <a:bodyPr wrap="square" lIns="0" tIns="0" rIns="0" bIns="0" rtlCol="0" anchor="t"/>
          <a:lstStyle/>
          <a:p>
            <a:pPr marL="0" indent="0" algn="l">
              <a:lnSpc>
                <a:spcPts val="979"/>
              </a:lnSpc>
              <a:buNone/>
            </a:pPr>
            <a:r>
              <a:rPr lang="en-US" sz="800" dirty="0">
                <a:solidFill>
                  <a:srgbClr val="4A5A75"/>
                </a:solidFill>
                <a:latin typeface="Carlito" pitchFamily="34" charset="0"/>
                <a:ea typeface="Carlito" pitchFamily="34" charset="-122"/>
                <a:cs typeface="Carlito" pitchFamily="34" charset="-120"/>
              </a:rPr>
              <a:t>Automatically detect harmful ingredient combinations and recommend safe intervals.</a:t>
            </a:r>
            <a:endParaRPr lang="en-US" sz="800" dirty="0"/>
          </a:p>
        </p:txBody>
      </p:sp>
      <p:sp>
        <p:nvSpPr>
          <p:cNvPr id="26" name="Text 24"/>
          <p:cNvSpPr/>
          <p:nvPr/>
        </p:nvSpPr>
        <p:spPr>
          <a:xfrm>
            <a:off x="3958754" y="2189559"/>
            <a:ext cx="2258653" cy="1200150"/>
          </a:xfrm>
          <a:prstGeom prst="roundRect">
            <a:avLst>
              <a:gd name="adj" fmla="val 4762"/>
            </a:avLst>
          </a:prstGeom>
          <a:solidFill>
            <a:srgbClr val="FFFFFF"/>
          </a:solidFill>
          <a:ln w="7144">
            <a:solidFill>
              <a:srgbClr val="D9D2BC"/>
            </a:solidFill>
            <a:prstDash val="solid"/>
          </a:ln>
          <a:effectLst>
            <a:outerShdw blurRad="19050" dist="9525" dir="5400000" algn="bl" rotWithShape="0">
              <a:srgbClr val="0F2A4A">
                <a:alpha val="4000"/>
              </a:srgbClr>
            </a:outerShdw>
          </a:effectLst>
        </p:spPr>
        <p:txBody>
          <a:bodyPr wrap="square" rtlCol="0" anchor="ctr"/>
          <a:lstStyle/>
          <a:p>
            <a:pPr marL="0" indent="0">
              <a:buNone/>
            </a:pPr>
            <a:endParaRPr lang="en-US" dirty="0"/>
          </a:p>
        </p:txBody>
      </p:sp>
      <p:sp>
        <p:nvSpPr>
          <p:cNvPr id="27" name="Text 25"/>
          <p:cNvSpPr/>
          <p:nvPr/>
        </p:nvSpPr>
        <p:spPr>
          <a:xfrm>
            <a:off x="4048051" y="2121694"/>
            <a:ext cx="185738" cy="185738"/>
          </a:xfrm>
          <a:prstGeom prst="ellipse">
            <a:avLst/>
          </a:prstGeom>
          <a:solidFill>
            <a:srgbClr val="C9A227"/>
          </a:solidFill>
          <a:ln/>
          <a:effectLst>
            <a:outerShdw blurRad="38100" dist="19050" dir="5400000" algn="bl" rotWithShape="0">
              <a:srgbClr val="0F2A4A">
                <a:alpha val="18000"/>
              </a:srgbClr>
            </a:outerShdw>
          </a:effectLst>
        </p:spPr>
        <p:txBody>
          <a:bodyPr wrap="square" rtlCol="0" anchor="ctr"/>
          <a:lstStyle/>
          <a:p>
            <a:pPr marL="0" indent="0">
              <a:buNone/>
            </a:pPr>
            <a:endParaRPr lang="en-US" dirty="0"/>
          </a:p>
        </p:txBody>
      </p:sp>
      <p:sp>
        <p:nvSpPr>
          <p:cNvPr id="28" name="Text 26"/>
          <p:cNvSpPr/>
          <p:nvPr/>
        </p:nvSpPr>
        <p:spPr>
          <a:xfrm>
            <a:off x="4062338" y="2121694"/>
            <a:ext cx="171450" cy="185738"/>
          </a:xfrm>
          <a:prstGeom prst="rect">
            <a:avLst/>
          </a:prstGeom>
          <a:noFill/>
          <a:ln/>
        </p:spPr>
        <p:txBody>
          <a:bodyPr wrap="none" lIns="0" tIns="0" rIns="0" bIns="0" rtlCol="0" anchor="ctr"/>
          <a:lstStyle/>
          <a:p>
            <a:pPr marL="0" indent="0" algn="ctr">
              <a:lnSpc>
                <a:spcPts val="1013"/>
              </a:lnSpc>
              <a:buNone/>
            </a:pPr>
            <a:r>
              <a:rPr lang="en-US" sz="800" b="1" kern="0" spc="14" dirty="0">
                <a:solidFill>
                  <a:srgbClr val="0F2A4A"/>
                </a:solidFill>
                <a:latin typeface="Liberation Sans Narrow" pitchFamily="34" charset="0"/>
                <a:ea typeface="Liberation Sans Narrow" pitchFamily="34" charset="-122"/>
                <a:cs typeface="Liberation Sans Narrow" pitchFamily="34" charset="-120"/>
              </a:rPr>
              <a:t>03</a:t>
            </a:r>
            <a:endParaRPr lang="en-US" sz="800" dirty="0"/>
          </a:p>
        </p:txBody>
      </p:sp>
      <p:sp>
        <p:nvSpPr>
          <p:cNvPr id="29" name="Text 27"/>
          <p:cNvSpPr/>
          <p:nvPr/>
        </p:nvSpPr>
        <p:spPr>
          <a:xfrm>
            <a:off x="4062338" y="2321719"/>
            <a:ext cx="2051484" cy="126159"/>
          </a:xfrm>
          <a:prstGeom prst="rect">
            <a:avLst/>
          </a:prstGeom>
          <a:noFill/>
          <a:ln/>
        </p:spPr>
        <p:txBody>
          <a:bodyPr wrap="none" lIns="0" tIns="0" rIns="0" bIns="0" rtlCol="0" anchor="t">
            <a:normAutofit/>
          </a:bodyPr>
          <a:lstStyle/>
          <a:p>
            <a:pPr marL="0" indent="0" algn="l">
              <a:lnSpc>
                <a:spcPts val="984"/>
              </a:lnSpc>
              <a:buNone/>
            </a:pPr>
            <a:r>
              <a:rPr lang="en-US" sz="800" b="1" dirty="0">
                <a:solidFill>
                  <a:srgbClr val="0F2A4A"/>
                </a:solidFill>
                <a:latin typeface="Carlito" pitchFamily="34" charset="0"/>
                <a:ea typeface="Carlito" pitchFamily="34" charset="-122"/>
                <a:cs typeface="Carlito" pitchFamily="34" charset="-120"/>
              </a:rPr>
              <a:t>Smart Reminders</a:t>
            </a:r>
            <a:endParaRPr lang="en-US" sz="800" dirty="0"/>
          </a:p>
        </p:txBody>
      </p:sp>
      <p:sp>
        <p:nvSpPr>
          <p:cNvPr id="30" name="Text 28"/>
          <p:cNvSpPr/>
          <p:nvPr/>
        </p:nvSpPr>
        <p:spPr>
          <a:xfrm>
            <a:off x="4062338" y="2475309"/>
            <a:ext cx="2051484" cy="318040"/>
          </a:xfrm>
          <a:prstGeom prst="rect">
            <a:avLst/>
          </a:prstGeom>
          <a:noFill/>
          <a:ln/>
        </p:spPr>
        <p:txBody>
          <a:bodyPr wrap="square" lIns="0" tIns="0" rIns="0" bIns="0" rtlCol="0" anchor="t"/>
          <a:lstStyle/>
          <a:p>
            <a:pPr marL="0" indent="0" algn="l">
              <a:lnSpc>
                <a:spcPts val="979"/>
              </a:lnSpc>
              <a:buNone/>
            </a:pPr>
            <a:r>
              <a:rPr lang="en-US" sz="800" dirty="0">
                <a:solidFill>
                  <a:srgbClr val="4A5A75"/>
                </a:solidFill>
                <a:latin typeface="Carlito" pitchFamily="34" charset="0"/>
                <a:ea typeface="Carlito" pitchFamily="34" charset="-122"/>
                <a:cs typeface="Carlito" pitchFamily="34" charset="-120"/>
              </a:rPr>
              <a:t>Schedule notifications at exact intake times and record confirmed adherence.</a:t>
            </a:r>
            <a:endParaRPr lang="en-US" sz="800" dirty="0"/>
          </a:p>
        </p:txBody>
      </p:sp>
      <p:sp>
        <p:nvSpPr>
          <p:cNvPr id="31" name="Text 29"/>
          <p:cNvSpPr/>
          <p:nvPr/>
        </p:nvSpPr>
        <p:spPr>
          <a:xfrm>
            <a:off x="6367425" y="2189559"/>
            <a:ext cx="2258653" cy="1200150"/>
          </a:xfrm>
          <a:prstGeom prst="roundRect">
            <a:avLst>
              <a:gd name="adj" fmla="val 4762"/>
            </a:avLst>
          </a:prstGeom>
          <a:solidFill>
            <a:srgbClr val="FFFFFF"/>
          </a:solidFill>
          <a:ln w="7144">
            <a:solidFill>
              <a:srgbClr val="D9D2BC"/>
            </a:solidFill>
            <a:prstDash val="solid"/>
          </a:ln>
          <a:effectLst>
            <a:outerShdw blurRad="19050" dist="9525" dir="5400000" algn="bl" rotWithShape="0">
              <a:srgbClr val="0F2A4A">
                <a:alpha val="4000"/>
              </a:srgbClr>
            </a:outerShdw>
          </a:effectLst>
        </p:spPr>
        <p:txBody>
          <a:bodyPr wrap="square" rtlCol="0" anchor="ctr"/>
          <a:lstStyle/>
          <a:p>
            <a:pPr marL="0" indent="0">
              <a:buNone/>
            </a:pPr>
            <a:endParaRPr lang="en-US" dirty="0"/>
          </a:p>
        </p:txBody>
      </p:sp>
      <p:sp>
        <p:nvSpPr>
          <p:cNvPr id="32" name="Text 30"/>
          <p:cNvSpPr/>
          <p:nvPr/>
        </p:nvSpPr>
        <p:spPr>
          <a:xfrm>
            <a:off x="6456722" y="2121694"/>
            <a:ext cx="185738" cy="185738"/>
          </a:xfrm>
          <a:prstGeom prst="ellipse">
            <a:avLst/>
          </a:prstGeom>
          <a:solidFill>
            <a:srgbClr val="C9A227"/>
          </a:solidFill>
          <a:ln/>
          <a:effectLst>
            <a:outerShdw blurRad="38100" dist="19050" dir="5400000" algn="bl" rotWithShape="0">
              <a:srgbClr val="0F2A4A">
                <a:alpha val="18000"/>
              </a:srgbClr>
            </a:outerShdw>
          </a:effectLst>
        </p:spPr>
        <p:txBody>
          <a:bodyPr wrap="square" rtlCol="0" anchor="ctr"/>
          <a:lstStyle/>
          <a:p>
            <a:pPr marL="0" indent="0">
              <a:buNone/>
            </a:pPr>
            <a:endParaRPr lang="en-US" dirty="0"/>
          </a:p>
        </p:txBody>
      </p:sp>
      <p:sp>
        <p:nvSpPr>
          <p:cNvPr id="33" name="Text 31"/>
          <p:cNvSpPr/>
          <p:nvPr/>
        </p:nvSpPr>
        <p:spPr>
          <a:xfrm>
            <a:off x="6471010" y="2121694"/>
            <a:ext cx="171450" cy="185738"/>
          </a:xfrm>
          <a:prstGeom prst="rect">
            <a:avLst/>
          </a:prstGeom>
          <a:noFill/>
          <a:ln/>
        </p:spPr>
        <p:txBody>
          <a:bodyPr wrap="none" lIns="0" tIns="0" rIns="0" bIns="0" rtlCol="0" anchor="ctr"/>
          <a:lstStyle/>
          <a:p>
            <a:pPr marL="0" indent="0" algn="ctr">
              <a:lnSpc>
                <a:spcPts val="1013"/>
              </a:lnSpc>
              <a:buNone/>
            </a:pPr>
            <a:r>
              <a:rPr lang="en-US" sz="800" b="1" kern="0" spc="14" dirty="0">
                <a:solidFill>
                  <a:srgbClr val="0F2A4A"/>
                </a:solidFill>
                <a:latin typeface="Liberation Sans Narrow" pitchFamily="34" charset="0"/>
                <a:ea typeface="Liberation Sans Narrow" pitchFamily="34" charset="-122"/>
                <a:cs typeface="Liberation Sans Narrow" pitchFamily="34" charset="-120"/>
              </a:rPr>
              <a:t>04</a:t>
            </a:r>
            <a:endParaRPr lang="en-US" sz="800" dirty="0"/>
          </a:p>
        </p:txBody>
      </p:sp>
      <p:sp>
        <p:nvSpPr>
          <p:cNvPr id="34" name="Text 32"/>
          <p:cNvSpPr/>
          <p:nvPr/>
        </p:nvSpPr>
        <p:spPr>
          <a:xfrm>
            <a:off x="6471010" y="2321719"/>
            <a:ext cx="2051484" cy="126159"/>
          </a:xfrm>
          <a:prstGeom prst="rect">
            <a:avLst/>
          </a:prstGeom>
          <a:noFill/>
          <a:ln/>
        </p:spPr>
        <p:txBody>
          <a:bodyPr wrap="none" lIns="0" tIns="0" rIns="0" bIns="0" rtlCol="0" anchor="t">
            <a:normAutofit/>
          </a:bodyPr>
          <a:lstStyle/>
          <a:p>
            <a:pPr marL="0" indent="0" algn="l">
              <a:lnSpc>
                <a:spcPts val="984"/>
              </a:lnSpc>
              <a:buNone/>
            </a:pPr>
            <a:r>
              <a:rPr lang="en-US" sz="800" b="1" dirty="0">
                <a:solidFill>
                  <a:srgbClr val="0F2A4A"/>
                </a:solidFill>
                <a:latin typeface="Carlito" pitchFamily="34" charset="0"/>
                <a:ea typeface="Carlito" pitchFamily="34" charset="-122"/>
                <a:cs typeface="Carlito" pitchFamily="34" charset="-120"/>
              </a:rPr>
              <a:t>Caregiver Monitoring</a:t>
            </a:r>
            <a:endParaRPr lang="en-US" sz="800" dirty="0"/>
          </a:p>
        </p:txBody>
      </p:sp>
      <p:sp>
        <p:nvSpPr>
          <p:cNvPr id="35" name="Text 33"/>
          <p:cNvSpPr/>
          <p:nvPr/>
        </p:nvSpPr>
        <p:spPr>
          <a:xfrm>
            <a:off x="6471010" y="2475309"/>
            <a:ext cx="2051484" cy="318040"/>
          </a:xfrm>
          <a:prstGeom prst="rect">
            <a:avLst/>
          </a:prstGeom>
          <a:noFill/>
          <a:ln/>
        </p:spPr>
        <p:txBody>
          <a:bodyPr wrap="square" lIns="0" tIns="0" rIns="0" bIns="0" rtlCol="0" anchor="t"/>
          <a:lstStyle/>
          <a:p>
            <a:pPr marL="0" indent="0" algn="l">
              <a:lnSpc>
                <a:spcPts val="979"/>
              </a:lnSpc>
              <a:buNone/>
            </a:pPr>
            <a:r>
              <a:rPr lang="en-US" sz="800" dirty="0">
                <a:solidFill>
                  <a:srgbClr val="4A5A75"/>
                </a:solidFill>
                <a:latin typeface="Carlito" pitchFamily="34" charset="0"/>
                <a:ea typeface="Carlito" pitchFamily="34" charset="-122"/>
                <a:cs typeface="Carlito" pitchFamily="34" charset="-120"/>
              </a:rPr>
              <a:t>Let linked family members view schedules and adherence remotely.</a:t>
            </a:r>
            <a:endParaRPr lang="en-US" sz="800" dirty="0"/>
          </a:p>
        </p:txBody>
      </p:sp>
      <p:sp>
        <p:nvSpPr>
          <p:cNvPr id="36" name="Text 34"/>
          <p:cNvSpPr/>
          <p:nvPr/>
        </p:nvSpPr>
        <p:spPr>
          <a:xfrm>
            <a:off x="3958754" y="3539728"/>
            <a:ext cx="2258653" cy="1200150"/>
          </a:xfrm>
          <a:prstGeom prst="roundRect">
            <a:avLst>
              <a:gd name="adj" fmla="val 4762"/>
            </a:avLst>
          </a:prstGeom>
          <a:solidFill>
            <a:srgbClr val="FFFFFF"/>
          </a:solidFill>
          <a:ln w="7144">
            <a:solidFill>
              <a:srgbClr val="D9D2BC"/>
            </a:solidFill>
            <a:prstDash val="solid"/>
          </a:ln>
          <a:effectLst>
            <a:outerShdw blurRad="19050" dist="9525" dir="5400000" algn="bl" rotWithShape="0">
              <a:srgbClr val="0F2A4A">
                <a:alpha val="4000"/>
              </a:srgbClr>
            </a:outerShdw>
          </a:effectLst>
        </p:spPr>
        <p:txBody>
          <a:bodyPr wrap="square" rtlCol="0" anchor="ctr"/>
          <a:lstStyle/>
          <a:p>
            <a:pPr marL="0" indent="0">
              <a:buNone/>
            </a:pPr>
            <a:endParaRPr lang="en-US" dirty="0"/>
          </a:p>
        </p:txBody>
      </p:sp>
      <p:sp>
        <p:nvSpPr>
          <p:cNvPr id="37" name="Text 35"/>
          <p:cNvSpPr/>
          <p:nvPr/>
        </p:nvSpPr>
        <p:spPr>
          <a:xfrm>
            <a:off x="4048051" y="3471863"/>
            <a:ext cx="185738" cy="185738"/>
          </a:xfrm>
          <a:prstGeom prst="ellipse">
            <a:avLst/>
          </a:prstGeom>
          <a:solidFill>
            <a:srgbClr val="C9A227"/>
          </a:solidFill>
          <a:ln/>
          <a:effectLst>
            <a:outerShdw blurRad="38100" dist="19050" dir="5400000" algn="bl" rotWithShape="0">
              <a:srgbClr val="0F2A4A">
                <a:alpha val="18000"/>
              </a:srgbClr>
            </a:outerShdw>
          </a:effectLst>
        </p:spPr>
        <p:txBody>
          <a:bodyPr wrap="square" rtlCol="0" anchor="ctr"/>
          <a:lstStyle/>
          <a:p>
            <a:pPr marL="0" indent="0">
              <a:buNone/>
            </a:pPr>
            <a:endParaRPr lang="en-US" dirty="0"/>
          </a:p>
        </p:txBody>
      </p:sp>
      <p:sp>
        <p:nvSpPr>
          <p:cNvPr id="38" name="Text 36"/>
          <p:cNvSpPr/>
          <p:nvPr/>
        </p:nvSpPr>
        <p:spPr>
          <a:xfrm>
            <a:off x="4062338" y="3471863"/>
            <a:ext cx="171450" cy="185738"/>
          </a:xfrm>
          <a:prstGeom prst="rect">
            <a:avLst/>
          </a:prstGeom>
          <a:noFill/>
          <a:ln/>
        </p:spPr>
        <p:txBody>
          <a:bodyPr wrap="none" lIns="0" tIns="0" rIns="0" bIns="0" rtlCol="0" anchor="ctr"/>
          <a:lstStyle/>
          <a:p>
            <a:pPr marL="0" indent="0" algn="ctr">
              <a:lnSpc>
                <a:spcPts val="1013"/>
              </a:lnSpc>
              <a:buNone/>
            </a:pPr>
            <a:r>
              <a:rPr lang="en-US" sz="800" b="1" kern="0" spc="14" dirty="0">
                <a:solidFill>
                  <a:srgbClr val="0F2A4A"/>
                </a:solidFill>
                <a:latin typeface="Liberation Sans Narrow" pitchFamily="34" charset="0"/>
                <a:ea typeface="Liberation Sans Narrow" pitchFamily="34" charset="-122"/>
                <a:cs typeface="Liberation Sans Narrow" pitchFamily="34" charset="-120"/>
              </a:rPr>
              <a:t>05</a:t>
            </a:r>
            <a:endParaRPr lang="en-US" sz="800" dirty="0"/>
          </a:p>
        </p:txBody>
      </p:sp>
      <p:sp>
        <p:nvSpPr>
          <p:cNvPr id="39" name="Text 37"/>
          <p:cNvSpPr/>
          <p:nvPr/>
        </p:nvSpPr>
        <p:spPr>
          <a:xfrm>
            <a:off x="4062338" y="3671888"/>
            <a:ext cx="2051484" cy="126159"/>
          </a:xfrm>
          <a:prstGeom prst="rect">
            <a:avLst/>
          </a:prstGeom>
          <a:noFill/>
          <a:ln/>
        </p:spPr>
        <p:txBody>
          <a:bodyPr wrap="none" lIns="0" tIns="0" rIns="0" bIns="0" rtlCol="0" anchor="t">
            <a:normAutofit/>
          </a:bodyPr>
          <a:lstStyle/>
          <a:p>
            <a:pPr marL="0" indent="0" algn="l">
              <a:lnSpc>
                <a:spcPts val="984"/>
              </a:lnSpc>
              <a:buNone/>
            </a:pPr>
            <a:r>
              <a:rPr lang="en-US" sz="800" b="1" dirty="0">
                <a:solidFill>
                  <a:srgbClr val="0F2A4A"/>
                </a:solidFill>
                <a:latin typeface="Carlito" pitchFamily="34" charset="0"/>
                <a:ea typeface="Carlito" pitchFamily="34" charset="-122"/>
                <a:cs typeface="Carlito" pitchFamily="34" charset="-120"/>
              </a:rPr>
              <a:t>Emergency Response</a:t>
            </a:r>
            <a:endParaRPr lang="en-US" sz="800" dirty="0"/>
          </a:p>
        </p:txBody>
      </p:sp>
      <p:sp>
        <p:nvSpPr>
          <p:cNvPr id="40" name="Text 38"/>
          <p:cNvSpPr/>
          <p:nvPr/>
        </p:nvSpPr>
        <p:spPr>
          <a:xfrm>
            <a:off x="4062338" y="3825478"/>
            <a:ext cx="2051484" cy="318040"/>
          </a:xfrm>
          <a:prstGeom prst="rect">
            <a:avLst/>
          </a:prstGeom>
          <a:noFill/>
          <a:ln/>
        </p:spPr>
        <p:txBody>
          <a:bodyPr wrap="square" lIns="0" tIns="0" rIns="0" bIns="0" rtlCol="0" anchor="t"/>
          <a:lstStyle/>
          <a:p>
            <a:pPr marL="0" indent="0" algn="l">
              <a:lnSpc>
                <a:spcPts val="979"/>
              </a:lnSpc>
              <a:buNone/>
            </a:pPr>
            <a:r>
              <a:rPr lang="en-US" sz="800" dirty="0">
                <a:solidFill>
                  <a:srgbClr val="4A5A75"/>
                </a:solidFill>
                <a:latin typeface="Carlito" pitchFamily="34" charset="0"/>
                <a:ea typeface="Carlito" pitchFamily="34" charset="-122"/>
                <a:cs typeface="Carlito" pitchFamily="34" charset="-120"/>
              </a:rPr>
              <a:t>One-tap button that instantly alerts all linked caregivers with patient + time.</a:t>
            </a:r>
            <a:endParaRPr lang="en-US" sz="800" dirty="0"/>
          </a:p>
        </p:txBody>
      </p:sp>
      <p:sp>
        <p:nvSpPr>
          <p:cNvPr id="41" name="Text 39"/>
          <p:cNvSpPr/>
          <p:nvPr/>
        </p:nvSpPr>
        <p:spPr>
          <a:xfrm>
            <a:off x="6367425" y="3539728"/>
            <a:ext cx="2258653" cy="1200150"/>
          </a:xfrm>
          <a:prstGeom prst="roundRect">
            <a:avLst>
              <a:gd name="adj" fmla="val 4762"/>
            </a:avLst>
          </a:prstGeom>
          <a:solidFill>
            <a:srgbClr val="FFFFFF"/>
          </a:solidFill>
          <a:ln w="7144">
            <a:solidFill>
              <a:srgbClr val="D9D2BC"/>
            </a:solidFill>
            <a:prstDash val="solid"/>
          </a:ln>
          <a:effectLst>
            <a:outerShdw blurRad="19050" dist="9525" dir="5400000" algn="bl" rotWithShape="0">
              <a:srgbClr val="0F2A4A">
                <a:alpha val="4000"/>
              </a:srgbClr>
            </a:outerShdw>
          </a:effectLst>
        </p:spPr>
        <p:txBody>
          <a:bodyPr wrap="square" rtlCol="0" anchor="ctr"/>
          <a:lstStyle/>
          <a:p>
            <a:pPr marL="0" indent="0">
              <a:buNone/>
            </a:pPr>
            <a:endParaRPr lang="en-US" dirty="0"/>
          </a:p>
        </p:txBody>
      </p:sp>
      <p:sp>
        <p:nvSpPr>
          <p:cNvPr id="42" name="Text 40"/>
          <p:cNvSpPr/>
          <p:nvPr/>
        </p:nvSpPr>
        <p:spPr>
          <a:xfrm>
            <a:off x="6456722" y="3471863"/>
            <a:ext cx="185738" cy="185738"/>
          </a:xfrm>
          <a:prstGeom prst="ellipse">
            <a:avLst/>
          </a:prstGeom>
          <a:solidFill>
            <a:srgbClr val="C9A227"/>
          </a:solidFill>
          <a:ln/>
          <a:effectLst>
            <a:outerShdw blurRad="38100" dist="19050" dir="5400000" algn="bl" rotWithShape="0">
              <a:srgbClr val="0F2A4A">
                <a:alpha val="18000"/>
              </a:srgbClr>
            </a:outerShdw>
          </a:effectLst>
        </p:spPr>
        <p:txBody>
          <a:bodyPr wrap="square" rtlCol="0" anchor="ctr"/>
          <a:lstStyle/>
          <a:p>
            <a:pPr marL="0" indent="0">
              <a:buNone/>
            </a:pPr>
            <a:endParaRPr lang="en-US" dirty="0"/>
          </a:p>
        </p:txBody>
      </p:sp>
      <p:sp>
        <p:nvSpPr>
          <p:cNvPr id="43" name="Text 41"/>
          <p:cNvSpPr/>
          <p:nvPr/>
        </p:nvSpPr>
        <p:spPr>
          <a:xfrm>
            <a:off x="6471010" y="3471863"/>
            <a:ext cx="171450" cy="185738"/>
          </a:xfrm>
          <a:prstGeom prst="rect">
            <a:avLst/>
          </a:prstGeom>
          <a:noFill/>
          <a:ln/>
        </p:spPr>
        <p:txBody>
          <a:bodyPr wrap="none" lIns="0" tIns="0" rIns="0" bIns="0" rtlCol="0" anchor="ctr"/>
          <a:lstStyle/>
          <a:p>
            <a:pPr marL="0" indent="0" algn="ctr">
              <a:lnSpc>
                <a:spcPts val="1013"/>
              </a:lnSpc>
              <a:buNone/>
            </a:pPr>
            <a:r>
              <a:rPr lang="en-US" sz="800" b="1" kern="0" spc="14" dirty="0">
                <a:solidFill>
                  <a:srgbClr val="0F2A4A"/>
                </a:solidFill>
                <a:latin typeface="Liberation Sans Narrow" pitchFamily="34" charset="0"/>
                <a:ea typeface="Liberation Sans Narrow" pitchFamily="34" charset="-122"/>
                <a:cs typeface="Liberation Sans Narrow" pitchFamily="34" charset="-120"/>
              </a:rPr>
              <a:t>06</a:t>
            </a:r>
            <a:endParaRPr lang="en-US" sz="800" dirty="0"/>
          </a:p>
        </p:txBody>
      </p:sp>
      <p:sp>
        <p:nvSpPr>
          <p:cNvPr id="44" name="Text 42"/>
          <p:cNvSpPr/>
          <p:nvPr/>
        </p:nvSpPr>
        <p:spPr>
          <a:xfrm>
            <a:off x="6471010" y="3671888"/>
            <a:ext cx="2051484" cy="126159"/>
          </a:xfrm>
          <a:prstGeom prst="rect">
            <a:avLst/>
          </a:prstGeom>
          <a:noFill/>
          <a:ln/>
        </p:spPr>
        <p:txBody>
          <a:bodyPr wrap="none" lIns="0" tIns="0" rIns="0" bIns="0" rtlCol="0" anchor="t">
            <a:normAutofit/>
          </a:bodyPr>
          <a:lstStyle/>
          <a:p>
            <a:pPr marL="0" indent="0" algn="l">
              <a:lnSpc>
                <a:spcPts val="984"/>
              </a:lnSpc>
              <a:buNone/>
            </a:pPr>
            <a:r>
              <a:rPr lang="en-US" sz="800" b="1" dirty="0">
                <a:solidFill>
                  <a:srgbClr val="0F2A4A"/>
                </a:solidFill>
                <a:latin typeface="Carlito" pitchFamily="34" charset="0"/>
                <a:ea typeface="Carlito" pitchFamily="34" charset="-122"/>
                <a:cs typeface="Carlito" pitchFamily="34" charset="-120"/>
              </a:rPr>
              <a:t>AI Chatbot</a:t>
            </a:r>
            <a:endParaRPr lang="en-US" sz="800" dirty="0"/>
          </a:p>
        </p:txBody>
      </p:sp>
      <p:sp>
        <p:nvSpPr>
          <p:cNvPr id="45" name="Text 43"/>
          <p:cNvSpPr/>
          <p:nvPr/>
        </p:nvSpPr>
        <p:spPr>
          <a:xfrm>
            <a:off x="6471010" y="3825478"/>
            <a:ext cx="2051484" cy="318040"/>
          </a:xfrm>
          <a:prstGeom prst="rect">
            <a:avLst/>
          </a:prstGeom>
          <a:noFill/>
          <a:ln/>
        </p:spPr>
        <p:txBody>
          <a:bodyPr wrap="square" lIns="0" tIns="0" rIns="0" bIns="0" rtlCol="0" anchor="t"/>
          <a:lstStyle/>
          <a:p>
            <a:pPr marL="0" indent="0" algn="l">
              <a:lnSpc>
                <a:spcPts val="979"/>
              </a:lnSpc>
              <a:buNone/>
            </a:pPr>
            <a:r>
              <a:rPr lang="en-US" sz="800" dirty="0">
                <a:solidFill>
                  <a:srgbClr val="4A5A75"/>
                </a:solidFill>
                <a:latin typeface="Carlito" pitchFamily="34" charset="0"/>
                <a:ea typeface="Carlito" pitchFamily="34" charset="-122"/>
                <a:cs typeface="Carlito" pitchFamily="34" charset="-120"/>
              </a:rPr>
              <a:t>Plain-language answers to medication and interaction questions, follow-up supported.</a:t>
            </a:r>
            <a:endParaRPr lang="en-US" sz="800" dirty="0"/>
          </a:p>
        </p:txBody>
      </p:sp>
      <p:sp>
        <p:nvSpPr>
          <p:cNvPr id="46" name="Text 44"/>
          <p:cNvSpPr/>
          <p:nvPr/>
        </p:nvSpPr>
        <p:spPr>
          <a:xfrm>
            <a:off x="514350" y="4897041"/>
            <a:ext cx="7538777" cy="117872"/>
          </a:xfrm>
          <a:prstGeom prst="rect">
            <a:avLst/>
          </a:prstGeom>
          <a:noFill/>
          <a:ln/>
        </p:spPr>
        <p:txBody>
          <a:bodyPr wrap="square" lIns="0" tIns="0" rIns="0" bIns="0" rtlCol="0" anchor="t"/>
          <a:lstStyle/>
          <a:p>
            <a:pPr marL="0" indent="0" algn="l">
              <a:lnSpc>
                <a:spcPts val="928"/>
              </a:lnSpc>
              <a:buNone/>
            </a:pPr>
            <a:r>
              <a:rPr lang="en-US" sz="800" kern="0" spc="74"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47" name="Text 45"/>
          <p:cNvSpPr/>
          <p:nvPr/>
        </p:nvSpPr>
        <p:spPr>
          <a:xfrm>
            <a:off x="8067415" y="4897041"/>
            <a:ext cx="562235" cy="117872"/>
          </a:xfrm>
          <a:prstGeom prst="rect">
            <a:avLst/>
          </a:prstGeom>
          <a:noFill/>
          <a:ln/>
        </p:spPr>
        <p:txBody>
          <a:bodyPr wrap="none" lIns="0" tIns="0" rIns="0" bIns="0" rtlCol="0" anchor="t"/>
          <a:lstStyle/>
          <a:p>
            <a:pPr marL="0" indent="0" algn="l">
              <a:lnSpc>
                <a:spcPts val="928"/>
              </a:lnSpc>
              <a:buNone/>
            </a:pPr>
            <a:r>
              <a:rPr lang="en-US" sz="800" kern="0" spc="74" dirty="0">
                <a:solidFill>
                  <a:srgbClr val="7A8AA0"/>
                </a:solidFill>
                <a:latin typeface="Carlito" pitchFamily="34" charset="0"/>
                <a:ea typeface="Carlito" pitchFamily="34" charset="-122"/>
                <a:cs typeface="Carlito" pitchFamily="34" charset="-120"/>
              </a:rPr>
              <a:t>OBJECTIVES</a:t>
            </a:r>
            <a:endParaRPr lang="en-US" sz="8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514350" y="632222"/>
            <a:ext cx="8115300" cy="0"/>
          </a:xfrm>
          <a:prstGeom prst="line">
            <a:avLst/>
          </a:prstGeom>
          <a:noFill/>
          <a:ln w="7144">
            <a:solidFill>
              <a:srgbClr val="D9D2BC"/>
            </a:solidFill>
            <a:prstDash val="solid"/>
          </a:ln>
        </p:spPr>
      </p:sp>
      <p:sp>
        <p:nvSpPr>
          <p:cNvPr id="3" name="Shape 1"/>
          <p:cNvSpPr/>
          <p:nvPr/>
        </p:nvSpPr>
        <p:spPr>
          <a:xfrm>
            <a:off x="514350" y="4836319"/>
            <a:ext cx="8115300" cy="0"/>
          </a:xfrm>
          <a:prstGeom prst="line">
            <a:avLst/>
          </a:prstGeom>
          <a:noFill/>
          <a:ln w="7144">
            <a:solidFill>
              <a:srgbClr val="D9D2BC"/>
            </a:solidFill>
            <a:prstDash val="solid"/>
          </a:ln>
        </p:spPr>
      </p:sp>
      <p:sp>
        <p:nvSpPr>
          <p:cNvPr id="4" name="Text 2"/>
          <p:cNvSpPr/>
          <p:nvPr/>
        </p:nvSpPr>
        <p:spPr>
          <a:xfrm>
            <a:off x="514350" y="400050"/>
            <a:ext cx="767964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04 · RELATED WORK</a:t>
            </a:r>
            <a:endParaRPr lang="en-US" sz="800" dirty="0"/>
          </a:p>
        </p:txBody>
      </p:sp>
      <p:sp>
        <p:nvSpPr>
          <p:cNvPr id="5" name="Text 3"/>
          <p:cNvSpPr/>
          <p:nvPr/>
        </p:nvSpPr>
        <p:spPr>
          <a:xfrm>
            <a:off x="8208280" y="400050"/>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06 / 21</a:t>
            </a:r>
            <a:endParaRPr lang="en-US" sz="800" dirty="0"/>
          </a:p>
        </p:txBody>
      </p:sp>
      <p:sp>
        <p:nvSpPr>
          <p:cNvPr id="6" name="Text 4"/>
          <p:cNvSpPr/>
          <p:nvPr/>
        </p:nvSpPr>
        <p:spPr>
          <a:xfrm>
            <a:off x="514350" y="835819"/>
            <a:ext cx="8115300" cy="283897"/>
          </a:xfrm>
          <a:prstGeom prst="rect">
            <a:avLst/>
          </a:prstGeom>
          <a:noFill/>
          <a:ln/>
        </p:spPr>
        <p:txBody>
          <a:bodyPr wrap="square" lIns="0" tIns="0" rIns="0" bIns="0" rtlCol="0" anchor="t"/>
          <a:lstStyle/>
          <a:p>
            <a:pPr marL="0" indent="0" algn="l">
              <a:lnSpc>
                <a:spcPts val="2070"/>
              </a:lnSpc>
              <a:buNone/>
            </a:pPr>
            <a:r>
              <a:rPr lang="en-US" sz="1800" b="1" kern="0" spc="-18" dirty="0">
                <a:solidFill>
                  <a:srgbClr val="0F2A4A"/>
                </a:solidFill>
                <a:latin typeface="Tinos" pitchFamily="34" charset="0"/>
                <a:ea typeface="Tinos" pitchFamily="34" charset="-122"/>
                <a:cs typeface="Tinos" pitchFamily="34" charset="-120"/>
              </a:rPr>
              <a:t>Existing solutions solve pieces. None solve the whole.</a:t>
            </a:r>
            <a:endParaRPr lang="en-US" sz="1800" dirty="0"/>
          </a:p>
        </p:txBody>
      </p:sp>
      <p:sp>
        <p:nvSpPr>
          <p:cNvPr id="7" name="Text 5"/>
          <p:cNvSpPr/>
          <p:nvPr/>
        </p:nvSpPr>
        <p:spPr>
          <a:xfrm>
            <a:off x="514350" y="1170124"/>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8" name="Text 6"/>
          <p:cNvSpPr/>
          <p:nvPr/>
        </p:nvSpPr>
        <p:spPr>
          <a:xfrm>
            <a:off x="514350" y="1262993"/>
            <a:ext cx="8115300" cy="169980"/>
          </a:xfrm>
          <a:prstGeom prst="rect">
            <a:avLst/>
          </a:prstGeom>
          <a:noFill/>
          <a:ln/>
        </p:spPr>
        <p:txBody>
          <a:bodyPr wrap="square" lIns="0" tIns="0" rIns="0" bIns="0" rtlCol="0" anchor="t"/>
          <a:lstStyle/>
          <a:p>
            <a:pPr marL="0" indent="0" algn="l">
              <a:lnSpc>
                <a:spcPts val="1221"/>
              </a:lnSpc>
              <a:buNone/>
            </a:pPr>
            <a:r>
              <a:rPr lang="en-US" sz="800" dirty="0">
                <a:solidFill>
                  <a:srgbClr val="4A5A75"/>
                </a:solidFill>
                <a:latin typeface="Carlito" pitchFamily="34" charset="0"/>
                <a:ea typeface="Carlito" pitchFamily="34" charset="-122"/>
                <a:cs typeface="Carlito" pitchFamily="34" charset="-120"/>
              </a:rPr>
              <a:t>A survey of popular medication-management tools revealed four common gaps — MedWise was scoped to close all of them.</a:t>
            </a:r>
            <a:endParaRPr lang="en-US" sz="800" dirty="0"/>
          </a:p>
        </p:txBody>
      </p:sp>
      <p:sp>
        <p:nvSpPr>
          <p:cNvPr id="9" name="Text 7"/>
          <p:cNvSpPr/>
          <p:nvPr/>
        </p:nvSpPr>
        <p:spPr>
          <a:xfrm>
            <a:off x="517922" y="1521507"/>
            <a:ext cx="8108156" cy="2125266"/>
          </a:xfrm>
          <a:prstGeom prst="roundRect">
            <a:avLst>
              <a:gd name="adj" fmla="val 3585"/>
            </a:avLst>
          </a:prstGeom>
          <a:solidFill>
            <a:srgbClr val="FFFFFF"/>
          </a:solidFill>
          <a:ln w="7144">
            <a:solidFill>
              <a:srgbClr val="D9D2BC"/>
            </a:solidFill>
            <a:prstDash val="solid"/>
          </a:ln>
          <a:effectLst>
            <a:outerShdw blurRad="76200" dist="19050" dir="5400000" algn="bl" rotWithShape="0">
              <a:srgbClr val="0F2A4A">
                <a:alpha val="5000"/>
              </a:srgbClr>
            </a:outerShdw>
          </a:effectLst>
        </p:spPr>
        <p:txBody>
          <a:bodyPr wrap="square" rtlCol="0" anchor="ctr"/>
          <a:lstStyle/>
          <a:p>
            <a:pPr marL="0" indent="0">
              <a:buNone/>
            </a:pPr>
            <a:endParaRPr lang="en-US" dirty="0"/>
          </a:p>
        </p:txBody>
      </p:sp>
      <p:graphicFrame>
        <p:nvGraphicFramePr>
          <p:cNvPr id="10" name="Table 0"/>
          <p:cNvGraphicFramePr>
            <a:graphicFrameLocks noGrp="1"/>
          </p:cNvGraphicFramePr>
          <p:nvPr>
            <p:extLst>
              <p:ext uri="{D42A27DB-BD31-4B8C-83A1-F6EECF244321}">
                <p14:modId xmlns:p14="http://schemas.microsoft.com/office/powerpoint/2010/main" val="3095317318"/>
              </p:ext>
            </p:extLst>
          </p:nvPr>
        </p:nvGraphicFramePr>
        <p:xfrm>
          <a:off x="514350" y="1410234"/>
          <a:ext cx="8101011" cy="2253622"/>
        </p:xfrm>
        <a:graphic>
          <a:graphicData uri="http://schemas.openxmlformats.org/drawingml/2006/table">
            <a:tbl>
              <a:tblPr/>
              <a:tblGrid>
                <a:gridCol w="2106290">
                  <a:extLst>
                    <a:ext uri="{9D8B030D-6E8A-4147-A177-3AD203B41FA5}">
                      <a16:colId xmlns:a16="http://schemas.microsoft.com/office/drawing/2014/main" val="20000"/>
                    </a:ext>
                  </a:extLst>
                </a:gridCol>
                <a:gridCol w="1134070">
                  <a:extLst>
                    <a:ext uri="{9D8B030D-6E8A-4147-A177-3AD203B41FA5}">
                      <a16:colId xmlns:a16="http://schemas.microsoft.com/office/drawing/2014/main" val="20001"/>
                    </a:ext>
                  </a:extLst>
                </a:gridCol>
                <a:gridCol w="1134070">
                  <a:extLst>
                    <a:ext uri="{9D8B030D-6E8A-4147-A177-3AD203B41FA5}">
                      <a16:colId xmlns:a16="http://schemas.microsoft.com/office/drawing/2014/main" val="20002"/>
                    </a:ext>
                  </a:extLst>
                </a:gridCol>
                <a:gridCol w="1134070">
                  <a:extLst>
                    <a:ext uri="{9D8B030D-6E8A-4147-A177-3AD203B41FA5}">
                      <a16:colId xmlns:a16="http://schemas.microsoft.com/office/drawing/2014/main" val="20003"/>
                    </a:ext>
                  </a:extLst>
                </a:gridCol>
                <a:gridCol w="1134070">
                  <a:extLst>
                    <a:ext uri="{9D8B030D-6E8A-4147-A177-3AD203B41FA5}">
                      <a16:colId xmlns:a16="http://schemas.microsoft.com/office/drawing/2014/main" val="20004"/>
                    </a:ext>
                  </a:extLst>
                </a:gridCol>
                <a:gridCol w="1458441">
                  <a:extLst>
                    <a:ext uri="{9D8B030D-6E8A-4147-A177-3AD203B41FA5}">
                      <a16:colId xmlns:a16="http://schemas.microsoft.com/office/drawing/2014/main" val="20005"/>
                    </a:ext>
                  </a:extLst>
                </a:gridCol>
              </a:tblGrid>
              <a:tr h="0">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Capability</a:t>
                      </a:r>
                      <a:endParaRPr lang="en-US" sz="800" dirty="0">
                        <a:latin typeface="Carlito" charset="0"/>
                        <a:ea typeface="Carlito" charset="0"/>
                        <a:cs typeface="Carlito" charset="0"/>
                      </a:endParaRPr>
                    </a:p>
                  </a:txBody>
                  <a:tcPr marL="71438" marR="85725" marT="128588"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1B3D6B"/>
                    </a:solidFill>
                  </a:tcPr>
                </a:tc>
                <a:tc>
                  <a:txBody>
                    <a:bodyPr/>
                    <a:lstStyle/>
                    <a:p>
                      <a:pPr marL="0" indent="0" algn="ctr">
                        <a:buNone/>
                      </a:pPr>
                      <a:r>
                        <a:rPr lang="en-US" sz="800" b="1" dirty="0">
                          <a:solidFill>
                            <a:srgbClr val="FFFFFF"/>
                          </a:solidFill>
                          <a:latin typeface="Carlito" pitchFamily="34" charset="0"/>
                          <a:ea typeface="Carlito" pitchFamily="34" charset="-122"/>
                          <a:cs typeface="Carlito" pitchFamily="34" charset="-120"/>
                        </a:rPr>
                        <a:t>Medisafe</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0F2A4A"/>
                    </a:solidFill>
                  </a:tcPr>
                </a:tc>
                <a:tc>
                  <a:txBody>
                    <a:bodyPr/>
                    <a:lstStyle/>
                    <a:p>
                      <a:pPr marL="0" indent="0" algn="ctr">
                        <a:buNone/>
                      </a:pPr>
                      <a:r>
                        <a:rPr lang="en-US" sz="800" b="1" dirty="0">
                          <a:solidFill>
                            <a:srgbClr val="FFFFFF"/>
                          </a:solidFill>
                          <a:latin typeface="Carlito" pitchFamily="34" charset="0"/>
                          <a:ea typeface="Carlito" pitchFamily="34" charset="-122"/>
                          <a:cs typeface="Carlito" pitchFamily="34" charset="-120"/>
                        </a:rPr>
                        <a:t>MyTherapy</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0F2A4A"/>
                    </a:solidFill>
                  </a:tcPr>
                </a:tc>
                <a:tc>
                  <a:txBody>
                    <a:bodyPr/>
                    <a:lstStyle/>
                    <a:p>
                      <a:pPr marL="0" indent="0" algn="ctr">
                        <a:buNone/>
                      </a:pPr>
                      <a:r>
                        <a:rPr lang="en-US" sz="800" b="1" dirty="0">
                          <a:solidFill>
                            <a:srgbClr val="FFFFFF"/>
                          </a:solidFill>
                          <a:latin typeface="Carlito" pitchFamily="34" charset="0"/>
                          <a:ea typeface="Carlito" pitchFamily="34" charset="-122"/>
                          <a:cs typeface="Carlito" pitchFamily="34" charset="-120"/>
                        </a:rPr>
                        <a:t>CareZone</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0F2A4A"/>
                    </a:solidFill>
                  </a:tcPr>
                </a:tc>
                <a:tc>
                  <a:txBody>
                    <a:bodyPr/>
                    <a:lstStyle/>
                    <a:p>
                      <a:pPr marL="0" indent="0" algn="ctr">
                        <a:buNone/>
                      </a:pPr>
                      <a:r>
                        <a:rPr lang="en-US" sz="800" b="1" dirty="0">
                          <a:solidFill>
                            <a:srgbClr val="FFFFFF"/>
                          </a:solidFill>
                          <a:latin typeface="Carlito" pitchFamily="34" charset="0"/>
                          <a:ea typeface="Carlito" pitchFamily="34" charset="-122"/>
                          <a:cs typeface="Carlito" pitchFamily="34" charset="-120"/>
                        </a:rPr>
                        <a:t>Dosecast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0F2A4A"/>
                    </a:solidFill>
                  </a:tcPr>
                </a:tc>
                <a:tc>
                  <a:txBody>
                    <a:bodyPr/>
                    <a:lstStyle/>
                    <a:p>
                      <a:pPr marL="0" indent="0" algn="ctr">
                        <a:buNone/>
                      </a:pPr>
                      <a:r>
                        <a:rPr lang="en-US" sz="800" b="1" dirty="0">
                          <a:solidFill>
                            <a:srgbClr val="FFFFFF"/>
                          </a:solidFill>
                          <a:latin typeface="Carlito" pitchFamily="34" charset="0"/>
                          <a:ea typeface="Carlito" pitchFamily="34" charset="-122"/>
                          <a:cs typeface="Carlito" pitchFamily="34" charset="-120"/>
                        </a:rPr>
                        <a:t>MedWise</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8C6F12"/>
                    </a:solidFill>
                  </a:tcPr>
                </a:tc>
                <a:extLst>
                  <a:ext uri="{0D108BD9-81ED-4DB2-BD59-A6C34878D82A}">
                    <a16:rowId xmlns:a16="http://schemas.microsoft.com/office/drawing/2014/main" val="10000"/>
                  </a:ext>
                </a:extLst>
              </a:tr>
              <a:tr h="0">
                <a:tc>
                  <a:txBody>
                    <a:bodyPr/>
                    <a:lstStyle/>
                    <a:p>
                      <a:pPr marL="0" indent="0" algn="l">
                        <a:buNone/>
                      </a:pPr>
                      <a:r>
                        <a:rPr lang="en-US" sz="800" dirty="0">
                          <a:solidFill>
                            <a:srgbClr val="0F2A4A"/>
                          </a:solidFill>
                          <a:latin typeface="Carlito" pitchFamily="34" charset="0"/>
                          <a:ea typeface="Carlito" pitchFamily="34" charset="-122"/>
                          <a:cs typeface="Carlito" pitchFamily="34" charset="-120"/>
                        </a:rPr>
                        <a:t>Medication tracking</a:t>
                      </a:r>
                      <a:endParaRPr lang="en-US" sz="800" dirty="0">
                        <a:latin typeface="Carlito" charset="0"/>
                        <a:ea typeface="Carlito" charset="0"/>
                        <a:cs typeface="Carlito" charset="0"/>
                      </a:endParaRPr>
                    </a:p>
                  </a:txBody>
                  <a:tcPr marL="71438" marR="85725" marT="128588"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2EEE3"/>
                    </a:solidFill>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C9A227">
                        <a:alpha val="12000"/>
                      </a:srgbClr>
                    </a:solidFill>
                  </a:tcPr>
                </a:tc>
                <a:extLst>
                  <a:ext uri="{0D108BD9-81ED-4DB2-BD59-A6C34878D82A}">
                    <a16:rowId xmlns:a16="http://schemas.microsoft.com/office/drawing/2014/main" val="10001"/>
                  </a:ext>
                </a:extLst>
              </a:tr>
              <a:tr h="0">
                <a:tc>
                  <a:txBody>
                    <a:bodyPr/>
                    <a:lstStyle/>
                    <a:p>
                      <a:pPr marL="0" indent="0" algn="l">
                        <a:buNone/>
                      </a:pPr>
                      <a:r>
                        <a:rPr lang="en-US" sz="800" dirty="0">
                          <a:solidFill>
                            <a:srgbClr val="0F2A4A"/>
                          </a:solidFill>
                          <a:latin typeface="Carlito" pitchFamily="34" charset="0"/>
                          <a:ea typeface="Carlito" pitchFamily="34" charset="-122"/>
                          <a:cs typeface="Carlito" pitchFamily="34" charset="-120"/>
                        </a:rPr>
                        <a:t>Drug-interaction check</a:t>
                      </a:r>
                      <a:endParaRPr lang="en-US" sz="800" dirty="0">
                        <a:latin typeface="Carlito" charset="0"/>
                        <a:ea typeface="Carlito" charset="0"/>
                        <a:cs typeface="Carlito" charset="0"/>
                      </a:endParaRPr>
                    </a:p>
                  </a:txBody>
                  <a:tcPr marL="71438" marR="85725" marT="128588"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2EEE3"/>
                    </a:solidFill>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Partial</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C9A227">
                        <a:alpha val="12000"/>
                      </a:srgbClr>
                    </a:solidFill>
                  </a:tcPr>
                </a:tc>
                <a:extLst>
                  <a:ext uri="{0D108BD9-81ED-4DB2-BD59-A6C34878D82A}">
                    <a16:rowId xmlns:a16="http://schemas.microsoft.com/office/drawing/2014/main" val="10002"/>
                  </a:ext>
                </a:extLst>
              </a:tr>
              <a:tr h="0">
                <a:tc>
                  <a:txBody>
                    <a:bodyPr/>
                    <a:lstStyle/>
                    <a:p>
                      <a:pPr marL="0" indent="0" algn="l">
                        <a:buNone/>
                      </a:pPr>
                      <a:r>
                        <a:rPr lang="en-US" sz="800" dirty="0">
                          <a:solidFill>
                            <a:srgbClr val="0F2A4A"/>
                          </a:solidFill>
                          <a:latin typeface="Carlito" pitchFamily="34" charset="0"/>
                          <a:ea typeface="Carlito" pitchFamily="34" charset="-122"/>
                          <a:cs typeface="Carlito" pitchFamily="34" charset="-120"/>
                        </a:rPr>
                        <a:t>AI chatbot for guidance</a:t>
                      </a:r>
                      <a:endParaRPr lang="en-US" sz="800" dirty="0">
                        <a:latin typeface="Carlito" charset="0"/>
                        <a:ea typeface="Carlito" charset="0"/>
                        <a:cs typeface="Carlito" charset="0"/>
                      </a:endParaRPr>
                    </a:p>
                  </a:txBody>
                  <a:tcPr marL="71438" marR="85725" marT="128588"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2EEE3"/>
                    </a:solidFill>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C9A227">
                        <a:alpha val="12000"/>
                      </a:srgbClr>
                    </a:solidFill>
                  </a:tcPr>
                </a:tc>
                <a:extLst>
                  <a:ext uri="{0D108BD9-81ED-4DB2-BD59-A6C34878D82A}">
                    <a16:rowId xmlns:a16="http://schemas.microsoft.com/office/drawing/2014/main" val="10003"/>
                  </a:ext>
                </a:extLst>
              </a:tr>
              <a:tr h="0">
                <a:tc>
                  <a:txBody>
                    <a:bodyPr/>
                    <a:lstStyle/>
                    <a:p>
                      <a:pPr marL="0" indent="0" algn="l">
                        <a:buNone/>
                      </a:pPr>
                      <a:r>
                        <a:rPr lang="en-US" sz="800" dirty="0">
                          <a:solidFill>
                            <a:srgbClr val="0F2A4A"/>
                          </a:solidFill>
                          <a:latin typeface="Carlito" pitchFamily="34" charset="0"/>
                          <a:ea typeface="Carlito" pitchFamily="34" charset="-122"/>
                          <a:cs typeface="Carlito" pitchFamily="34" charset="-120"/>
                        </a:rPr>
                        <a:t>Caregiver remote monitoring</a:t>
                      </a:r>
                      <a:endParaRPr lang="en-US" sz="800" dirty="0">
                        <a:latin typeface="Carlito" charset="0"/>
                        <a:ea typeface="Carlito" charset="0"/>
                        <a:cs typeface="Carlito" charset="0"/>
                      </a:endParaRPr>
                    </a:p>
                  </a:txBody>
                  <a:tcPr marL="71438" marR="85725" marT="128588"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2EEE3"/>
                    </a:solidFill>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Partial</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C9A227">
                        <a:alpha val="12000"/>
                      </a:srgbClr>
                    </a:solidFill>
                  </a:tcPr>
                </a:tc>
                <a:extLst>
                  <a:ext uri="{0D108BD9-81ED-4DB2-BD59-A6C34878D82A}">
                    <a16:rowId xmlns:a16="http://schemas.microsoft.com/office/drawing/2014/main" val="10004"/>
                  </a:ext>
                </a:extLst>
              </a:tr>
              <a:tr h="0">
                <a:tc>
                  <a:txBody>
                    <a:bodyPr/>
                    <a:lstStyle/>
                    <a:p>
                      <a:pPr marL="0" indent="0" algn="l">
                        <a:buNone/>
                      </a:pPr>
                      <a:r>
                        <a:rPr lang="en-US" sz="800" dirty="0">
                          <a:solidFill>
                            <a:srgbClr val="0F2A4A"/>
                          </a:solidFill>
                          <a:latin typeface="Carlito" pitchFamily="34" charset="0"/>
                          <a:ea typeface="Carlito" pitchFamily="34" charset="-122"/>
                          <a:cs typeface="Carlito" pitchFamily="34" charset="-120"/>
                        </a:rPr>
                        <a:t>One-tap emergency alert</a:t>
                      </a:r>
                      <a:endParaRPr lang="en-US" sz="800" dirty="0">
                        <a:latin typeface="Carlito" charset="0"/>
                        <a:ea typeface="Carlito" charset="0"/>
                        <a:cs typeface="Carlito" charset="0"/>
                      </a:endParaRPr>
                    </a:p>
                  </a:txBody>
                  <a:tcPr marL="71438" marR="85725" marT="128588"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2EEE3"/>
                    </a:solidFill>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C9A227">
                        <a:alpha val="12000"/>
                      </a:srgbClr>
                    </a:solidFill>
                  </a:tcPr>
                </a:tc>
                <a:extLst>
                  <a:ext uri="{0D108BD9-81ED-4DB2-BD59-A6C34878D82A}">
                    <a16:rowId xmlns:a16="http://schemas.microsoft.com/office/drawing/2014/main" val="10005"/>
                  </a:ext>
                </a:extLst>
              </a:tr>
              <a:tr h="0">
                <a:tc>
                  <a:txBody>
                    <a:bodyPr/>
                    <a:lstStyle/>
                    <a:p>
                      <a:pPr marL="0" indent="0" algn="l">
                        <a:buNone/>
                      </a:pPr>
                      <a:r>
                        <a:rPr lang="en-US" sz="800" dirty="0">
                          <a:solidFill>
                            <a:srgbClr val="0F2A4A"/>
                          </a:solidFill>
                          <a:latin typeface="Carlito" pitchFamily="34" charset="0"/>
                          <a:ea typeface="Carlito" pitchFamily="34" charset="-122"/>
                          <a:cs typeface="Carlito" pitchFamily="34" charset="-120"/>
                        </a:rPr>
                        <a:t>Elderly-first UI</a:t>
                      </a:r>
                      <a:endParaRPr lang="en-US" sz="800" dirty="0">
                        <a:latin typeface="Carlito" charset="0"/>
                        <a:ea typeface="Carlito" charset="0"/>
                        <a:cs typeface="Carlito" charset="0"/>
                      </a:endParaRPr>
                    </a:p>
                  </a:txBody>
                  <a:tcPr marL="71438" marR="85725" marT="128588"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2EEE3"/>
                    </a:solidFill>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Partial</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Partial</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C9A227">
                        <a:alpha val="12000"/>
                      </a:srgbClr>
                    </a:solidFill>
                  </a:tcPr>
                </a:tc>
                <a:extLst>
                  <a:ext uri="{0D108BD9-81ED-4DB2-BD59-A6C34878D82A}">
                    <a16:rowId xmlns:a16="http://schemas.microsoft.com/office/drawing/2014/main" val="10006"/>
                  </a:ext>
                </a:extLst>
              </a:tr>
            </a:tbl>
          </a:graphicData>
        </a:graphic>
      </p:graphicFrame>
      <p:sp>
        <p:nvSpPr>
          <p:cNvPr id="11" name="Text 8"/>
          <p:cNvSpPr/>
          <p:nvPr/>
        </p:nvSpPr>
        <p:spPr>
          <a:xfrm>
            <a:off x="514350" y="3750357"/>
            <a:ext cx="8115300" cy="527521"/>
          </a:xfrm>
          <a:prstGeom prst="roundRect">
            <a:avLst>
              <a:gd name="adj" fmla="val 14445"/>
            </a:avLst>
          </a:prstGeom>
          <a:solidFill>
            <a:srgbClr val="0F2A4A"/>
          </a:solidFill>
          <a:ln/>
        </p:spPr>
        <p:txBody>
          <a:bodyPr wrap="square" rtlCol="0" anchor="ctr"/>
          <a:lstStyle/>
          <a:p>
            <a:pPr marL="0" indent="0">
              <a:buNone/>
            </a:pPr>
            <a:endParaRPr lang="en-US" dirty="0"/>
          </a:p>
        </p:txBody>
      </p:sp>
      <p:sp>
        <p:nvSpPr>
          <p:cNvPr id="12" name="Text 9"/>
          <p:cNvSpPr/>
          <p:nvPr/>
        </p:nvSpPr>
        <p:spPr>
          <a:xfrm>
            <a:off x="671513" y="3878945"/>
            <a:ext cx="157163" cy="157163"/>
          </a:xfrm>
          <a:prstGeom prst="rect">
            <a:avLst/>
          </a:prstGeom>
          <a:noFill/>
          <a:ln/>
        </p:spPr>
        <p:txBody>
          <a:bodyPr wrap="none" lIns="0" tIns="0" rIns="0" bIns="0" rtlCol="0" anchor="ctr"/>
          <a:lstStyle/>
          <a:p>
            <a:pPr marL="0" indent="0" algn="ctr">
              <a:buNone/>
            </a:pPr>
            <a:r>
              <a:rPr lang="en-US" sz="1547" dirty="0">
                <a:solidFill>
                  <a:srgbClr val="C9A227"/>
                </a:solidFill>
                <a:latin typeface="Segoe UI Symbol" pitchFamily="34" charset="0"/>
                <a:ea typeface="Segoe UI Symbol" pitchFamily="34" charset="-122"/>
                <a:cs typeface="Segoe UI Symbol" pitchFamily="34" charset="-120"/>
              </a:rPr>
              <a:t>◆</a:t>
            </a:r>
            <a:endParaRPr lang="en-US" sz="1547" dirty="0"/>
          </a:p>
        </p:txBody>
      </p:sp>
      <p:sp>
        <p:nvSpPr>
          <p:cNvPr id="13" name="Text 10"/>
          <p:cNvSpPr/>
          <p:nvPr/>
        </p:nvSpPr>
        <p:spPr>
          <a:xfrm>
            <a:off x="914400" y="3864657"/>
            <a:ext cx="7558088" cy="298921"/>
          </a:xfrm>
          <a:prstGeom prst="rect">
            <a:avLst/>
          </a:prstGeom>
          <a:noFill/>
          <a:ln/>
        </p:spPr>
        <p:txBody>
          <a:bodyPr wrap="square" lIns="0" tIns="0" rIns="0" bIns="0" rtlCol="0" anchor="t"/>
          <a:lstStyle/>
          <a:p>
            <a:pPr marL="0" indent="0" algn="l">
              <a:lnSpc>
                <a:spcPts val="1177"/>
              </a:lnSpc>
              <a:buNone/>
            </a:pPr>
            <a:r>
              <a:rPr lang="en-US" sz="800" dirty="0">
                <a:solidFill>
                  <a:srgbClr val="FFFFFF"/>
                </a:solidFill>
                <a:latin typeface="Carlito" pitchFamily="34" charset="0"/>
                <a:ea typeface="Carlito" pitchFamily="34" charset="-122"/>
                <a:cs typeface="Carlito" pitchFamily="34" charset="-120"/>
              </a:rPr>
              <a:t>Most existing apps focus on reminders and basic tracking. Drug-interaction support is shallow, AI guidance is absent, and emergency response is universally missing. MedWise integrates all six capabilities into a single elderly-first experience.</a:t>
            </a:r>
            <a:endParaRPr lang="en-US" sz="800" dirty="0"/>
          </a:p>
        </p:txBody>
      </p:sp>
      <p:sp>
        <p:nvSpPr>
          <p:cNvPr id="14" name="Text 11"/>
          <p:cNvSpPr/>
          <p:nvPr/>
        </p:nvSpPr>
        <p:spPr>
          <a:xfrm>
            <a:off x="514350" y="4897041"/>
            <a:ext cx="7361523" cy="117872"/>
          </a:xfrm>
          <a:prstGeom prst="rect">
            <a:avLst/>
          </a:prstGeom>
          <a:noFill/>
          <a:ln/>
        </p:spPr>
        <p:txBody>
          <a:bodyPr wrap="square" lIns="0" tIns="0" rIns="0" bIns="0" rtlCol="0" anchor="t"/>
          <a:lstStyle/>
          <a:p>
            <a:pPr marL="0" indent="0" algn="l">
              <a:lnSpc>
                <a:spcPts val="928"/>
              </a:lnSpc>
              <a:buNone/>
            </a:pPr>
            <a:r>
              <a:rPr lang="en-US" sz="800" kern="0" spc="74"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15" name="Text 12"/>
          <p:cNvSpPr/>
          <p:nvPr/>
        </p:nvSpPr>
        <p:spPr>
          <a:xfrm>
            <a:off x="7890160" y="4897041"/>
            <a:ext cx="739490" cy="117872"/>
          </a:xfrm>
          <a:prstGeom prst="rect">
            <a:avLst/>
          </a:prstGeom>
          <a:noFill/>
          <a:ln/>
        </p:spPr>
        <p:txBody>
          <a:bodyPr wrap="none" lIns="0" tIns="0" rIns="0" bIns="0" rtlCol="0" anchor="t"/>
          <a:lstStyle/>
          <a:p>
            <a:pPr marL="0" indent="0" algn="l">
              <a:lnSpc>
                <a:spcPts val="928"/>
              </a:lnSpc>
              <a:buNone/>
            </a:pPr>
            <a:r>
              <a:rPr lang="en-US" sz="800" kern="0" spc="74" dirty="0">
                <a:solidFill>
                  <a:srgbClr val="7A8AA0"/>
                </a:solidFill>
                <a:latin typeface="Carlito" pitchFamily="34" charset="0"/>
                <a:ea typeface="Carlito" pitchFamily="34" charset="-122"/>
                <a:cs typeface="Carlito" pitchFamily="34" charset="-120"/>
              </a:rPr>
              <a:t>RELATED WORK</a:t>
            </a:r>
            <a:endParaRPr lang="en-US" sz="8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presetID="10" presetClass="entr" presetSubtype="0" fill="hold"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300"/>
                            <p:tgtEl>
                              <p:spTgt spid="2"/>
                            </p:tgtEl>
                          </p:cBhvr>
                        </p:animEffect>
                      </p:childTnLst>
                    </p:cTn>
                  </p:par>
                  <p:par>
                    <p:cTn id="6" presetID="10" presetClass="entr" presetSubtype="0" fill="hold" nodeType="afterEffect">
                      <p:stCondLst>
                        <p:cond delay="15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300"/>
                            <p:tgtEl>
                              <p:spTgt spid="3"/>
                            </p:tgtEl>
                          </p:cBhvr>
                        </p:animEffect>
                      </p:childTnLst>
                    </p:cTn>
                  </p:par>
                  <p:par>
                    <p:cTn id="9" presetID="10" presetClass="entr" presetSubtype="0" fill="hold" nodeType="afterEffect">
                      <p:stCondLst>
                        <p:cond delay="15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300"/>
                            <p:tgtEl>
                              <p:spTgt spid="4"/>
                            </p:tgtEl>
                          </p:cBhvr>
                        </p:animEffect>
                      </p:childTnLst>
                    </p:cTn>
                  </p:par>
                  <p:par>
                    <p:cTn id="12" presetID="10" presetClass="entr" presetSubtype="0" fill="hold" nodeType="afterEffect">
                      <p:stCondLst>
                        <p:cond delay="15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300"/>
                            <p:tgtEl>
                              <p:spTgt spid="5"/>
                            </p:tgtEl>
                          </p:cBhvr>
                        </p:animEffect>
                      </p:childTnLst>
                    </p:cTn>
                  </p:par>
                  <p:par>
                    <p:cTn id="15" presetID="10" presetClass="entr" presetSubtype="0" fill="hold" nodeType="afterEffect">
                      <p:stCondLst>
                        <p:cond delay="15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300"/>
                            <p:tgtEl>
                              <p:spTgt spid="6"/>
                            </p:tgtEl>
                          </p:cBhvr>
                        </p:animEffect>
                      </p:childTnLst>
                    </p:cTn>
                  </p:par>
                  <p:par>
                    <p:cTn id="18" presetID="10" presetClass="entr" presetSubtype="0" fill="hold" nodeType="afterEffect">
                      <p:stCondLst>
                        <p:cond delay="15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300"/>
                            <p:tgtEl>
                              <p:spTgt spid="7"/>
                            </p:tgtEl>
                          </p:cBhvr>
                        </p:animEffect>
                      </p:childTnLst>
                    </p:cTn>
                  </p:par>
                  <p:par>
                    <p:cTn id="21" presetID="10" presetClass="entr" presetSubtype="0" fill="hold" nodeType="afterEffect">
                      <p:stCondLst>
                        <p:cond delay="1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afterEffect">
                      <p:stCondLst>
                        <p:cond delay="15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300"/>
                            <p:tgtEl>
                              <p:spTgt spid="9"/>
                            </p:tgtEl>
                          </p:cBhvr>
                        </p:animEffect>
                      </p:childTnLst>
                    </p:cTn>
                  </p:par>
                  <p:par>
                    <p:cTn id="27" presetID="10" presetClass="entr" presetSubtype="0" fill="hold" nodeType="afterEffect">
                      <p:stCondLst>
                        <p:cond delay="15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300"/>
                            <p:tgtEl>
                              <p:spTgt spid="11"/>
                            </p:tgtEl>
                          </p:cBhvr>
                        </p:animEffect>
                      </p:childTnLst>
                    </p:cTn>
                  </p:par>
                  <p:par>
                    <p:cTn id="30" presetID="10" presetClass="entr" presetSubtype="0" fill="hold" nodeType="afterEffect">
                      <p:stCondLst>
                        <p:cond delay="15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300"/>
                            <p:tgtEl>
                              <p:spTgt spid="12"/>
                            </p:tgtEl>
                          </p:cBhvr>
                        </p:animEffect>
                      </p:childTnLst>
                    </p:cTn>
                  </p:par>
                  <p:par>
                    <p:cTn id="33" presetID="10" presetClass="entr" presetSubtype="0" fill="hold" nodeType="afterEffect">
                      <p:stCondLst>
                        <p:cond delay="15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300"/>
                            <p:tgtEl>
                              <p:spTgt spid="13"/>
                            </p:tgtEl>
                          </p:cBhvr>
                        </p:animEffect>
                      </p:childTnLst>
                    </p:cTn>
                  </p:par>
                  <p:par>
                    <p:cTn id="36" presetID="10" presetClass="entr" presetSubtype="0" fill="hold" nodeType="afterEffect">
                      <p:stCondLst>
                        <p:cond delay="15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300"/>
                            <p:tgtEl>
                              <p:spTgt spid="14"/>
                            </p:tgtEl>
                          </p:cBhvr>
                        </p:animEffect>
                      </p:childTnLst>
                    </p:cTn>
                  </p:par>
                  <p:par>
                    <p:cTn id="39" presetID="10" presetClass="entr" presetSubtype="0" fill="hold" nodeType="afterEffect">
                      <p:stCondLst>
                        <p:cond delay="15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300"/>
                            <p:tgtEl>
                              <p:spTgt spid="15"/>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457200" y="517922"/>
            <a:ext cx="8229600" cy="0"/>
          </a:xfrm>
          <a:prstGeom prst="line">
            <a:avLst/>
          </a:prstGeom>
          <a:noFill/>
          <a:ln w="7144">
            <a:solidFill>
              <a:srgbClr val="D9D2BC"/>
            </a:solidFill>
            <a:prstDash val="solid"/>
          </a:ln>
        </p:spPr>
      </p:sp>
      <p:sp>
        <p:nvSpPr>
          <p:cNvPr id="3" name="Shape 1"/>
          <p:cNvSpPr/>
          <p:nvPr/>
        </p:nvSpPr>
        <p:spPr>
          <a:xfrm>
            <a:off x="514350" y="4793456"/>
            <a:ext cx="8115300" cy="0"/>
          </a:xfrm>
          <a:prstGeom prst="line">
            <a:avLst/>
          </a:prstGeom>
          <a:noFill/>
          <a:ln w="7144">
            <a:solidFill>
              <a:srgbClr val="D9D2BC"/>
            </a:solidFill>
            <a:prstDash val="solid"/>
          </a:ln>
        </p:spPr>
      </p:sp>
      <p:sp>
        <p:nvSpPr>
          <p:cNvPr id="4" name="Text 2"/>
          <p:cNvSpPr/>
          <p:nvPr/>
        </p:nvSpPr>
        <p:spPr>
          <a:xfrm>
            <a:off x="457200" y="285750"/>
            <a:ext cx="779394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05 · PROPOSED SYSTEM</a:t>
            </a:r>
            <a:endParaRPr lang="en-US" sz="800" dirty="0"/>
          </a:p>
        </p:txBody>
      </p:sp>
      <p:sp>
        <p:nvSpPr>
          <p:cNvPr id="5" name="Text 3"/>
          <p:cNvSpPr/>
          <p:nvPr/>
        </p:nvSpPr>
        <p:spPr>
          <a:xfrm>
            <a:off x="8265430" y="285750"/>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07 / 21</a:t>
            </a:r>
            <a:endParaRPr lang="en-US" sz="800" dirty="0"/>
          </a:p>
        </p:txBody>
      </p:sp>
      <p:sp>
        <p:nvSpPr>
          <p:cNvPr id="6" name="Text 4"/>
          <p:cNvSpPr/>
          <p:nvPr/>
        </p:nvSpPr>
        <p:spPr>
          <a:xfrm>
            <a:off x="457200" y="721519"/>
            <a:ext cx="4400550" cy="532352"/>
          </a:xfrm>
          <a:prstGeom prst="rect">
            <a:avLst/>
          </a:prstGeom>
          <a:noFill/>
          <a:ln/>
        </p:spPr>
        <p:txBody>
          <a:bodyPr wrap="square" lIns="0" tIns="0" rIns="0" bIns="0" rtlCol="0" anchor="t"/>
          <a:lstStyle/>
          <a:p>
            <a:pPr marL="0" indent="0" algn="l">
              <a:lnSpc>
                <a:spcPts val="1941"/>
              </a:lnSpc>
              <a:buNone/>
            </a:pPr>
            <a:r>
              <a:rPr lang="en-US" sz="1688" b="1" kern="0" spc="-17" dirty="0">
                <a:solidFill>
                  <a:srgbClr val="0F2A4A"/>
                </a:solidFill>
                <a:latin typeface="Tinos" pitchFamily="34" charset="0"/>
                <a:ea typeface="Tinos" pitchFamily="34" charset="-122"/>
                <a:cs typeface="Tinos" pitchFamily="34" charset="-120"/>
              </a:rPr>
              <a:t>MedWise — one platform, six connected modules</a:t>
            </a:r>
            <a:endParaRPr lang="en-US" sz="1688" dirty="0"/>
          </a:p>
        </p:txBody>
      </p:sp>
      <p:sp>
        <p:nvSpPr>
          <p:cNvPr id="7" name="Text 5"/>
          <p:cNvSpPr/>
          <p:nvPr/>
        </p:nvSpPr>
        <p:spPr>
          <a:xfrm>
            <a:off x="457200" y="1300163"/>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8" name="Text 6"/>
          <p:cNvSpPr/>
          <p:nvPr/>
        </p:nvSpPr>
        <p:spPr>
          <a:xfrm>
            <a:off x="457200" y="1435894"/>
            <a:ext cx="4000500" cy="849902"/>
          </a:xfrm>
          <a:prstGeom prst="rect">
            <a:avLst/>
          </a:prstGeom>
          <a:noFill/>
          <a:ln/>
        </p:spPr>
        <p:txBody>
          <a:bodyPr wrap="square" lIns="0" tIns="0" rIns="0" bIns="0" rtlCol="0" anchor="t"/>
          <a:lstStyle/>
          <a:p>
            <a:pPr marL="0" indent="0" algn="l">
              <a:lnSpc>
                <a:spcPts val="1221"/>
              </a:lnSpc>
              <a:buNone/>
            </a:pPr>
            <a:r>
              <a:rPr lang="en-US" sz="800" dirty="0">
                <a:solidFill>
                  <a:srgbClr val="0F2A4A"/>
                </a:solidFill>
                <a:latin typeface="Carlito" pitchFamily="34" charset="0"/>
                <a:ea typeface="Carlito" pitchFamily="34" charset="-122"/>
                <a:cs typeface="Carlito" pitchFamily="34" charset="-120"/>
              </a:rPr>
              <a:t>MedWise is a single web application that places the patient at the center and wraps them with a safety net of automated checks, reminders, family visibility, and emergency response. Every module talks to a shared profile and a shared medication list, so data never has to be re-entered and interactions are checked across the full regimen.</a:t>
            </a:r>
            <a:endParaRPr lang="en-US" sz="800" dirty="0"/>
          </a:p>
        </p:txBody>
      </p:sp>
      <p:sp>
        <p:nvSpPr>
          <p:cNvPr id="9" name="Text 7"/>
          <p:cNvSpPr/>
          <p:nvPr/>
        </p:nvSpPr>
        <p:spPr>
          <a:xfrm>
            <a:off x="460772" y="2356991"/>
            <a:ext cx="2150269" cy="537344"/>
          </a:xfrm>
          <a:prstGeom prst="roundRect">
            <a:avLst>
              <a:gd name="adj" fmla="val 14181"/>
            </a:avLst>
          </a:prstGeom>
          <a:solidFill>
            <a:srgbClr val="FFFFFF"/>
          </a:solidFill>
          <a:ln w="7144">
            <a:solidFill>
              <a:srgbClr val="D9D2BC"/>
            </a:solidFill>
            <a:prstDash val="solid"/>
          </a:ln>
          <a:effectLst>
            <a:outerShdw blurRad="19050" dist="9525" dir="5400000" algn="bl" rotWithShape="0">
              <a:srgbClr val="0F2A4A">
                <a:alpha val="4000"/>
              </a:srgbClr>
            </a:outerShdw>
          </a:effectLst>
        </p:spPr>
        <p:txBody>
          <a:bodyPr wrap="square" rtlCol="0" anchor="ctr"/>
          <a:lstStyle/>
          <a:p>
            <a:pPr marL="0" indent="0">
              <a:buNone/>
            </a:pPr>
            <a:endParaRPr lang="en-US" dirty="0"/>
          </a:p>
        </p:txBody>
      </p:sp>
      <p:sp>
        <p:nvSpPr>
          <p:cNvPr id="10" name="Text 8"/>
          <p:cNvSpPr/>
          <p:nvPr/>
        </p:nvSpPr>
        <p:spPr>
          <a:xfrm>
            <a:off x="564356" y="2446288"/>
            <a:ext cx="228600" cy="228600"/>
          </a:xfrm>
          <a:prstGeom prst="roundRect">
            <a:avLst>
              <a:gd name="adj" fmla="val 25000"/>
            </a:avLst>
          </a:prstGeom>
          <a:solidFill>
            <a:srgbClr val="C9A227">
              <a:alpha val="12000"/>
            </a:srgbClr>
          </a:solidFill>
          <a:ln/>
        </p:spPr>
        <p:txBody>
          <a:bodyPr wrap="square" rtlCol="0" anchor="ctr"/>
          <a:lstStyle/>
          <a:p>
            <a:pPr marL="0" indent="0">
              <a:buNone/>
            </a:pPr>
            <a:endParaRPr lang="en-US" dirty="0"/>
          </a:p>
        </p:txBody>
      </p:sp>
      <p:sp>
        <p:nvSpPr>
          <p:cNvPr id="11" name="Text 9"/>
          <p:cNvSpPr/>
          <p:nvPr/>
        </p:nvSpPr>
        <p:spPr>
          <a:xfrm>
            <a:off x="575072" y="2457004"/>
            <a:ext cx="207169" cy="207169"/>
          </a:xfrm>
          <a:prstGeom prst="rect">
            <a:avLst/>
          </a:prstGeom>
          <a:noFill/>
          <a:ln/>
        </p:spPr>
        <p:txBody>
          <a:bodyPr wrap="none" lIns="0" tIns="0" rIns="0" bIns="0" rtlCol="0" anchor="ctr"/>
          <a:lstStyle/>
          <a:p>
            <a:pPr marL="0" indent="0" algn="ctr">
              <a:buNone/>
            </a:pPr>
            <a:r>
              <a:rPr lang="en-US" sz="1406" dirty="0">
                <a:solidFill>
                  <a:srgbClr val="8C6F12"/>
                </a:solidFill>
                <a:latin typeface="Segoe UI Symbol" pitchFamily="34" charset="0"/>
                <a:ea typeface="Segoe UI Symbol" pitchFamily="34" charset="-122"/>
                <a:cs typeface="Segoe UI Symbol" pitchFamily="34" charset="-120"/>
              </a:rPr>
              <a:t>◯</a:t>
            </a:r>
            <a:endParaRPr lang="en-US" sz="1406" dirty="0"/>
          </a:p>
        </p:txBody>
      </p:sp>
      <p:sp>
        <p:nvSpPr>
          <p:cNvPr id="12" name="Text 10"/>
          <p:cNvSpPr/>
          <p:nvPr/>
        </p:nvSpPr>
        <p:spPr>
          <a:xfrm>
            <a:off x="864394" y="2446288"/>
            <a:ext cx="1643063" cy="109639"/>
          </a:xfrm>
          <a:prstGeom prst="rect">
            <a:avLst/>
          </a:prstGeom>
          <a:noFill/>
          <a:ln/>
        </p:spPr>
        <p:txBody>
          <a:bodyPr wrap="none" lIns="0" tIns="0" rIns="0" bIns="0" rtlCol="0" anchor="t">
            <a:normAutofit fontScale="92500"/>
          </a:bodyPr>
          <a:lstStyle/>
          <a:p>
            <a:pPr marL="0" indent="0" algn="l">
              <a:lnSpc>
                <a:spcPts val="911"/>
              </a:lnSpc>
              <a:buNone/>
            </a:pPr>
            <a:r>
              <a:rPr lang="en-US" sz="800" b="1" dirty="0">
                <a:solidFill>
                  <a:srgbClr val="0F2A4A"/>
                </a:solidFill>
                <a:latin typeface="Carlito" pitchFamily="34" charset="0"/>
                <a:ea typeface="Carlito" pitchFamily="34" charset="-122"/>
                <a:cs typeface="Carlito" pitchFamily="34" charset="-120"/>
              </a:rPr>
              <a:t>Medication Tracking</a:t>
            </a:r>
            <a:endParaRPr lang="en-US" sz="800" dirty="0"/>
          </a:p>
        </p:txBody>
      </p:sp>
      <p:sp>
        <p:nvSpPr>
          <p:cNvPr id="13" name="Text 11"/>
          <p:cNvSpPr/>
          <p:nvPr/>
        </p:nvSpPr>
        <p:spPr>
          <a:xfrm>
            <a:off x="864394" y="2583359"/>
            <a:ext cx="1643063" cy="221679"/>
          </a:xfrm>
          <a:prstGeom prst="rect">
            <a:avLst/>
          </a:prstGeom>
          <a:noFill/>
          <a:ln/>
        </p:spPr>
        <p:txBody>
          <a:bodyPr wrap="square" lIns="0" tIns="0" rIns="0" bIns="0" rtlCol="0" anchor="t"/>
          <a:lstStyle/>
          <a:p>
            <a:pPr marL="0" indent="0" algn="l">
              <a:lnSpc>
                <a:spcPts val="873"/>
              </a:lnSpc>
              <a:buNone/>
            </a:pPr>
            <a:r>
              <a:rPr lang="en-US" sz="800" dirty="0">
                <a:solidFill>
                  <a:srgbClr val="4A5A75"/>
                </a:solidFill>
                <a:latin typeface="Carlito" pitchFamily="34" charset="0"/>
                <a:ea typeface="Carlito" pitchFamily="34" charset="-122"/>
                <a:cs typeface="Carlito" pitchFamily="34" charset="-120"/>
              </a:rPr>
              <a:t>CRUD over a per-user medication list with active-ingredient lookup.</a:t>
            </a:r>
            <a:endParaRPr lang="en-US" sz="800" dirty="0"/>
          </a:p>
        </p:txBody>
      </p:sp>
      <p:sp>
        <p:nvSpPr>
          <p:cNvPr id="14" name="Text 12"/>
          <p:cNvSpPr/>
          <p:nvPr/>
        </p:nvSpPr>
        <p:spPr>
          <a:xfrm>
            <a:off x="2703909" y="2356990"/>
            <a:ext cx="2104065" cy="602781"/>
          </a:xfrm>
          <a:prstGeom prst="roundRect">
            <a:avLst>
              <a:gd name="adj" fmla="val 14181"/>
            </a:avLst>
          </a:prstGeom>
          <a:solidFill>
            <a:srgbClr val="FFFFFF"/>
          </a:solidFill>
          <a:ln w="7144">
            <a:solidFill>
              <a:srgbClr val="D9D2BC"/>
            </a:solidFill>
            <a:prstDash val="solid"/>
          </a:ln>
          <a:effectLst>
            <a:outerShdw blurRad="19050" dist="9525" dir="5400000" algn="bl" rotWithShape="0">
              <a:srgbClr val="0F2A4A">
                <a:alpha val="4000"/>
              </a:srgbClr>
            </a:outerShdw>
          </a:effectLst>
        </p:spPr>
        <p:txBody>
          <a:bodyPr wrap="square" rtlCol="0" anchor="ctr"/>
          <a:lstStyle/>
          <a:p>
            <a:pPr marL="0" indent="0">
              <a:buNone/>
            </a:pPr>
            <a:endParaRPr lang="en-US" dirty="0"/>
          </a:p>
        </p:txBody>
      </p:sp>
      <p:sp>
        <p:nvSpPr>
          <p:cNvPr id="15" name="Text 13"/>
          <p:cNvSpPr/>
          <p:nvPr/>
        </p:nvSpPr>
        <p:spPr>
          <a:xfrm>
            <a:off x="2807494" y="2446288"/>
            <a:ext cx="228600" cy="228600"/>
          </a:xfrm>
          <a:prstGeom prst="roundRect">
            <a:avLst>
              <a:gd name="adj" fmla="val 25000"/>
            </a:avLst>
          </a:prstGeom>
          <a:solidFill>
            <a:srgbClr val="C9A227">
              <a:alpha val="12000"/>
            </a:srgbClr>
          </a:solidFill>
          <a:ln/>
        </p:spPr>
        <p:txBody>
          <a:bodyPr wrap="square" rtlCol="0" anchor="ctr"/>
          <a:lstStyle/>
          <a:p>
            <a:pPr marL="0" indent="0">
              <a:buNone/>
            </a:pPr>
            <a:endParaRPr lang="en-US" dirty="0"/>
          </a:p>
        </p:txBody>
      </p:sp>
      <p:sp>
        <p:nvSpPr>
          <p:cNvPr id="16" name="Text 14"/>
          <p:cNvSpPr/>
          <p:nvPr/>
        </p:nvSpPr>
        <p:spPr>
          <a:xfrm>
            <a:off x="2818209" y="2457004"/>
            <a:ext cx="207169" cy="207169"/>
          </a:xfrm>
          <a:prstGeom prst="rect">
            <a:avLst/>
          </a:prstGeom>
          <a:noFill/>
          <a:ln/>
        </p:spPr>
        <p:txBody>
          <a:bodyPr wrap="none" lIns="0" tIns="0" rIns="0" bIns="0" rtlCol="0" anchor="ctr"/>
          <a:lstStyle/>
          <a:p>
            <a:pPr marL="0" indent="0" algn="ctr">
              <a:buNone/>
            </a:pPr>
            <a:r>
              <a:rPr lang="en-US" sz="1406" dirty="0">
                <a:solidFill>
                  <a:srgbClr val="8C6F12"/>
                </a:solidFill>
                <a:latin typeface="Segoe UI Symbol" pitchFamily="34" charset="0"/>
                <a:ea typeface="Segoe UI Symbol" pitchFamily="34" charset="-122"/>
                <a:cs typeface="Segoe UI Symbol" pitchFamily="34" charset="-120"/>
              </a:rPr>
              <a:t>⚠</a:t>
            </a:r>
            <a:endParaRPr lang="en-US" sz="1406" dirty="0"/>
          </a:p>
        </p:txBody>
      </p:sp>
      <p:sp>
        <p:nvSpPr>
          <p:cNvPr id="17" name="Text 15"/>
          <p:cNvSpPr/>
          <p:nvPr/>
        </p:nvSpPr>
        <p:spPr>
          <a:xfrm>
            <a:off x="3107531" y="2446288"/>
            <a:ext cx="1643063" cy="109639"/>
          </a:xfrm>
          <a:prstGeom prst="rect">
            <a:avLst/>
          </a:prstGeom>
          <a:noFill/>
          <a:ln/>
        </p:spPr>
        <p:txBody>
          <a:bodyPr wrap="none" lIns="0" tIns="0" rIns="0" bIns="0" rtlCol="0" anchor="t">
            <a:normAutofit fontScale="92500"/>
          </a:bodyPr>
          <a:lstStyle/>
          <a:p>
            <a:pPr marL="0" indent="0" algn="l">
              <a:lnSpc>
                <a:spcPts val="911"/>
              </a:lnSpc>
              <a:buNone/>
            </a:pPr>
            <a:r>
              <a:rPr lang="en-US" sz="800" b="1" dirty="0">
                <a:solidFill>
                  <a:srgbClr val="0F2A4A"/>
                </a:solidFill>
                <a:latin typeface="Carlito" pitchFamily="34" charset="0"/>
                <a:ea typeface="Carlito" pitchFamily="34" charset="-122"/>
                <a:cs typeface="Carlito" pitchFamily="34" charset="-120"/>
              </a:rPr>
              <a:t>Interaction Check</a:t>
            </a:r>
            <a:endParaRPr lang="en-US" sz="800" dirty="0"/>
          </a:p>
        </p:txBody>
      </p:sp>
      <p:sp>
        <p:nvSpPr>
          <p:cNvPr id="18" name="Text 16"/>
          <p:cNvSpPr/>
          <p:nvPr/>
        </p:nvSpPr>
        <p:spPr>
          <a:xfrm>
            <a:off x="3107531" y="2583359"/>
            <a:ext cx="1643063" cy="221679"/>
          </a:xfrm>
          <a:prstGeom prst="rect">
            <a:avLst/>
          </a:prstGeom>
          <a:noFill/>
          <a:ln/>
        </p:spPr>
        <p:txBody>
          <a:bodyPr wrap="square" lIns="0" tIns="0" rIns="0" bIns="0" rtlCol="0" anchor="t"/>
          <a:lstStyle/>
          <a:p>
            <a:pPr marL="0" indent="0" algn="l">
              <a:lnSpc>
                <a:spcPts val="873"/>
              </a:lnSpc>
              <a:buNone/>
            </a:pPr>
            <a:r>
              <a:rPr lang="en-US" sz="800" dirty="0">
                <a:solidFill>
                  <a:srgbClr val="4A5A75"/>
                </a:solidFill>
                <a:latin typeface="Carlito" pitchFamily="34" charset="0"/>
                <a:ea typeface="Carlito" pitchFamily="34" charset="-122"/>
                <a:cs typeface="Carlito" pitchFamily="34" charset="-120"/>
              </a:rPr>
              <a:t>Compares active ingredients against a curated medical database.</a:t>
            </a:r>
            <a:endParaRPr lang="en-US" sz="800" dirty="0"/>
          </a:p>
        </p:txBody>
      </p:sp>
      <p:sp>
        <p:nvSpPr>
          <p:cNvPr id="19" name="Text 17"/>
          <p:cNvSpPr/>
          <p:nvPr/>
        </p:nvSpPr>
        <p:spPr>
          <a:xfrm>
            <a:off x="460772" y="2987204"/>
            <a:ext cx="2150269" cy="537344"/>
          </a:xfrm>
          <a:prstGeom prst="roundRect">
            <a:avLst>
              <a:gd name="adj" fmla="val 14181"/>
            </a:avLst>
          </a:prstGeom>
          <a:solidFill>
            <a:srgbClr val="FFFFFF"/>
          </a:solidFill>
          <a:ln w="7144">
            <a:solidFill>
              <a:srgbClr val="D9D2BC"/>
            </a:solidFill>
            <a:prstDash val="solid"/>
          </a:ln>
          <a:effectLst>
            <a:outerShdw blurRad="19050" dist="9525" dir="5400000" algn="bl" rotWithShape="0">
              <a:srgbClr val="0F2A4A">
                <a:alpha val="4000"/>
              </a:srgbClr>
            </a:outerShdw>
          </a:effectLst>
        </p:spPr>
        <p:txBody>
          <a:bodyPr wrap="square" rtlCol="0" anchor="ctr"/>
          <a:lstStyle/>
          <a:p>
            <a:pPr marL="0" indent="0">
              <a:buNone/>
            </a:pPr>
            <a:endParaRPr lang="en-US" dirty="0"/>
          </a:p>
        </p:txBody>
      </p:sp>
      <p:sp>
        <p:nvSpPr>
          <p:cNvPr id="20" name="Text 18"/>
          <p:cNvSpPr/>
          <p:nvPr/>
        </p:nvSpPr>
        <p:spPr>
          <a:xfrm>
            <a:off x="564356" y="3076501"/>
            <a:ext cx="228600" cy="228600"/>
          </a:xfrm>
          <a:prstGeom prst="roundRect">
            <a:avLst>
              <a:gd name="adj" fmla="val 25000"/>
            </a:avLst>
          </a:prstGeom>
          <a:solidFill>
            <a:srgbClr val="C9A227">
              <a:alpha val="12000"/>
            </a:srgbClr>
          </a:solidFill>
          <a:ln/>
        </p:spPr>
        <p:txBody>
          <a:bodyPr wrap="square" rtlCol="0" anchor="ctr"/>
          <a:lstStyle/>
          <a:p>
            <a:pPr marL="0" indent="0">
              <a:buNone/>
            </a:pPr>
            <a:endParaRPr lang="en-US" dirty="0"/>
          </a:p>
        </p:txBody>
      </p:sp>
      <p:sp>
        <p:nvSpPr>
          <p:cNvPr id="21" name="Text 19"/>
          <p:cNvSpPr/>
          <p:nvPr/>
        </p:nvSpPr>
        <p:spPr>
          <a:xfrm>
            <a:off x="575072" y="3087216"/>
            <a:ext cx="207169" cy="207169"/>
          </a:xfrm>
          <a:prstGeom prst="rect">
            <a:avLst/>
          </a:prstGeom>
          <a:noFill/>
          <a:ln/>
        </p:spPr>
        <p:txBody>
          <a:bodyPr wrap="none" lIns="0" tIns="0" rIns="0" bIns="0" rtlCol="0" anchor="ctr"/>
          <a:lstStyle/>
          <a:p>
            <a:pPr marL="0" indent="0" algn="ctr">
              <a:buNone/>
            </a:pPr>
            <a:r>
              <a:rPr lang="en-US" sz="1406" dirty="0">
                <a:solidFill>
                  <a:srgbClr val="8C6F12"/>
                </a:solidFill>
                <a:latin typeface="Segoe UI Symbol" pitchFamily="34" charset="0"/>
                <a:ea typeface="Segoe UI Symbol" pitchFamily="34" charset="-122"/>
                <a:cs typeface="Segoe UI Symbol" pitchFamily="34" charset="-120"/>
              </a:rPr>
              <a:t>◔</a:t>
            </a:r>
            <a:endParaRPr lang="en-US" sz="1406" dirty="0"/>
          </a:p>
        </p:txBody>
      </p:sp>
      <p:sp>
        <p:nvSpPr>
          <p:cNvPr id="22" name="Text 20"/>
          <p:cNvSpPr/>
          <p:nvPr/>
        </p:nvSpPr>
        <p:spPr>
          <a:xfrm>
            <a:off x="864394" y="3076501"/>
            <a:ext cx="1643063" cy="109639"/>
          </a:xfrm>
          <a:prstGeom prst="rect">
            <a:avLst/>
          </a:prstGeom>
          <a:noFill/>
          <a:ln/>
        </p:spPr>
        <p:txBody>
          <a:bodyPr wrap="none" lIns="0" tIns="0" rIns="0" bIns="0" rtlCol="0" anchor="t">
            <a:normAutofit fontScale="92500"/>
          </a:bodyPr>
          <a:lstStyle/>
          <a:p>
            <a:pPr marL="0" indent="0" algn="l">
              <a:lnSpc>
                <a:spcPts val="911"/>
              </a:lnSpc>
              <a:buNone/>
            </a:pPr>
            <a:r>
              <a:rPr lang="en-US" sz="800" b="1" dirty="0">
                <a:solidFill>
                  <a:srgbClr val="0F2A4A"/>
                </a:solidFill>
                <a:latin typeface="Carlito" pitchFamily="34" charset="0"/>
                <a:ea typeface="Carlito" pitchFamily="34" charset="-122"/>
                <a:cs typeface="Carlito" pitchFamily="34" charset="-120"/>
              </a:rPr>
              <a:t>Smart Reminders</a:t>
            </a:r>
            <a:endParaRPr lang="en-US" sz="800" dirty="0"/>
          </a:p>
        </p:txBody>
      </p:sp>
      <p:sp>
        <p:nvSpPr>
          <p:cNvPr id="23" name="Text 21"/>
          <p:cNvSpPr/>
          <p:nvPr/>
        </p:nvSpPr>
        <p:spPr>
          <a:xfrm>
            <a:off x="864394" y="3213571"/>
            <a:ext cx="1643063" cy="221679"/>
          </a:xfrm>
          <a:prstGeom prst="rect">
            <a:avLst/>
          </a:prstGeom>
          <a:noFill/>
          <a:ln/>
        </p:spPr>
        <p:txBody>
          <a:bodyPr wrap="square" lIns="0" tIns="0" rIns="0" bIns="0" rtlCol="0" anchor="t"/>
          <a:lstStyle/>
          <a:p>
            <a:pPr marL="0" indent="0" algn="l">
              <a:lnSpc>
                <a:spcPts val="873"/>
              </a:lnSpc>
              <a:buNone/>
            </a:pPr>
            <a:r>
              <a:rPr lang="en-US" sz="800" dirty="0">
                <a:solidFill>
                  <a:srgbClr val="4A5A75"/>
                </a:solidFill>
                <a:latin typeface="Carlito" pitchFamily="34" charset="0"/>
                <a:ea typeface="Carlito" pitchFamily="34" charset="-122"/>
                <a:cs typeface="Carlito" pitchFamily="34" charset="-120"/>
              </a:rPr>
              <a:t>Scheduled notifications, intake confirmation, adherence log.</a:t>
            </a:r>
            <a:endParaRPr lang="en-US" sz="800" dirty="0"/>
          </a:p>
        </p:txBody>
      </p:sp>
      <p:sp>
        <p:nvSpPr>
          <p:cNvPr id="24" name="Text 22"/>
          <p:cNvSpPr/>
          <p:nvPr/>
        </p:nvSpPr>
        <p:spPr>
          <a:xfrm>
            <a:off x="2703909" y="2987204"/>
            <a:ext cx="2150269" cy="537344"/>
          </a:xfrm>
          <a:prstGeom prst="roundRect">
            <a:avLst>
              <a:gd name="adj" fmla="val 14181"/>
            </a:avLst>
          </a:prstGeom>
          <a:solidFill>
            <a:srgbClr val="FFFFFF"/>
          </a:solidFill>
          <a:ln w="7144">
            <a:solidFill>
              <a:srgbClr val="D9D2BC"/>
            </a:solidFill>
            <a:prstDash val="solid"/>
          </a:ln>
          <a:effectLst>
            <a:outerShdw blurRad="19050" dist="9525" dir="5400000" algn="bl" rotWithShape="0">
              <a:srgbClr val="0F2A4A">
                <a:alpha val="4000"/>
              </a:srgbClr>
            </a:outerShdw>
          </a:effectLst>
        </p:spPr>
        <p:txBody>
          <a:bodyPr wrap="square" rtlCol="0" anchor="ctr"/>
          <a:lstStyle/>
          <a:p>
            <a:pPr marL="0" indent="0">
              <a:buNone/>
            </a:pPr>
            <a:endParaRPr lang="en-US" dirty="0"/>
          </a:p>
        </p:txBody>
      </p:sp>
      <p:sp>
        <p:nvSpPr>
          <p:cNvPr id="25" name="Text 23"/>
          <p:cNvSpPr/>
          <p:nvPr/>
        </p:nvSpPr>
        <p:spPr>
          <a:xfrm>
            <a:off x="2807494" y="3076501"/>
            <a:ext cx="228600" cy="228600"/>
          </a:xfrm>
          <a:prstGeom prst="roundRect">
            <a:avLst>
              <a:gd name="adj" fmla="val 25000"/>
            </a:avLst>
          </a:prstGeom>
          <a:solidFill>
            <a:srgbClr val="C9A227">
              <a:alpha val="12000"/>
            </a:srgbClr>
          </a:solidFill>
          <a:ln/>
        </p:spPr>
        <p:txBody>
          <a:bodyPr wrap="square" rtlCol="0" anchor="ctr"/>
          <a:lstStyle/>
          <a:p>
            <a:pPr marL="0" indent="0">
              <a:buNone/>
            </a:pPr>
            <a:endParaRPr lang="en-US" dirty="0"/>
          </a:p>
        </p:txBody>
      </p:sp>
      <p:sp>
        <p:nvSpPr>
          <p:cNvPr id="26" name="Text 24"/>
          <p:cNvSpPr/>
          <p:nvPr/>
        </p:nvSpPr>
        <p:spPr>
          <a:xfrm>
            <a:off x="2818209" y="3087216"/>
            <a:ext cx="207169" cy="207169"/>
          </a:xfrm>
          <a:prstGeom prst="rect">
            <a:avLst/>
          </a:prstGeom>
          <a:noFill/>
          <a:ln/>
        </p:spPr>
        <p:txBody>
          <a:bodyPr wrap="none" lIns="0" tIns="0" rIns="0" bIns="0" rtlCol="0" anchor="ctr"/>
          <a:lstStyle/>
          <a:p>
            <a:pPr marL="0" indent="0" algn="ctr">
              <a:buNone/>
            </a:pPr>
            <a:r>
              <a:rPr lang="en-US" sz="1406" dirty="0">
                <a:solidFill>
                  <a:srgbClr val="8C6F12"/>
                </a:solidFill>
                <a:latin typeface="Segoe UI Symbol" pitchFamily="34" charset="0"/>
                <a:ea typeface="Segoe UI Symbol" pitchFamily="34" charset="-122"/>
                <a:cs typeface="Segoe UI Symbol" pitchFamily="34" charset="-120"/>
              </a:rPr>
              <a:t>◉</a:t>
            </a:r>
            <a:endParaRPr lang="en-US" sz="1406" dirty="0"/>
          </a:p>
        </p:txBody>
      </p:sp>
      <p:sp>
        <p:nvSpPr>
          <p:cNvPr id="27" name="Text 25"/>
          <p:cNvSpPr/>
          <p:nvPr/>
        </p:nvSpPr>
        <p:spPr>
          <a:xfrm>
            <a:off x="3107531" y="3076501"/>
            <a:ext cx="1643063" cy="109639"/>
          </a:xfrm>
          <a:prstGeom prst="rect">
            <a:avLst/>
          </a:prstGeom>
          <a:noFill/>
          <a:ln/>
        </p:spPr>
        <p:txBody>
          <a:bodyPr wrap="none" lIns="0" tIns="0" rIns="0" bIns="0" rtlCol="0" anchor="t">
            <a:normAutofit fontScale="92500"/>
          </a:bodyPr>
          <a:lstStyle/>
          <a:p>
            <a:pPr marL="0" indent="0" algn="l">
              <a:lnSpc>
                <a:spcPts val="911"/>
              </a:lnSpc>
              <a:buNone/>
            </a:pPr>
            <a:r>
              <a:rPr lang="en-US" sz="800" b="1" dirty="0">
                <a:solidFill>
                  <a:srgbClr val="0F2A4A"/>
                </a:solidFill>
                <a:latin typeface="Carlito" pitchFamily="34" charset="0"/>
                <a:ea typeface="Carlito" pitchFamily="34" charset="-122"/>
                <a:cs typeface="Carlito" pitchFamily="34" charset="-120"/>
              </a:rPr>
              <a:t>Caregiver Monitoring</a:t>
            </a:r>
            <a:endParaRPr lang="en-US" sz="800" dirty="0"/>
          </a:p>
        </p:txBody>
      </p:sp>
      <p:sp>
        <p:nvSpPr>
          <p:cNvPr id="28" name="Text 26"/>
          <p:cNvSpPr/>
          <p:nvPr/>
        </p:nvSpPr>
        <p:spPr>
          <a:xfrm>
            <a:off x="3107531" y="3213571"/>
            <a:ext cx="1643063" cy="221679"/>
          </a:xfrm>
          <a:prstGeom prst="rect">
            <a:avLst/>
          </a:prstGeom>
          <a:noFill/>
          <a:ln/>
        </p:spPr>
        <p:txBody>
          <a:bodyPr wrap="square" lIns="0" tIns="0" rIns="0" bIns="0" rtlCol="0" anchor="t"/>
          <a:lstStyle/>
          <a:p>
            <a:pPr marL="0" indent="0" algn="l">
              <a:lnSpc>
                <a:spcPts val="873"/>
              </a:lnSpc>
              <a:buNone/>
            </a:pPr>
            <a:r>
              <a:rPr lang="en-US" sz="800" dirty="0">
                <a:solidFill>
                  <a:srgbClr val="4A5A75"/>
                </a:solidFill>
                <a:latin typeface="Carlito" pitchFamily="34" charset="0"/>
                <a:ea typeface="Carlito" pitchFamily="34" charset="-122"/>
                <a:cs typeface="Carlito" pitchFamily="34" charset="-120"/>
              </a:rPr>
              <a:t>Linked caregivers view schedules and adherence remotely.</a:t>
            </a:r>
            <a:endParaRPr lang="en-US" sz="800" dirty="0"/>
          </a:p>
        </p:txBody>
      </p:sp>
      <p:sp>
        <p:nvSpPr>
          <p:cNvPr id="29" name="Text 27"/>
          <p:cNvSpPr/>
          <p:nvPr/>
        </p:nvSpPr>
        <p:spPr>
          <a:xfrm>
            <a:off x="460772" y="3617416"/>
            <a:ext cx="2150269" cy="537344"/>
          </a:xfrm>
          <a:prstGeom prst="roundRect">
            <a:avLst>
              <a:gd name="adj" fmla="val 14181"/>
            </a:avLst>
          </a:prstGeom>
          <a:solidFill>
            <a:srgbClr val="FFFFFF"/>
          </a:solidFill>
          <a:ln w="7144">
            <a:solidFill>
              <a:srgbClr val="D9D2BC"/>
            </a:solidFill>
            <a:prstDash val="solid"/>
          </a:ln>
          <a:effectLst>
            <a:outerShdw blurRad="19050" dist="9525" dir="5400000" algn="bl" rotWithShape="0">
              <a:srgbClr val="0F2A4A">
                <a:alpha val="4000"/>
              </a:srgbClr>
            </a:outerShdw>
          </a:effectLst>
        </p:spPr>
        <p:txBody>
          <a:bodyPr wrap="square" rtlCol="0" anchor="ctr"/>
          <a:lstStyle/>
          <a:p>
            <a:pPr marL="0" indent="0">
              <a:buNone/>
            </a:pPr>
            <a:endParaRPr lang="en-US" dirty="0"/>
          </a:p>
        </p:txBody>
      </p:sp>
      <p:sp>
        <p:nvSpPr>
          <p:cNvPr id="30" name="Text 28"/>
          <p:cNvSpPr/>
          <p:nvPr/>
        </p:nvSpPr>
        <p:spPr>
          <a:xfrm>
            <a:off x="564356" y="3706713"/>
            <a:ext cx="228600" cy="228600"/>
          </a:xfrm>
          <a:prstGeom prst="roundRect">
            <a:avLst>
              <a:gd name="adj" fmla="val 25000"/>
            </a:avLst>
          </a:prstGeom>
          <a:solidFill>
            <a:srgbClr val="C9A227">
              <a:alpha val="12000"/>
            </a:srgbClr>
          </a:solidFill>
          <a:ln/>
        </p:spPr>
        <p:txBody>
          <a:bodyPr wrap="square" rtlCol="0" anchor="ctr"/>
          <a:lstStyle/>
          <a:p>
            <a:pPr marL="0" indent="0">
              <a:buNone/>
            </a:pPr>
            <a:endParaRPr lang="en-US" dirty="0"/>
          </a:p>
        </p:txBody>
      </p:sp>
      <p:sp>
        <p:nvSpPr>
          <p:cNvPr id="31" name="Text 29"/>
          <p:cNvSpPr/>
          <p:nvPr/>
        </p:nvSpPr>
        <p:spPr>
          <a:xfrm>
            <a:off x="575072" y="3717429"/>
            <a:ext cx="207169" cy="207169"/>
          </a:xfrm>
          <a:prstGeom prst="rect">
            <a:avLst/>
          </a:prstGeom>
          <a:noFill/>
          <a:ln/>
        </p:spPr>
        <p:txBody>
          <a:bodyPr wrap="none" lIns="0" tIns="0" rIns="0" bIns="0" rtlCol="0" anchor="ctr"/>
          <a:lstStyle/>
          <a:p>
            <a:pPr marL="0" indent="0" algn="ctr">
              <a:buNone/>
            </a:pPr>
            <a:r>
              <a:rPr lang="en-US" sz="1406" dirty="0">
                <a:solidFill>
                  <a:srgbClr val="8C6F12"/>
                </a:solidFill>
                <a:latin typeface="Segoe UI Symbol" pitchFamily="34" charset="0"/>
                <a:ea typeface="Segoe UI Symbol" pitchFamily="34" charset="-122"/>
                <a:cs typeface="Segoe UI Symbol" pitchFamily="34" charset="-120"/>
              </a:rPr>
              <a:t>✦</a:t>
            </a:r>
            <a:endParaRPr lang="en-US" sz="1406" dirty="0"/>
          </a:p>
        </p:txBody>
      </p:sp>
      <p:sp>
        <p:nvSpPr>
          <p:cNvPr id="32" name="Text 30"/>
          <p:cNvSpPr/>
          <p:nvPr/>
        </p:nvSpPr>
        <p:spPr>
          <a:xfrm>
            <a:off x="864394" y="3706713"/>
            <a:ext cx="1643063" cy="109639"/>
          </a:xfrm>
          <a:prstGeom prst="rect">
            <a:avLst/>
          </a:prstGeom>
          <a:noFill/>
          <a:ln/>
        </p:spPr>
        <p:txBody>
          <a:bodyPr wrap="none" lIns="0" tIns="0" rIns="0" bIns="0" rtlCol="0" anchor="t">
            <a:normAutofit fontScale="92500"/>
          </a:bodyPr>
          <a:lstStyle/>
          <a:p>
            <a:pPr marL="0" indent="0" algn="l">
              <a:lnSpc>
                <a:spcPts val="911"/>
              </a:lnSpc>
              <a:buNone/>
            </a:pPr>
            <a:r>
              <a:rPr lang="en-US" sz="800" b="1" dirty="0">
                <a:solidFill>
                  <a:srgbClr val="0F2A4A"/>
                </a:solidFill>
                <a:latin typeface="Carlito" pitchFamily="34" charset="0"/>
                <a:ea typeface="Carlito" pitchFamily="34" charset="-122"/>
                <a:cs typeface="Carlito" pitchFamily="34" charset="-120"/>
              </a:rPr>
              <a:t>Emergency Button</a:t>
            </a:r>
            <a:endParaRPr lang="en-US" sz="800" dirty="0"/>
          </a:p>
        </p:txBody>
      </p:sp>
      <p:sp>
        <p:nvSpPr>
          <p:cNvPr id="33" name="Text 31"/>
          <p:cNvSpPr/>
          <p:nvPr/>
        </p:nvSpPr>
        <p:spPr>
          <a:xfrm>
            <a:off x="864394" y="3843784"/>
            <a:ext cx="1643063" cy="221679"/>
          </a:xfrm>
          <a:prstGeom prst="rect">
            <a:avLst/>
          </a:prstGeom>
          <a:noFill/>
          <a:ln/>
        </p:spPr>
        <p:txBody>
          <a:bodyPr wrap="square" lIns="0" tIns="0" rIns="0" bIns="0" rtlCol="0" anchor="t"/>
          <a:lstStyle/>
          <a:p>
            <a:pPr marL="0" indent="0" algn="l">
              <a:lnSpc>
                <a:spcPts val="873"/>
              </a:lnSpc>
              <a:buNone/>
            </a:pPr>
            <a:r>
              <a:rPr lang="en-US" sz="800" dirty="0">
                <a:solidFill>
                  <a:srgbClr val="4A5A75"/>
                </a:solidFill>
                <a:latin typeface="Carlito" pitchFamily="34" charset="0"/>
                <a:ea typeface="Carlito" pitchFamily="34" charset="-122"/>
                <a:cs typeface="Carlito" pitchFamily="34" charset="-120"/>
              </a:rPr>
              <a:t>One tap sends instant alerts to all linked caregivers.</a:t>
            </a:r>
            <a:endParaRPr lang="en-US" sz="800" dirty="0"/>
          </a:p>
        </p:txBody>
      </p:sp>
      <p:sp>
        <p:nvSpPr>
          <p:cNvPr id="34" name="Text 32"/>
          <p:cNvSpPr/>
          <p:nvPr/>
        </p:nvSpPr>
        <p:spPr>
          <a:xfrm>
            <a:off x="2703909" y="3617416"/>
            <a:ext cx="2150269" cy="537344"/>
          </a:xfrm>
          <a:prstGeom prst="roundRect">
            <a:avLst>
              <a:gd name="adj" fmla="val 14181"/>
            </a:avLst>
          </a:prstGeom>
          <a:solidFill>
            <a:srgbClr val="FFFFFF"/>
          </a:solidFill>
          <a:ln w="7144">
            <a:solidFill>
              <a:srgbClr val="D9D2BC"/>
            </a:solidFill>
            <a:prstDash val="solid"/>
          </a:ln>
          <a:effectLst>
            <a:outerShdw blurRad="19050" dist="9525" dir="5400000" algn="bl" rotWithShape="0">
              <a:srgbClr val="0F2A4A">
                <a:alpha val="4000"/>
              </a:srgbClr>
            </a:outerShdw>
          </a:effectLst>
        </p:spPr>
        <p:txBody>
          <a:bodyPr wrap="square" rtlCol="0" anchor="ctr"/>
          <a:lstStyle/>
          <a:p>
            <a:pPr marL="0" indent="0">
              <a:buNone/>
            </a:pPr>
            <a:endParaRPr lang="en-US" dirty="0"/>
          </a:p>
        </p:txBody>
      </p:sp>
      <p:sp>
        <p:nvSpPr>
          <p:cNvPr id="35" name="Text 33"/>
          <p:cNvSpPr/>
          <p:nvPr/>
        </p:nvSpPr>
        <p:spPr>
          <a:xfrm>
            <a:off x="2807494" y="3706713"/>
            <a:ext cx="228600" cy="228600"/>
          </a:xfrm>
          <a:prstGeom prst="roundRect">
            <a:avLst>
              <a:gd name="adj" fmla="val 25000"/>
            </a:avLst>
          </a:prstGeom>
          <a:solidFill>
            <a:srgbClr val="C9A227">
              <a:alpha val="12000"/>
            </a:srgbClr>
          </a:solidFill>
          <a:ln/>
        </p:spPr>
        <p:txBody>
          <a:bodyPr wrap="square" rtlCol="0" anchor="ctr"/>
          <a:lstStyle/>
          <a:p>
            <a:pPr marL="0" indent="0">
              <a:buNone/>
            </a:pPr>
            <a:endParaRPr lang="en-US" dirty="0"/>
          </a:p>
        </p:txBody>
      </p:sp>
      <p:sp>
        <p:nvSpPr>
          <p:cNvPr id="36" name="Text 34"/>
          <p:cNvSpPr/>
          <p:nvPr/>
        </p:nvSpPr>
        <p:spPr>
          <a:xfrm>
            <a:off x="2818209" y="3717429"/>
            <a:ext cx="207169" cy="207169"/>
          </a:xfrm>
          <a:prstGeom prst="rect">
            <a:avLst/>
          </a:prstGeom>
          <a:noFill/>
          <a:ln/>
        </p:spPr>
        <p:txBody>
          <a:bodyPr wrap="none" lIns="0" tIns="0" rIns="0" bIns="0" rtlCol="0" anchor="ctr"/>
          <a:lstStyle/>
          <a:p>
            <a:pPr marL="0" indent="0" algn="ctr">
              <a:buNone/>
            </a:pPr>
            <a:r>
              <a:rPr lang="en-US" sz="1406" dirty="0">
                <a:solidFill>
                  <a:srgbClr val="8C6F12"/>
                </a:solidFill>
                <a:latin typeface="Segoe UI Symbol" pitchFamily="34" charset="0"/>
                <a:ea typeface="Segoe UI Symbol" pitchFamily="34" charset="-122"/>
                <a:cs typeface="Segoe UI Symbol" pitchFamily="34" charset="-120"/>
              </a:rPr>
              <a:t>✦</a:t>
            </a:r>
            <a:endParaRPr lang="en-US" sz="1406" dirty="0"/>
          </a:p>
        </p:txBody>
      </p:sp>
      <p:sp>
        <p:nvSpPr>
          <p:cNvPr id="37" name="Text 35"/>
          <p:cNvSpPr/>
          <p:nvPr/>
        </p:nvSpPr>
        <p:spPr>
          <a:xfrm>
            <a:off x="3107531" y="3706713"/>
            <a:ext cx="1643063" cy="109639"/>
          </a:xfrm>
          <a:prstGeom prst="rect">
            <a:avLst/>
          </a:prstGeom>
          <a:noFill/>
          <a:ln/>
        </p:spPr>
        <p:txBody>
          <a:bodyPr wrap="none" lIns="0" tIns="0" rIns="0" bIns="0" rtlCol="0" anchor="t">
            <a:normAutofit fontScale="92500"/>
          </a:bodyPr>
          <a:lstStyle/>
          <a:p>
            <a:pPr marL="0" indent="0" algn="l">
              <a:lnSpc>
                <a:spcPts val="911"/>
              </a:lnSpc>
              <a:buNone/>
            </a:pPr>
            <a:r>
              <a:rPr lang="en-US" sz="800" b="1" dirty="0">
                <a:solidFill>
                  <a:srgbClr val="0F2A4A"/>
                </a:solidFill>
                <a:latin typeface="Carlito" pitchFamily="34" charset="0"/>
                <a:ea typeface="Carlito" pitchFamily="34" charset="-122"/>
                <a:cs typeface="Carlito" pitchFamily="34" charset="-120"/>
              </a:rPr>
              <a:t>AI Chatbot</a:t>
            </a:r>
            <a:endParaRPr lang="en-US" sz="800" dirty="0"/>
          </a:p>
        </p:txBody>
      </p:sp>
      <p:sp>
        <p:nvSpPr>
          <p:cNvPr id="38" name="Text 36"/>
          <p:cNvSpPr/>
          <p:nvPr/>
        </p:nvSpPr>
        <p:spPr>
          <a:xfrm>
            <a:off x="3107531" y="3843784"/>
            <a:ext cx="1643063" cy="221679"/>
          </a:xfrm>
          <a:prstGeom prst="rect">
            <a:avLst/>
          </a:prstGeom>
          <a:noFill/>
          <a:ln/>
        </p:spPr>
        <p:txBody>
          <a:bodyPr wrap="square" lIns="0" tIns="0" rIns="0" bIns="0" rtlCol="0" anchor="t"/>
          <a:lstStyle/>
          <a:p>
            <a:pPr marL="0" indent="0" algn="l">
              <a:lnSpc>
                <a:spcPts val="873"/>
              </a:lnSpc>
              <a:buNone/>
            </a:pPr>
            <a:r>
              <a:rPr lang="en-US" sz="800" dirty="0">
                <a:solidFill>
                  <a:srgbClr val="4A5A75"/>
                </a:solidFill>
                <a:latin typeface="Carlito" pitchFamily="34" charset="0"/>
                <a:ea typeface="Carlito" pitchFamily="34" charset="-122"/>
                <a:cs typeface="Carlito" pitchFamily="34" charset="-120"/>
              </a:rPr>
              <a:t>Plain-language Q&amp;A about meds and interactions.</a:t>
            </a:r>
            <a:endParaRPr lang="en-US" sz="800" dirty="0"/>
          </a:p>
        </p:txBody>
      </p:sp>
      <p:sp>
        <p:nvSpPr>
          <p:cNvPr id="39" name="Text 37"/>
          <p:cNvSpPr/>
          <p:nvPr/>
        </p:nvSpPr>
        <p:spPr>
          <a:xfrm>
            <a:off x="5093494" y="785813"/>
            <a:ext cx="3586163" cy="2586038"/>
          </a:xfrm>
          <a:prstGeom prst="roundRect">
            <a:avLst>
              <a:gd name="adj" fmla="val 3683"/>
            </a:avLst>
          </a:prstGeom>
          <a:solidFill>
            <a:srgbClr val="FFFFFF"/>
          </a:solidFill>
          <a:ln w="14288">
            <a:solidFill>
              <a:srgbClr val="C9A227"/>
            </a:solidFill>
            <a:prstDash val="solid"/>
          </a:ln>
          <a:effectLst>
            <a:outerShdw blurRad="228600" dist="76200" dir="5400000" algn="bl" rotWithShape="0">
              <a:srgbClr val="0F2A4A">
                <a:alpha val="12000"/>
              </a:srgbClr>
            </a:outerShdw>
          </a:effectLst>
        </p:spPr>
        <p:txBody>
          <a:bodyPr wrap="square" rtlCol="0" anchor="ctr"/>
          <a:lstStyle/>
          <a:p>
            <a:pPr marL="0" indent="0">
              <a:buNone/>
            </a:pPr>
            <a:endParaRPr lang="en-US" dirty="0"/>
          </a:p>
        </p:txBody>
      </p:sp>
      <p:sp>
        <p:nvSpPr>
          <p:cNvPr id="40" name="Text 38"/>
          <p:cNvSpPr/>
          <p:nvPr/>
        </p:nvSpPr>
        <p:spPr>
          <a:xfrm>
            <a:off x="6739347" y="892969"/>
            <a:ext cx="1833153" cy="178594"/>
          </a:xfrm>
          <a:prstGeom prst="roundRect">
            <a:avLst>
              <a:gd name="adj" fmla="val 21333"/>
            </a:avLst>
          </a:prstGeom>
          <a:solidFill>
            <a:srgbClr val="C9A227"/>
          </a:solidFill>
          <a:ln/>
        </p:spPr>
        <p:txBody>
          <a:bodyPr wrap="square" rtlCol="0" anchor="ctr"/>
          <a:lstStyle/>
          <a:p>
            <a:pPr marL="0" indent="0">
              <a:buNone/>
            </a:pPr>
            <a:endParaRPr lang="en-US" dirty="0"/>
          </a:p>
        </p:txBody>
      </p:sp>
      <p:sp>
        <p:nvSpPr>
          <p:cNvPr id="41" name="Text 39"/>
          <p:cNvSpPr/>
          <p:nvPr/>
        </p:nvSpPr>
        <p:spPr>
          <a:xfrm>
            <a:off x="6739347" y="892969"/>
            <a:ext cx="1833153" cy="274320"/>
          </a:xfrm>
          <a:prstGeom prst="rect">
            <a:avLst/>
          </a:prstGeom>
          <a:noFill/>
          <a:ln/>
        </p:spPr>
        <p:txBody>
          <a:bodyPr wrap="square" lIns="71438" tIns="35719" rIns="71438" bIns="35719" rtlCol="0" anchor="t"/>
          <a:lstStyle/>
          <a:p>
            <a:pPr marL="0" indent="0" algn="l">
              <a:lnSpc>
                <a:spcPts val="844"/>
              </a:lnSpc>
              <a:buNone/>
            </a:pPr>
            <a:r>
              <a:rPr lang="en-US" sz="800" b="1" kern="0" spc="68" dirty="0">
                <a:solidFill>
                  <a:srgbClr val="1C1503"/>
                </a:solidFill>
                <a:latin typeface="Carlito" pitchFamily="34" charset="0"/>
                <a:ea typeface="Carlito" pitchFamily="34" charset="-122"/>
                <a:cs typeface="Carlito" pitchFamily="34" charset="-120"/>
              </a:rPr>
              <a:t>LIVE DEMO · MEDWISE.RUNASP.NET</a:t>
            </a:r>
            <a:endParaRPr lang="en-US" sz="800" dirty="0"/>
          </a:p>
        </p:txBody>
      </p:sp>
      <p:pic>
        <p:nvPicPr>
          <p:cNvPr id="42" name="Image 0" descr="/tmp/h2p-fit-1781621411911-wbs6gt.png"/>
          <p:cNvPicPr>
            <a:picLocks noChangeAspect="1"/>
          </p:cNvPicPr>
          <p:nvPr/>
        </p:nvPicPr>
        <p:blipFill>
          <a:blip r:embed="rId3"/>
          <a:stretch>
            <a:fillRect/>
          </a:stretch>
        </p:blipFill>
        <p:spPr>
          <a:xfrm>
            <a:off x="5100638" y="792956"/>
            <a:ext cx="3571875" cy="2571750"/>
          </a:xfrm>
          <a:prstGeom prst="rect">
            <a:avLst/>
          </a:prstGeom>
        </p:spPr>
      </p:pic>
      <p:sp>
        <p:nvSpPr>
          <p:cNvPr id="43" name="Text 40"/>
          <p:cNvSpPr/>
          <p:nvPr/>
        </p:nvSpPr>
        <p:spPr>
          <a:xfrm>
            <a:off x="5487070" y="3450431"/>
            <a:ext cx="2799011" cy="164592"/>
          </a:xfrm>
          <a:prstGeom prst="rect">
            <a:avLst/>
          </a:prstGeom>
          <a:noFill/>
          <a:ln/>
        </p:spPr>
        <p:txBody>
          <a:bodyPr wrap="square" lIns="0" tIns="0" rIns="0" bIns="0" rtlCol="0" anchor="t"/>
          <a:lstStyle/>
          <a:p>
            <a:pPr marL="0" indent="0" algn="ctr">
              <a:lnSpc>
                <a:spcPts val="970"/>
              </a:lnSpc>
              <a:buNone/>
            </a:pPr>
            <a:r>
              <a:rPr lang="en-US" sz="800" i="1" kern="0" spc="26" dirty="0">
                <a:solidFill>
                  <a:srgbClr val="4A5A75"/>
                </a:solidFill>
                <a:latin typeface="Carlito" pitchFamily="34" charset="0"/>
                <a:ea typeface="Carlito" pitchFamily="34" charset="-122"/>
                <a:cs typeface="Carlito" pitchFamily="34" charset="-120"/>
              </a:rPr>
              <a:t>Patient-first dashboard · large text, calm palette, clear actions.</a:t>
            </a:r>
            <a:endParaRPr lang="en-US" sz="800" dirty="0"/>
          </a:p>
        </p:txBody>
      </p:sp>
      <p:sp>
        <p:nvSpPr>
          <p:cNvPr id="44" name="Text 41"/>
          <p:cNvSpPr/>
          <p:nvPr/>
        </p:nvSpPr>
        <p:spPr>
          <a:xfrm>
            <a:off x="514350" y="4868466"/>
            <a:ext cx="7326809"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45" name="Text 42"/>
          <p:cNvSpPr/>
          <p:nvPr/>
        </p:nvSpPr>
        <p:spPr>
          <a:xfrm>
            <a:off x="7855446" y="4868466"/>
            <a:ext cx="774204"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Proposed System</a:t>
            </a:r>
            <a:endParaRPr lang="en-US" sz="8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457200" y="517922"/>
            <a:ext cx="8229600" cy="0"/>
          </a:xfrm>
          <a:prstGeom prst="line">
            <a:avLst/>
          </a:prstGeom>
          <a:noFill/>
          <a:ln w="7144">
            <a:solidFill>
              <a:srgbClr val="D9D2BC"/>
            </a:solidFill>
            <a:prstDash val="solid"/>
          </a:ln>
        </p:spPr>
      </p:sp>
      <p:sp>
        <p:nvSpPr>
          <p:cNvPr id="3" name="Shape 1"/>
          <p:cNvSpPr/>
          <p:nvPr/>
        </p:nvSpPr>
        <p:spPr>
          <a:xfrm>
            <a:off x="514350" y="4793456"/>
            <a:ext cx="8115300" cy="0"/>
          </a:xfrm>
          <a:prstGeom prst="line">
            <a:avLst/>
          </a:prstGeom>
          <a:noFill/>
          <a:ln w="7144">
            <a:solidFill>
              <a:srgbClr val="D9D2BC"/>
            </a:solidFill>
            <a:prstDash val="solid"/>
          </a:ln>
        </p:spPr>
      </p:sp>
      <p:sp>
        <p:nvSpPr>
          <p:cNvPr id="4" name="Text 2"/>
          <p:cNvSpPr/>
          <p:nvPr/>
        </p:nvSpPr>
        <p:spPr>
          <a:xfrm>
            <a:off x="457200" y="285750"/>
            <a:ext cx="779394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06 · METHODOLOGY</a:t>
            </a:r>
            <a:endParaRPr lang="en-US" sz="800" dirty="0"/>
          </a:p>
        </p:txBody>
      </p:sp>
      <p:sp>
        <p:nvSpPr>
          <p:cNvPr id="5" name="Text 3"/>
          <p:cNvSpPr/>
          <p:nvPr/>
        </p:nvSpPr>
        <p:spPr>
          <a:xfrm>
            <a:off x="8265430" y="285750"/>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08 / 21</a:t>
            </a:r>
            <a:endParaRPr lang="en-US" sz="800" dirty="0"/>
          </a:p>
        </p:txBody>
      </p:sp>
      <p:sp>
        <p:nvSpPr>
          <p:cNvPr id="6" name="Text 4"/>
          <p:cNvSpPr/>
          <p:nvPr/>
        </p:nvSpPr>
        <p:spPr>
          <a:xfrm>
            <a:off x="457200" y="721519"/>
            <a:ext cx="8636000" cy="266176"/>
          </a:xfrm>
          <a:prstGeom prst="rect">
            <a:avLst/>
          </a:prstGeom>
          <a:noFill/>
          <a:ln/>
        </p:spPr>
        <p:txBody>
          <a:bodyPr wrap="square" lIns="0" tIns="0" rIns="0" bIns="0" rtlCol="0" anchor="t"/>
          <a:lstStyle/>
          <a:p>
            <a:pPr marL="0" indent="0" algn="l">
              <a:lnSpc>
                <a:spcPts val="1941"/>
              </a:lnSpc>
              <a:buNone/>
            </a:pPr>
            <a:r>
              <a:rPr lang="en-US" sz="1688" b="1" kern="0" spc="-17" dirty="0">
                <a:solidFill>
                  <a:srgbClr val="0F2A4A"/>
                </a:solidFill>
                <a:latin typeface="Tinos" pitchFamily="34" charset="0"/>
                <a:ea typeface="Tinos" pitchFamily="34" charset="-122"/>
                <a:cs typeface="Tinos" pitchFamily="34" charset="-120"/>
              </a:rPr>
              <a:t>How we built MedWise — five phases, twelve weeks.</a:t>
            </a:r>
            <a:endParaRPr lang="en-US" sz="1688" dirty="0"/>
          </a:p>
        </p:txBody>
      </p:sp>
      <p:sp>
        <p:nvSpPr>
          <p:cNvPr id="7" name="Text 5"/>
          <p:cNvSpPr/>
          <p:nvPr/>
        </p:nvSpPr>
        <p:spPr>
          <a:xfrm>
            <a:off x="457200" y="1053703"/>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8" name="Text 6"/>
          <p:cNvSpPr/>
          <p:nvPr/>
        </p:nvSpPr>
        <p:spPr>
          <a:xfrm>
            <a:off x="457200" y="1160859"/>
            <a:ext cx="7858125" cy="339961"/>
          </a:xfrm>
          <a:prstGeom prst="rect">
            <a:avLst/>
          </a:prstGeom>
          <a:noFill/>
          <a:ln/>
        </p:spPr>
        <p:txBody>
          <a:bodyPr wrap="square" lIns="0" tIns="0" rIns="0" bIns="0" rtlCol="0" anchor="t"/>
          <a:lstStyle/>
          <a:p>
            <a:pPr marL="0" indent="0" algn="l">
              <a:lnSpc>
                <a:spcPts val="1221"/>
              </a:lnSpc>
              <a:buNone/>
            </a:pPr>
            <a:r>
              <a:rPr lang="en-US" sz="800" dirty="0">
                <a:solidFill>
                  <a:srgbClr val="4A5A75"/>
                </a:solidFill>
                <a:latin typeface="Carlito" pitchFamily="34" charset="0"/>
                <a:ea typeface="Carlito" pitchFamily="34" charset="-122"/>
                <a:cs typeface="Carlito" pitchFamily="34" charset="-120"/>
              </a:rPr>
              <a:t>The team followed a lightweight Agile + waterfall hybrid: research-driven requirements, iterative implementation, weekly demos, and a final acceptance pass against the requirements document.</a:t>
            </a:r>
            <a:endParaRPr lang="en-US" sz="800" dirty="0"/>
          </a:p>
        </p:txBody>
      </p:sp>
      <p:sp>
        <p:nvSpPr>
          <p:cNvPr id="9" name="Text 7"/>
          <p:cNvSpPr/>
          <p:nvPr/>
        </p:nvSpPr>
        <p:spPr>
          <a:xfrm>
            <a:off x="914400" y="1899345"/>
            <a:ext cx="7315200" cy="14288"/>
          </a:xfrm>
          <a:prstGeom prst="rect">
            <a:avLst/>
          </a:prstGeom>
          <a:solidFill>
            <a:srgbClr val="C9A227"/>
          </a:solidFill>
          <a:ln/>
        </p:spPr>
        <p:txBody>
          <a:bodyPr wrap="square" rtlCol="0" anchor="ctr"/>
          <a:lstStyle/>
          <a:p>
            <a:pPr marL="0" indent="0">
              <a:buNone/>
            </a:pPr>
            <a:endParaRPr lang="en-US" dirty="0"/>
          </a:p>
        </p:txBody>
      </p:sp>
      <p:sp>
        <p:nvSpPr>
          <p:cNvPr id="10" name="Text 8"/>
          <p:cNvSpPr/>
          <p:nvPr/>
        </p:nvSpPr>
        <p:spPr>
          <a:xfrm>
            <a:off x="1145791" y="1742182"/>
            <a:ext cx="314325" cy="314325"/>
          </a:xfrm>
          <a:prstGeom prst="ellipse">
            <a:avLst/>
          </a:prstGeom>
          <a:solidFill>
            <a:srgbClr val="C9A227"/>
          </a:solidFill>
          <a:ln w="28575">
            <a:solidFill>
              <a:srgbClr val="FAF7F0"/>
            </a:solidFill>
            <a:prstDash val="solid"/>
          </a:ln>
          <a:effectLst>
            <a:outerShdw blurRad="57150" dist="19050" dir="5400000" algn="bl" rotWithShape="0">
              <a:srgbClr val="C9A227">
                <a:alpha val="40000"/>
              </a:srgbClr>
            </a:outerShdw>
          </a:effectLst>
        </p:spPr>
        <p:txBody>
          <a:bodyPr wrap="square" rtlCol="0" anchor="ctr"/>
          <a:lstStyle/>
          <a:p>
            <a:pPr marL="0" indent="0">
              <a:buNone/>
            </a:pPr>
            <a:endParaRPr lang="en-US" dirty="0"/>
          </a:p>
        </p:txBody>
      </p:sp>
      <p:sp>
        <p:nvSpPr>
          <p:cNvPr id="11" name="Text 9"/>
          <p:cNvSpPr/>
          <p:nvPr/>
        </p:nvSpPr>
        <p:spPr>
          <a:xfrm>
            <a:off x="1131503" y="1727895"/>
            <a:ext cx="342900" cy="342900"/>
          </a:xfrm>
          <a:prstGeom prst="rect">
            <a:avLst/>
          </a:prstGeom>
          <a:noFill/>
          <a:ln/>
        </p:spPr>
        <p:txBody>
          <a:bodyPr wrap="none" lIns="0" tIns="0" rIns="0" bIns="0" rtlCol="0" anchor="ctr"/>
          <a:lstStyle/>
          <a:p>
            <a:pPr marL="0" indent="0" algn="ctr">
              <a:lnSpc>
                <a:spcPts val="1350"/>
              </a:lnSpc>
              <a:buNone/>
            </a:pPr>
            <a:r>
              <a:rPr lang="en-US" sz="900" b="1" kern="0" spc="18" dirty="0">
                <a:solidFill>
                  <a:srgbClr val="1C1503"/>
                </a:solidFill>
                <a:latin typeface="Liberation Sans Narrow" pitchFamily="34" charset="0"/>
                <a:ea typeface="Liberation Sans Narrow" pitchFamily="34" charset="-122"/>
                <a:cs typeface="Liberation Sans Narrow" pitchFamily="34" charset="-120"/>
              </a:rPr>
              <a:t>01</a:t>
            </a:r>
            <a:endParaRPr lang="en-US" sz="900" dirty="0"/>
          </a:p>
        </p:txBody>
      </p:sp>
      <p:sp>
        <p:nvSpPr>
          <p:cNvPr id="12" name="Text 10"/>
          <p:cNvSpPr/>
          <p:nvPr/>
        </p:nvSpPr>
        <p:spPr>
          <a:xfrm>
            <a:off x="922744" y="2142232"/>
            <a:ext cx="760531" cy="108299"/>
          </a:xfrm>
          <a:prstGeom prst="rect">
            <a:avLst/>
          </a:prstGeom>
          <a:noFill/>
          <a:ln/>
        </p:spPr>
        <p:txBody>
          <a:bodyPr wrap="none" lIns="0" tIns="0" rIns="0" bIns="0" rtlCol="0" anchor="t">
            <a:normAutofit/>
          </a:bodyPr>
          <a:lstStyle/>
          <a:p>
            <a:pPr marL="0" indent="0" algn="ctr">
              <a:lnSpc>
                <a:spcPts val="844"/>
              </a:lnSpc>
              <a:buNone/>
            </a:pPr>
            <a:r>
              <a:rPr lang="en-US" sz="800" kern="0" spc="90" dirty="0">
                <a:solidFill>
                  <a:srgbClr val="8C6F12"/>
                </a:solidFill>
                <a:latin typeface="Liberation Sans Narrow" pitchFamily="34" charset="0"/>
                <a:ea typeface="Liberation Sans Narrow" pitchFamily="34" charset="-122"/>
                <a:cs typeface="Liberation Sans Narrow" pitchFamily="34" charset="-120"/>
              </a:rPr>
              <a:t>WEEKS 1–2</a:t>
            </a:r>
            <a:endParaRPr lang="en-US" sz="800" dirty="0"/>
          </a:p>
        </p:txBody>
      </p:sp>
      <p:sp>
        <p:nvSpPr>
          <p:cNvPr id="13" name="Text 11"/>
          <p:cNvSpPr/>
          <p:nvPr/>
        </p:nvSpPr>
        <p:spPr>
          <a:xfrm>
            <a:off x="552257" y="2277963"/>
            <a:ext cx="1501393" cy="272606"/>
          </a:xfrm>
          <a:prstGeom prst="rect">
            <a:avLst/>
          </a:prstGeom>
          <a:noFill/>
          <a:ln/>
        </p:spPr>
        <p:txBody>
          <a:bodyPr wrap="none" lIns="0" tIns="0" rIns="0" bIns="0" rtlCol="0" anchor="t">
            <a:normAutofit/>
          </a:bodyPr>
          <a:lstStyle/>
          <a:p>
            <a:pPr marL="0" indent="0" algn="ctr">
              <a:lnSpc>
                <a:spcPts val="949"/>
              </a:lnSpc>
              <a:buNone/>
            </a:pPr>
            <a:r>
              <a:rPr lang="en-US" sz="800" b="1" dirty="0">
                <a:solidFill>
                  <a:srgbClr val="0F2A4A"/>
                </a:solidFill>
                <a:latin typeface="Carlito" pitchFamily="34" charset="0"/>
                <a:ea typeface="Carlito" pitchFamily="34" charset="-122"/>
                <a:cs typeface="Carlito" pitchFamily="34" charset="-120"/>
              </a:rPr>
              <a:t>Requirements &amp; Analysis</a:t>
            </a:r>
            <a:endParaRPr lang="en-US" sz="800" dirty="0"/>
          </a:p>
        </p:txBody>
      </p:sp>
      <p:sp>
        <p:nvSpPr>
          <p:cNvPr id="15" name="Text 13"/>
          <p:cNvSpPr/>
          <p:nvPr/>
        </p:nvSpPr>
        <p:spPr>
          <a:xfrm>
            <a:off x="2780258" y="1742182"/>
            <a:ext cx="314325" cy="314325"/>
          </a:xfrm>
          <a:prstGeom prst="ellipse">
            <a:avLst/>
          </a:prstGeom>
          <a:solidFill>
            <a:srgbClr val="C9A227"/>
          </a:solidFill>
          <a:ln w="28575">
            <a:solidFill>
              <a:srgbClr val="FAF7F0"/>
            </a:solidFill>
            <a:prstDash val="solid"/>
          </a:ln>
          <a:effectLst>
            <a:outerShdw blurRad="57150" dist="19050" dir="5400000" algn="bl" rotWithShape="0">
              <a:srgbClr val="C9A227">
                <a:alpha val="40000"/>
              </a:srgbClr>
            </a:outerShdw>
          </a:effectLst>
        </p:spPr>
        <p:txBody>
          <a:bodyPr wrap="square" rtlCol="0" anchor="ctr"/>
          <a:lstStyle/>
          <a:p>
            <a:pPr marL="0" indent="0">
              <a:buNone/>
            </a:pPr>
            <a:endParaRPr lang="en-US" dirty="0"/>
          </a:p>
        </p:txBody>
      </p:sp>
      <p:sp>
        <p:nvSpPr>
          <p:cNvPr id="16" name="Text 14"/>
          <p:cNvSpPr/>
          <p:nvPr/>
        </p:nvSpPr>
        <p:spPr>
          <a:xfrm>
            <a:off x="2765971" y="1727895"/>
            <a:ext cx="342900" cy="342900"/>
          </a:xfrm>
          <a:prstGeom prst="rect">
            <a:avLst/>
          </a:prstGeom>
          <a:noFill/>
          <a:ln/>
        </p:spPr>
        <p:txBody>
          <a:bodyPr wrap="none" lIns="0" tIns="0" rIns="0" bIns="0" rtlCol="0" anchor="ctr"/>
          <a:lstStyle/>
          <a:p>
            <a:pPr marL="0" indent="0" algn="ctr">
              <a:lnSpc>
                <a:spcPts val="1350"/>
              </a:lnSpc>
              <a:buNone/>
            </a:pPr>
            <a:r>
              <a:rPr lang="en-US" sz="900" b="1" kern="0" spc="18" dirty="0">
                <a:solidFill>
                  <a:srgbClr val="1C1503"/>
                </a:solidFill>
                <a:latin typeface="Liberation Sans Narrow" pitchFamily="34" charset="0"/>
                <a:ea typeface="Liberation Sans Narrow" pitchFamily="34" charset="-122"/>
                <a:cs typeface="Liberation Sans Narrow" pitchFamily="34" charset="-120"/>
              </a:rPr>
              <a:t>02</a:t>
            </a:r>
            <a:endParaRPr lang="en-US" sz="900" dirty="0"/>
          </a:p>
        </p:txBody>
      </p:sp>
      <p:sp>
        <p:nvSpPr>
          <p:cNvPr id="17" name="Text 15"/>
          <p:cNvSpPr/>
          <p:nvPr/>
        </p:nvSpPr>
        <p:spPr>
          <a:xfrm>
            <a:off x="2557211" y="2142232"/>
            <a:ext cx="760531" cy="108299"/>
          </a:xfrm>
          <a:prstGeom prst="rect">
            <a:avLst/>
          </a:prstGeom>
          <a:noFill/>
          <a:ln/>
        </p:spPr>
        <p:txBody>
          <a:bodyPr wrap="none" lIns="0" tIns="0" rIns="0" bIns="0" rtlCol="0" anchor="t">
            <a:normAutofit/>
          </a:bodyPr>
          <a:lstStyle/>
          <a:p>
            <a:pPr marL="0" indent="0" algn="ctr">
              <a:lnSpc>
                <a:spcPts val="844"/>
              </a:lnSpc>
              <a:buNone/>
            </a:pPr>
            <a:r>
              <a:rPr lang="en-US" sz="800" kern="0" spc="90" dirty="0">
                <a:solidFill>
                  <a:srgbClr val="8C6F12"/>
                </a:solidFill>
                <a:latin typeface="Liberation Sans Narrow" pitchFamily="34" charset="0"/>
                <a:ea typeface="Liberation Sans Narrow" pitchFamily="34" charset="-122"/>
                <a:cs typeface="Liberation Sans Narrow" pitchFamily="34" charset="-120"/>
              </a:rPr>
              <a:t>WEEKS 3–4</a:t>
            </a:r>
            <a:endParaRPr lang="en-US" sz="800" dirty="0"/>
          </a:p>
        </p:txBody>
      </p:sp>
      <p:sp>
        <p:nvSpPr>
          <p:cNvPr id="18" name="Text 16"/>
          <p:cNvSpPr/>
          <p:nvPr/>
        </p:nvSpPr>
        <p:spPr>
          <a:xfrm>
            <a:off x="2482429" y="2277963"/>
            <a:ext cx="909983" cy="272606"/>
          </a:xfrm>
          <a:prstGeom prst="rect">
            <a:avLst/>
          </a:prstGeom>
          <a:noFill/>
          <a:ln/>
        </p:spPr>
        <p:txBody>
          <a:bodyPr wrap="none" lIns="0" tIns="0" rIns="0" bIns="0" rtlCol="0" anchor="t">
            <a:normAutofit/>
          </a:bodyPr>
          <a:lstStyle/>
          <a:p>
            <a:pPr marL="0" indent="0" algn="ctr">
              <a:lnSpc>
                <a:spcPts val="949"/>
              </a:lnSpc>
              <a:buNone/>
            </a:pPr>
            <a:r>
              <a:rPr lang="en-US" sz="800" b="1" dirty="0">
                <a:solidFill>
                  <a:srgbClr val="0F2A4A"/>
                </a:solidFill>
                <a:latin typeface="Carlito" pitchFamily="34" charset="0"/>
                <a:ea typeface="Carlito" pitchFamily="34" charset="-122"/>
                <a:cs typeface="Carlito" pitchFamily="34" charset="-120"/>
              </a:rPr>
              <a:t>UI / UX Design</a:t>
            </a:r>
            <a:endParaRPr lang="en-US" sz="800" dirty="0"/>
          </a:p>
        </p:txBody>
      </p:sp>
      <p:sp>
        <p:nvSpPr>
          <p:cNvPr id="20" name="Text 18"/>
          <p:cNvSpPr/>
          <p:nvPr/>
        </p:nvSpPr>
        <p:spPr>
          <a:xfrm>
            <a:off x="4414726" y="1742182"/>
            <a:ext cx="314325" cy="314325"/>
          </a:xfrm>
          <a:prstGeom prst="ellipse">
            <a:avLst/>
          </a:prstGeom>
          <a:solidFill>
            <a:srgbClr val="C9A227"/>
          </a:solidFill>
          <a:ln w="28575">
            <a:solidFill>
              <a:srgbClr val="FAF7F0"/>
            </a:solidFill>
            <a:prstDash val="solid"/>
          </a:ln>
          <a:effectLst>
            <a:outerShdw blurRad="57150" dist="19050" dir="5400000" algn="bl" rotWithShape="0">
              <a:srgbClr val="C9A227">
                <a:alpha val="40000"/>
              </a:srgbClr>
            </a:outerShdw>
          </a:effectLst>
        </p:spPr>
        <p:txBody>
          <a:bodyPr wrap="square" rtlCol="0" anchor="ctr"/>
          <a:lstStyle/>
          <a:p>
            <a:pPr marL="0" indent="0">
              <a:buNone/>
            </a:pPr>
            <a:endParaRPr lang="en-US" dirty="0"/>
          </a:p>
        </p:txBody>
      </p:sp>
      <p:sp>
        <p:nvSpPr>
          <p:cNvPr id="21" name="Text 19"/>
          <p:cNvSpPr/>
          <p:nvPr/>
        </p:nvSpPr>
        <p:spPr>
          <a:xfrm>
            <a:off x="4400438" y="1727895"/>
            <a:ext cx="342900" cy="342900"/>
          </a:xfrm>
          <a:prstGeom prst="rect">
            <a:avLst/>
          </a:prstGeom>
          <a:noFill/>
          <a:ln/>
        </p:spPr>
        <p:txBody>
          <a:bodyPr wrap="none" lIns="0" tIns="0" rIns="0" bIns="0" rtlCol="0" anchor="ctr"/>
          <a:lstStyle/>
          <a:p>
            <a:pPr marL="0" indent="0" algn="ctr">
              <a:lnSpc>
                <a:spcPts val="1350"/>
              </a:lnSpc>
              <a:buNone/>
            </a:pPr>
            <a:r>
              <a:rPr lang="en-US" sz="900" b="1" kern="0" spc="18" dirty="0">
                <a:solidFill>
                  <a:srgbClr val="1C1503"/>
                </a:solidFill>
                <a:latin typeface="Liberation Sans Narrow" pitchFamily="34" charset="0"/>
                <a:ea typeface="Liberation Sans Narrow" pitchFamily="34" charset="-122"/>
                <a:cs typeface="Liberation Sans Narrow" pitchFamily="34" charset="-120"/>
              </a:rPr>
              <a:t>03</a:t>
            </a:r>
            <a:endParaRPr lang="en-US" sz="900" dirty="0"/>
          </a:p>
        </p:txBody>
      </p:sp>
      <p:sp>
        <p:nvSpPr>
          <p:cNvPr id="22" name="Text 20"/>
          <p:cNvSpPr/>
          <p:nvPr/>
        </p:nvSpPr>
        <p:spPr>
          <a:xfrm>
            <a:off x="4191679" y="2142232"/>
            <a:ext cx="760531" cy="108299"/>
          </a:xfrm>
          <a:prstGeom prst="rect">
            <a:avLst/>
          </a:prstGeom>
          <a:noFill/>
          <a:ln/>
        </p:spPr>
        <p:txBody>
          <a:bodyPr wrap="none" lIns="0" tIns="0" rIns="0" bIns="0" rtlCol="0" anchor="t">
            <a:normAutofit/>
          </a:bodyPr>
          <a:lstStyle/>
          <a:p>
            <a:pPr marL="0" indent="0" algn="ctr">
              <a:lnSpc>
                <a:spcPts val="844"/>
              </a:lnSpc>
              <a:buNone/>
            </a:pPr>
            <a:r>
              <a:rPr lang="en-US" sz="800" kern="0" spc="90" dirty="0">
                <a:solidFill>
                  <a:srgbClr val="8C6F12"/>
                </a:solidFill>
                <a:latin typeface="Liberation Sans Narrow" pitchFamily="34" charset="0"/>
                <a:ea typeface="Liberation Sans Narrow" pitchFamily="34" charset="-122"/>
                <a:cs typeface="Liberation Sans Narrow" pitchFamily="34" charset="-120"/>
              </a:rPr>
              <a:t>WEEKS 4–5</a:t>
            </a:r>
            <a:endParaRPr lang="en-US" sz="800" dirty="0"/>
          </a:p>
        </p:txBody>
      </p:sp>
      <p:sp>
        <p:nvSpPr>
          <p:cNvPr id="23" name="Text 21"/>
          <p:cNvSpPr/>
          <p:nvPr/>
        </p:nvSpPr>
        <p:spPr>
          <a:xfrm>
            <a:off x="3833833" y="2277963"/>
            <a:ext cx="1476222" cy="272606"/>
          </a:xfrm>
          <a:prstGeom prst="rect">
            <a:avLst/>
          </a:prstGeom>
          <a:noFill/>
          <a:ln/>
        </p:spPr>
        <p:txBody>
          <a:bodyPr wrap="none" lIns="0" tIns="0" rIns="0" bIns="0" rtlCol="0" anchor="t">
            <a:normAutofit/>
          </a:bodyPr>
          <a:lstStyle/>
          <a:p>
            <a:pPr marL="0" indent="0" algn="ctr">
              <a:lnSpc>
                <a:spcPts val="949"/>
              </a:lnSpc>
              <a:buNone/>
            </a:pPr>
            <a:r>
              <a:rPr lang="en-US" sz="800" b="1" dirty="0">
                <a:solidFill>
                  <a:srgbClr val="0F2A4A"/>
                </a:solidFill>
                <a:latin typeface="Carlito" pitchFamily="34" charset="0"/>
                <a:ea typeface="Carlito" pitchFamily="34" charset="-122"/>
                <a:cs typeface="Carlito" pitchFamily="34" charset="-120"/>
              </a:rPr>
              <a:t>Architecture &amp; Database</a:t>
            </a:r>
            <a:endParaRPr lang="en-US" sz="800" dirty="0"/>
          </a:p>
        </p:txBody>
      </p:sp>
      <p:sp>
        <p:nvSpPr>
          <p:cNvPr id="25" name="Text 23"/>
          <p:cNvSpPr/>
          <p:nvPr/>
        </p:nvSpPr>
        <p:spPr>
          <a:xfrm>
            <a:off x="6049194" y="1742182"/>
            <a:ext cx="314325" cy="314325"/>
          </a:xfrm>
          <a:prstGeom prst="ellipse">
            <a:avLst/>
          </a:prstGeom>
          <a:solidFill>
            <a:srgbClr val="C9A227"/>
          </a:solidFill>
          <a:ln w="28575">
            <a:solidFill>
              <a:srgbClr val="FAF7F0"/>
            </a:solidFill>
            <a:prstDash val="solid"/>
          </a:ln>
          <a:effectLst>
            <a:outerShdw blurRad="57150" dist="19050" dir="5400000" algn="bl" rotWithShape="0">
              <a:srgbClr val="C9A227">
                <a:alpha val="40000"/>
              </a:srgbClr>
            </a:outerShdw>
          </a:effectLst>
        </p:spPr>
        <p:txBody>
          <a:bodyPr wrap="square" rtlCol="0" anchor="ctr"/>
          <a:lstStyle/>
          <a:p>
            <a:pPr marL="0" indent="0">
              <a:buNone/>
            </a:pPr>
            <a:endParaRPr lang="en-US" dirty="0"/>
          </a:p>
        </p:txBody>
      </p:sp>
      <p:sp>
        <p:nvSpPr>
          <p:cNvPr id="26" name="Text 24"/>
          <p:cNvSpPr/>
          <p:nvPr/>
        </p:nvSpPr>
        <p:spPr>
          <a:xfrm>
            <a:off x="6034906" y="1727895"/>
            <a:ext cx="342900" cy="342900"/>
          </a:xfrm>
          <a:prstGeom prst="rect">
            <a:avLst/>
          </a:prstGeom>
          <a:noFill/>
          <a:ln/>
        </p:spPr>
        <p:txBody>
          <a:bodyPr wrap="none" lIns="0" tIns="0" rIns="0" bIns="0" rtlCol="0" anchor="ctr"/>
          <a:lstStyle/>
          <a:p>
            <a:pPr marL="0" indent="0" algn="ctr">
              <a:lnSpc>
                <a:spcPts val="1350"/>
              </a:lnSpc>
              <a:buNone/>
            </a:pPr>
            <a:r>
              <a:rPr lang="en-US" sz="900" b="1" kern="0" spc="18" dirty="0">
                <a:solidFill>
                  <a:srgbClr val="1C1503"/>
                </a:solidFill>
                <a:latin typeface="Liberation Sans Narrow" pitchFamily="34" charset="0"/>
                <a:ea typeface="Liberation Sans Narrow" pitchFamily="34" charset="-122"/>
                <a:cs typeface="Liberation Sans Narrow" pitchFamily="34" charset="-120"/>
              </a:rPr>
              <a:t>04</a:t>
            </a:r>
            <a:endParaRPr lang="en-US" sz="900" dirty="0"/>
          </a:p>
        </p:txBody>
      </p:sp>
      <p:sp>
        <p:nvSpPr>
          <p:cNvPr id="27" name="Text 25"/>
          <p:cNvSpPr/>
          <p:nvPr/>
        </p:nvSpPr>
        <p:spPr>
          <a:xfrm>
            <a:off x="5816370" y="2142232"/>
            <a:ext cx="779972" cy="108299"/>
          </a:xfrm>
          <a:prstGeom prst="rect">
            <a:avLst/>
          </a:prstGeom>
          <a:noFill/>
          <a:ln/>
        </p:spPr>
        <p:txBody>
          <a:bodyPr wrap="none" lIns="0" tIns="0" rIns="0" bIns="0" rtlCol="0" anchor="t">
            <a:normAutofit/>
          </a:bodyPr>
          <a:lstStyle/>
          <a:p>
            <a:pPr marL="0" indent="0" algn="ctr">
              <a:lnSpc>
                <a:spcPts val="844"/>
              </a:lnSpc>
              <a:buNone/>
            </a:pPr>
            <a:r>
              <a:rPr lang="en-US" sz="800" kern="0" spc="90" dirty="0">
                <a:solidFill>
                  <a:srgbClr val="8C6F12"/>
                </a:solidFill>
                <a:latin typeface="Liberation Sans Narrow" pitchFamily="34" charset="0"/>
                <a:ea typeface="Liberation Sans Narrow" pitchFamily="34" charset="-122"/>
                <a:cs typeface="Liberation Sans Narrow" pitchFamily="34" charset="-120"/>
              </a:rPr>
              <a:t>WEEKS 5–10</a:t>
            </a:r>
            <a:endParaRPr lang="en-US" sz="800" dirty="0"/>
          </a:p>
        </p:txBody>
      </p:sp>
      <p:sp>
        <p:nvSpPr>
          <p:cNvPr id="28" name="Text 26"/>
          <p:cNvSpPr/>
          <p:nvPr/>
        </p:nvSpPr>
        <p:spPr>
          <a:xfrm>
            <a:off x="5700214" y="2277963"/>
            <a:ext cx="1012285" cy="272606"/>
          </a:xfrm>
          <a:prstGeom prst="rect">
            <a:avLst/>
          </a:prstGeom>
          <a:noFill/>
          <a:ln/>
        </p:spPr>
        <p:txBody>
          <a:bodyPr wrap="none" lIns="0" tIns="0" rIns="0" bIns="0" rtlCol="0" anchor="t">
            <a:normAutofit/>
          </a:bodyPr>
          <a:lstStyle/>
          <a:p>
            <a:pPr marL="0" indent="0" algn="ctr">
              <a:lnSpc>
                <a:spcPts val="949"/>
              </a:lnSpc>
              <a:buNone/>
            </a:pPr>
            <a:r>
              <a:rPr lang="en-US" sz="800" b="1" dirty="0">
                <a:solidFill>
                  <a:srgbClr val="0F2A4A"/>
                </a:solidFill>
                <a:latin typeface="Carlito" pitchFamily="34" charset="0"/>
                <a:ea typeface="Carlito" pitchFamily="34" charset="-122"/>
                <a:cs typeface="Carlito" pitchFamily="34" charset="-120"/>
              </a:rPr>
              <a:t>Implementation</a:t>
            </a:r>
            <a:endParaRPr lang="en-US" sz="800" dirty="0"/>
          </a:p>
        </p:txBody>
      </p:sp>
      <p:sp>
        <p:nvSpPr>
          <p:cNvPr id="30" name="Text 28"/>
          <p:cNvSpPr/>
          <p:nvPr/>
        </p:nvSpPr>
        <p:spPr>
          <a:xfrm>
            <a:off x="7683773" y="1742182"/>
            <a:ext cx="314325" cy="314325"/>
          </a:xfrm>
          <a:prstGeom prst="ellipse">
            <a:avLst/>
          </a:prstGeom>
          <a:solidFill>
            <a:srgbClr val="C9A227"/>
          </a:solidFill>
          <a:ln w="28575">
            <a:solidFill>
              <a:srgbClr val="FAF7F0"/>
            </a:solidFill>
            <a:prstDash val="solid"/>
          </a:ln>
          <a:effectLst>
            <a:outerShdw blurRad="57150" dist="19050" dir="5400000" algn="bl" rotWithShape="0">
              <a:srgbClr val="C9A227">
                <a:alpha val="40000"/>
              </a:srgbClr>
            </a:outerShdw>
          </a:effectLst>
        </p:spPr>
        <p:txBody>
          <a:bodyPr wrap="square" rtlCol="0" anchor="ctr"/>
          <a:lstStyle/>
          <a:p>
            <a:pPr marL="0" indent="0">
              <a:buNone/>
            </a:pPr>
            <a:endParaRPr lang="en-US" dirty="0"/>
          </a:p>
        </p:txBody>
      </p:sp>
      <p:sp>
        <p:nvSpPr>
          <p:cNvPr id="31" name="Text 29"/>
          <p:cNvSpPr/>
          <p:nvPr/>
        </p:nvSpPr>
        <p:spPr>
          <a:xfrm>
            <a:off x="7669485" y="1727895"/>
            <a:ext cx="342900" cy="342900"/>
          </a:xfrm>
          <a:prstGeom prst="rect">
            <a:avLst/>
          </a:prstGeom>
          <a:noFill/>
          <a:ln/>
        </p:spPr>
        <p:txBody>
          <a:bodyPr wrap="none" lIns="0" tIns="0" rIns="0" bIns="0" rtlCol="0" anchor="ctr"/>
          <a:lstStyle/>
          <a:p>
            <a:pPr marL="0" indent="0" algn="ctr">
              <a:lnSpc>
                <a:spcPts val="1350"/>
              </a:lnSpc>
              <a:buNone/>
            </a:pPr>
            <a:r>
              <a:rPr lang="en-US" sz="900" b="1" kern="0" spc="18" dirty="0">
                <a:solidFill>
                  <a:srgbClr val="1C1503"/>
                </a:solidFill>
                <a:latin typeface="Liberation Sans Narrow" pitchFamily="34" charset="0"/>
                <a:ea typeface="Liberation Sans Narrow" pitchFamily="34" charset="-122"/>
                <a:cs typeface="Liberation Sans Narrow" pitchFamily="34" charset="-120"/>
              </a:rPr>
              <a:t>05</a:t>
            </a:r>
            <a:endParaRPr lang="en-US" sz="900" dirty="0"/>
          </a:p>
        </p:txBody>
      </p:sp>
      <p:sp>
        <p:nvSpPr>
          <p:cNvPr id="32" name="Text 30"/>
          <p:cNvSpPr/>
          <p:nvPr/>
        </p:nvSpPr>
        <p:spPr>
          <a:xfrm>
            <a:off x="7411664" y="2142232"/>
            <a:ext cx="858543" cy="108299"/>
          </a:xfrm>
          <a:prstGeom prst="rect">
            <a:avLst/>
          </a:prstGeom>
          <a:noFill/>
          <a:ln/>
        </p:spPr>
        <p:txBody>
          <a:bodyPr wrap="none" lIns="0" tIns="0" rIns="0" bIns="0" rtlCol="0" anchor="t">
            <a:normAutofit/>
          </a:bodyPr>
          <a:lstStyle/>
          <a:p>
            <a:pPr marL="0" indent="0" algn="ctr">
              <a:lnSpc>
                <a:spcPts val="844"/>
              </a:lnSpc>
              <a:buNone/>
            </a:pPr>
            <a:r>
              <a:rPr lang="en-US" sz="800" kern="0" spc="90" dirty="0">
                <a:solidFill>
                  <a:srgbClr val="8C6F12"/>
                </a:solidFill>
                <a:latin typeface="Liberation Sans Narrow" pitchFamily="34" charset="0"/>
                <a:ea typeface="Liberation Sans Narrow" pitchFamily="34" charset="-122"/>
                <a:cs typeface="Liberation Sans Narrow" pitchFamily="34" charset="-120"/>
              </a:rPr>
              <a:t>WEEKS 11–12</a:t>
            </a:r>
            <a:endParaRPr lang="en-US" sz="800" dirty="0"/>
          </a:p>
        </p:txBody>
      </p:sp>
      <p:sp>
        <p:nvSpPr>
          <p:cNvPr id="33" name="Text 31"/>
          <p:cNvSpPr/>
          <p:nvPr/>
        </p:nvSpPr>
        <p:spPr>
          <a:xfrm>
            <a:off x="7136993" y="2277963"/>
            <a:ext cx="1407884" cy="272606"/>
          </a:xfrm>
          <a:prstGeom prst="rect">
            <a:avLst/>
          </a:prstGeom>
          <a:noFill/>
          <a:ln/>
        </p:spPr>
        <p:txBody>
          <a:bodyPr wrap="none" lIns="0" tIns="0" rIns="0" bIns="0" rtlCol="0" anchor="t">
            <a:normAutofit/>
          </a:bodyPr>
          <a:lstStyle/>
          <a:p>
            <a:pPr marL="0" indent="0" algn="ctr">
              <a:lnSpc>
                <a:spcPts val="949"/>
              </a:lnSpc>
              <a:buNone/>
            </a:pPr>
            <a:r>
              <a:rPr lang="en-US" sz="800" b="1" dirty="0">
                <a:solidFill>
                  <a:srgbClr val="0F2A4A"/>
                </a:solidFill>
                <a:latin typeface="Carlito" pitchFamily="34" charset="0"/>
                <a:ea typeface="Carlito" pitchFamily="34" charset="-122"/>
                <a:cs typeface="Carlito" pitchFamily="34" charset="-120"/>
              </a:rPr>
              <a:t>Testing &amp; Deployment</a:t>
            </a:r>
            <a:endParaRPr lang="en-US" sz="800" dirty="0"/>
          </a:p>
        </p:txBody>
      </p:sp>
      <p:sp>
        <p:nvSpPr>
          <p:cNvPr id="35" name="Text 33"/>
          <p:cNvSpPr/>
          <p:nvPr/>
        </p:nvSpPr>
        <p:spPr>
          <a:xfrm>
            <a:off x="457200" y="3359237"/>
            <a:ext cx="8229600" cy="305395"/>
          </a:xfrm>
          <a:prstGeom prst="roundRect">
            <a:avLst>
              <a:gd name="adj" fmla="val 18713"/>
            </a:avLst>
          </a:prstGeom>
          <a:solidFill>
            <a:srgbClr val="0F2A4A"/>
          </a:solidFill>
          <a:ln/>
        </p:spPr>
        <p:txBody>
          <a:bodyPr wrap="square" rtlCol="0" anchor="ctr"/>
          <a:lstStyle/>
          <a:p>
            <a:pPr marL="0" indent="0">
              <a:buNone/>
            </a:pPr>
            <a:endParaRPr lang="en-US" dirty="0"/>
          </a:p>
        </p:txBody>
      </p:sp>
      <p:sp>
        <p:nvSpPr>
          <p:cNvPr id="36" name="Text 34"/>
          <p:cNvSpPr/>
          <p:nvPr/>
        </p:nvSpPr>
        <p:spPr>
          <a:xfrm>
            <a:off x="614363" y="3447641"/>
            <a:ext cx="128588" cy="128588"/>
          </a:xfrm>
          <a:prstGeom prst="rect">
            <a:avLst/>
          </a:prstGeom>
          <a:noFill/>
          <a:ln/>
        </p:spPr>
        <p:txBody>
          <a:bodyPr wrap="none" lIns="0" tIns="0" rIns="0" bIns="0" rtlCol="0" anchor="ctr"/>
          <a:lstStyle/>
          <a:p>
            <a:pPr marL="0" indent="0" algn="ctr">
              <a:buNone/>
            </a:pPr>
            <a:r>
              <a:rPr lang="en-US" sz="1266" dirty="0">
                <a:solidFill>
                  <a:srgbClr val="E6C75A"/>
                </a:solidFill>
                <a:latin typeface="Segoe UI Symbol" pitchFamily="34" charset="0"/>
                <a:ea typeface="Segoe UI Symbol" pitchFamily="34" charset="-122"/>
                <a:cs typeface="Segoe UI Symbol" pitchFamily="34" charset="-120"/>
              </a:rPr>
              <a:t>◆</a:t>
            </a:r>
            <a:endParaRPr lang="en-US" sz="1266" dirty="0"/>
          </a:p>
        </p:txBody>
      </p:sp>
      <p:sp>
        <p:nvSpPr>
          <p:cNvPr id="37" name="Text 35"/>
          <p:cNvSpPr/>
          <p:nvPr/>
        </p:nvSpPr>
        <p:spPr>
          <a:xfrm>
            <a:off x="828675" y="3452999"/>
            <a:ext cx="826619" cy="125909"/>
          </a:xfrm>
          <a:prstGeom prst="rect">
            <a:avLst/>
          </a:prstGeom>
          <a:noFill/>
          <a:ln/>
        </p:spPr>
        <p:txBody>
          <a:bodyPr wrap="none" lIns="0" tIns="0" rIns="0" bIns="0" rtlCol="0" anchor="t"/>
          <a:lstStyle/>
          <a:p>
            <a:pPr marL="0" indent="0" algn="l">
              <a:lnSpc>
                <a:spcPts val="928"/>
              </a:lnSpc>
              <a:buNone/>
            </a:pPr>
            <a:r>
              <a:rPr lang="en-US" sz="800" b="1" kern="0" spc="62" dirty="0">
                <a:solidFill>
                  <a:srgbClr val="E6C75A"/>
                </a:solidFill>
                <a:latin typeface="Carlito" pitchFamily="34" charset="0"/>
                <a:ea typeface="Carlito" pitchFamily="34" charset="-122"/>
                <a:cs typeface="Carlito" pitchFamily="34" charset="-120"/>
              </a:rPr>
              <a:t>APPROACH</a:t>
            </a:r>
            <a:endParaRPr lang="en-US" sz="800" dirty="0"/>
          </a:p>
        </p:txBody>
      </p:sp>
      <p:sp>
        <p:nvSpPr>
          <p:cNvPr id="38" name="Text 36"/>
          <p:cNvSpPr/>
          <p:nvPr/>
        </p:nvSpPr>
        <p:spPr>
          <a:xfrm>
            <a:off x="1462794" y="3444962"/>
            <a:ext cx="7066843" cy="133945"/>
          </a:xfrm>
          <a:prstGeom prst="rect">
            <a:avLst/>
          </a:prstGeom>
          <a:noFill/>
          <a:ln/>
        </p:spPr>
        <p:txBody>
          <a:bodyPr wrap="square" lIns="0" tIns="0" rIns="0" bIns="0" rtlCol="0" anchor="t"/>
          <a:lstStyle/>
          <a:p>
            <a:pPr marL="0" indent="0" algn="l">
              <a:lnSpc>
                <a:spcPts val="1055"/>
              </a:lnSpc>
              <a:buNone/>
            </a:pPr>
            <a:r>
              <a:rPr lang="en-US" sz="800" kern="0" spc="28" dirty="0">
                <a:solidFill>
                  <a:srgbClr val="FFFFFF"/>
                </a:solidFill>
                <a:latin typeface="Carlito" pitchFamily="34" charset="0"/>
                <a:ea typeface="Carlito" pitchFamily="34" charset="-122"/>
                <a:cs typeface="Carlito" pitchFamily="34" charset="-120"/>
              </a:rPr>
              <a:t>hybrid Agile — research up front, two-week sprints, demo-driven, acceptance-verified at the end.</a:t>
            </a:r>
            <a:endParaRPr lang="en-US" sz="800" dirty="0"/>
          </a:p>
        </p:txBody>
      </p:sp>
      <p:sp>
        <p:nvSpPr>
          <p:cNvPr id="39" name="Text 37"/>
          <p:cNvSpPr/>
          <p:nvPr/>
        </p:nvSpPr>
        <p:spPr>
          <a:xfrm>
            <a:off x="514350" y="4868466"/>
            <a:ext cx="7522704"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40" name="Text 38"/>
          <p:cNvSpPr/>
          <p:nvPr/>
        </p:nvSpPr>
        <p:spPr>
          <a:xfrm>
            <a:off x="8051341" y="4868466"/>
            <a:ext cx="578309"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Methodology</a:t>
            </a:r>
            <a:endParaRPr lang="en-US" sz="8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428625" y="489347"/>
            <a:ext cx="8286750" cy="0"/>
          </a:xfrm>
          <a:prstGeom prst="line">
            <a:avLst/>
          </a:prstGeom>
          <a:noFill/>
          <a:ln w="7144">
            <a:solidFill>
              <a:srgbClr val="D9D2BC"/>
            </a:solidFill>
            <a:prstDash val="solid"/>
          </a:ln>
        </p:spPr>
      </p:sp>
      <p:sp>
        <p:nvSpPr>
          <p:cNvPr id="3" name="Shape 1"/>
          <p:cNvSpPr/>
          <p:nvPr/>
        </p:nvSpPr>
        <p:spPr>
          <a:xfrm>
            <a:off x="428625" y="1277950"/>
            <a:ext cx="8286750" cy="0"/>
          </a:xfrm>
          <a:prstGeom prst="line">
            <a:avLst/>
          </a:prstGeom>
          <a:noFill/>
          <a:ln w="7144">
            <a:solidFill>
              <a:srgbClr val="D9D2BC"/>
            </a:solidFill>
            <a:prstDash val="solid"/>
          </a:ln>
        </p:spPr>
      </p:sp>
      <p:sp>
        <p:nvSpPr>
          <p:cNvPr id="4" name="Shape 2"/>
          <p:cNvSpPr/>
          <p:nvPr/>
        </p:nvSpPr>
        <p:spPr>
          <a:xfrm>
            <a:off x="8711803" y="1274378"/>
            <a:ext cx="0" cy="769404"/>
          </a:xfrm>
          <a:prstGeom prst="line">
            <a:avLst/>
          </a:prstGeom>
          <a:noFill/>
          <a:ln w="7144">
            <a:solidFill>
              <a:srgbClr val="D9D2BC"/>
            </a:solidFill>
            <a:prstDash val="solid"/>
          </a:ln>
        </p:spPr>
      </p:sp>
      <p:sp>
        <p:nvSpPr>
          <p:cNvPr id="5" name="Shape 3"/>
          <p:cNvSpPr/>
          <p:nvPr/>
        </p:nvSpPr>
        <p:spPr>
          <a:xfrm>
            <a:off x="428625" y="2040210"/>
            <a:ext cx="8286750" cy="0"/>
          </a:xfrm>
          <a:prstGeom prst="line">
            <a:avLst/>
          </a:prstGeom>
          <a:noFill/>
          <a:ln w="7144">
            <a:solidFill>
              <a:srgbClr val="D9D2BC"/>
            </a:solidFill>
            <a:prstDash val="solid"/>
          </a:ln>
        </p:spPr>
      </p:sp>
      <p:sp>
        <p:nvSpPr>
          <p:cNvPr id="6" name="Shape 4"/>
          <p:cNvSpPr/>
          <p:nvPr/>
        </p:nvSpPr>
        <p:spPr>
          <a:xfrm>
            <a:off x="446484" y="1274378"/>
            <a:ext cx="0" cy="769404"/>
          </a:xfrm>
          <a:prstGeom prst="line">
            <a:avLst/>
          </a:prstGeom>
          <a:noFill/>
          <a:ln w="35719">
            <a:solidFill>
              <a:srgbClr val="C9A227"/>
            </a:solidFill>
            <a:prstDash val="solid"/>
          </a:ln>
        </p:spPr>
      </p:sp>
      <p:sp>
        <p:nvSpPr>
          <p:cNvPr id="7" name="Shape 5"/>
          <p:cNvSpPr/>
          <p:nvPr/>
        </p:nvSpPr>
        <p:spPr>
          <a:xfrm>
            <a:off x="428625" y="2218804"/>
            <a:ext cx="8286750" cy="0"/>
          </a:xfrm>
          <a:prstGeom prst="line">
            <a:avLst/>
          </a:prstGeom>
          <a:noFill/>
          <a:ln w="7144">
            <a:solidFill>
              <a:srgbClr val="D9D2BC"/>
            </a:solidFill>
            <a:prstDash val="solid"/>
          </a:ln>
        </p:spPr>
      </p:sp>
      <p:sp>
        <p:nvSpPr>
          <p:cNvPr id="8" name="Shape 6"/>
          <p:cNvSpPr/>
          <p:nvPr/>
        </p:nvSpPr>
        <p:spPr>
          <a:xfrm>
            <a:off x="8711803" y="2215232"/>
            <a:ext cx="0" cy="783803"/>
          </a:xfrm>
          <a:prstGeom prst="line">
            <a:avLst/>
          </a:prstGeom>
          <a:noFill/>
          <a:ln w="7144">
            <a:solidFill>
              <a:srgbClr val="D9D2BC"/>
            </a:solidFill>
            <a:prstDash val="solid"/>
          </a:ln>
        </p:spPr>
      </p:sp>
      <p:sp>
        <p:nvSpPr>
          <p:cNvPr id="9" name="Shape 7"/>
          <p:cNvSpPr/>
          <p:nvPr/>
        </p:nvSpPr>
        <p:spPr>
          <a:xfrm>
            <a:off x="428625" y="2995464"/>
            <a:ext cx="8286750" cy="0"/>
          </a:xfrm>
          <a:prstGeom prst="line">
            <a:avLst/>
          </a:prstGeom>
          <a:noFill/>
          <a:ln w="7144">
            <a:solidFill>
              <a:srgbClr val="D9D2BC"/>
            </a:solidFill>
            <a:prstDash val="solid"/>
          </a:ln>
        </p:spPr>
      </p:sp>
      <p:sp>
        <p:nvSpPr>
          <p:cNvPr id="10" name="Shape 8"/>
          <p:cNvSpPr/>
          <p:nvPr/>
        </p:nvSpPr>
        <p:spPr>
          <a:xfrm>
            <a:off x="446484" y="2215232"/>
            <a:ext cx="0" cy="783803"/>
          </a:xfrm>
          <a:prstGeom prst="line">
            <a:avLst/>
          </a:prstGeom>
          <a:noFill/>
          <a:ln w="35719">
            <a:solidFill>
              <a:srgbClr val="0F2A4A"/>
            </a:solidFill>
            <a:prstDash val="solid"/>
          </a:ln>
        </p:spPr>
      </p:sp>
      <p:sp>
        <p:nvSpPr>
          <p:cNvPr id="11" name="Shape 9"/>
          <p:cNvSpPr/>
          <p:nvPr/>
        </p:nvSpPr>
        <p:spPr>
          <a:xfrm>
            <a:off x="428625" y="3174057"/>
            <a:ext cx="8286750" cy="0"/>
          </a:xfrm>
          <a:prstGeom prst="line">
            <a:avLst/>
          </a:prstGeom>
          <a:noFill/>
          <a:ln w="7144">
            <a:solidFill>
              <a:srgbClr val="D9D2BC"/>
            </a:solidFill>
            <a:prstDash val="solid"/>
          </a:ln>
        </p:spPr>
      </p:sp>
      <p:sp>
        <p:nvSpPr>
          <p:cNvPr id="12" name="Shape 10"/>
          <p:cNvSpPr/>
          <p:nvPr/>
        </p:nvSpPr>
        <p:spPr>
          <a:xfrm>
            <a:off x="8711803" y="3170486"/>
            <a:ext cx="0" cy="668164"/>
          </a:xfrm>
          <a:prstGeom prst="line">
            <a:avLst/>
          </a:prstGeom>
          <a:noFill/>
          <a:ln w="7144">
            <a:solidFill>
              <a:srgbClr val="D9D2BC"/>
            </a:solidFill>
            <a:prstDash val="solid"/>
          </a:ln>
        </p:spPr>
      </p:sp>
      <p:sp>
        <p:nvSpPr>
          <p:cNvPr id="13" name="Shape 11"/>
          <p:cNvSpPr/>
          <p:nvPr/>
        </p:nvSpPr>
        <p:spPr>
          <a:xfrm>
            <a:off x="428625" y="3835078"/>
            <a:ext cx="8286750" cy="0"/>
          </a:xfrm>
          <a:prstGeom prst="line">
            <a:avLst/>
          </a:prstGeom>
          <a:noFill/>
          <a:ln w="7144">
            <a:solidFill>
              <a:srgbClr val="D9D2BC"/>
            </a:solidFill>
            <a:prstDash val="solid"/>
          </a:ln>
        </p:spPr>
      </p:sp>
      <p:sp>
        <p:nvSpPr>
          <p:cNvPr id="14" name="Shape 12"/>
          <p:cNvSpPr/>
          <p:nvPr/>
        </p:nvSpPr>
        <p:spPr>
          <a:xfrm>
            <a:off x="446484" y="3170486"/>
            <a:ext cx="0" cy="668164"/>
          </a:xfrm>
          <a:prstGeom prst="line">
            <a:avLst/>
          </a:prstGeom>
          <a:noFill/>
          <a:ln w="35719">
            <a:solidFill>
              <a:srgbClr val="8C6F12"/>
            </a:solidFill>
            <a:prstDash val="solid"/>
          </a:ln>
        </p:spPr>
      </p:sp>
      <p:sp>
        <p:nvSpPr>
          <p:cNvPr id="15" name="Shape 13"/>
          <p:cNvSpPr/>
          <p:nvPr/>
        </p:nvSpPr>
        <p:spPr>
          <a:xfrm>
            <a:off x="428625" y="4013671"/>
            <a:ext cx="8286750" cy="0"/>
          </a:xfrm>
          <a:prstGeom prst="line">
            <a:avLst/>
          </a:prstGeom>
          <a:noFill/>
          <a:ln w="7144">
            <a:solidFill>
              <a:srgbClr val="7A8AA0"/>
            </a:solidFill>
            <a:prstDash val="dash"/>
          </a:ln>
        </p:spPr>
      </p:sp>
      <p:sp>
        <p:nvSpPr>
          <p:cNvPr id="16" name="Shape 14"/>
          <p:cNvSpPr/>
          <p:nvPr/>
        </p:nvSpPr>
        <p:spPr>
          <a:xfrm>
            <a:off x="8711803" y="4010099"/>
            <a:ext cx="0" cy="769404"/>
          </a:xfrm>
          <a:prstGeom prst="line">
            <a:avLst/>
          </a:prstGeom>
          <a:noFill/>
          <a:ln w="7144">
            <a:solidFill>
              <a:srgbClr val="7A8AA0"/>
            </a:solidFill>
            <a:prstDash val="dash"/>
          </a:ln>
        </p:spPr>
      </p:sp>
      <p:sp>
        <p:nvSpPr>
          <p:cNvPr id="17" name="Shape 15"/>
          <p:cNvSpPr/>
          <p:nvPr/>
        </p:nvSpPr>
        <p:spPr>
          <a:xfrm>
            <a:off x="428625" y="4775932"/>
            <a:ext cx="8286750" cy="0"/>
          </a:xfrm>
          <a:prstGeom prst="line">
            <a:avLst/>
          </a:prstGeom>
          <a:noFill/>
          <a:ln w="7144">
            <a:solidFill>
              <a:srgbClr val="7A8AA0"/>
            </a:solidFill>
            <a:prstDash val="dash"/>
          </a:ln>
        </p:spPr>
      </p:sp>
      <p:sp>
        <p:nvSpPr>
          <p:cNvPr id="18" name="Shape 16"/>
          <p:cNvSpPr/>
          <p:nvPr/>
        </p:nvSpPr>
        <p:spPr>
          <a:xfrm>
            <a:off x="446484" y="4010099"/>
            <a:ext cx="0" cy="769404"/>
          </a:xfrm>
          <a:prstGeom prst="line">
            <a:avLst/>
          </a:prstGeom>
          <a:noFill/>
          <a:ln w="35719">
            <a:solidFill>
              <a:srgbClr val="C9A227"/>
            </a:solidFill>
            <a:prstDash val="dash"/>
          </a:ln>
        </p:spPr>
      </p:sp>
      <p:sp>
        <p:nvSpPr>
          <p:cNvPr id="19" name="Shape 17"/>
          <p:cNvSpPr/>
          <p:nvPr/>
        </p:nvSpPr>
        <p:spPr>
          <a:xfrm>
            <a:off x="514350" y="4793456"/>
            <a:ext cx="8115300" cy="0"/>
          </a:xfrm>
          <a:prstGeom prst="line">
            <a:avLst/>
          </a:prstGeom>
          <a:noFill/>
          <a:ln w="7144">
            <a:solidFill>
              <a:srgbClr val="D9D2BC"/>
            </a:solidFill>
            <a:prstDash val="solid"/>
          </a:ln>
        </p:spPr>
      </p:sp>
      <p:sp>
        <p:nvSpPr>
          <p:cNvPr id="20" name="Text 18"/>
          <p:cNvSpPr/>
          <p:nvPr/>
        </p:nvSpPr>
        <p:spPr>
          <a:xfrm>
            <a:off x="428625" y="257175"/>
            <a:ext cx="785109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06 · ARCHITECTURE</a:t>
            </a:r>
            <a:endParaRPr lang="en-US" sz="800" dirty="0"/>
          </a:p>
        </p:txBody>
      </p:sp>
      <p:sp>
        <p:nvSpPr>
          <p:cNvPr id="21" name="Text 19"/>
          <p:cNvSpPr/>
          <p:nvPr/>
        </p:nvSpPr>
        <p:spPr>
          <a:xfrm>
            <a:off x="8294005" y="257175"/>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09 / 21</a:t>
            </a:r>
            <a:endParaRPr lang="en-US" sz="800" dirty="0"/>
          </a:p>
        </p:txBody>
      </p:sp>
      <p:sp>
        <p:nvSpPr>
          <p:cNvPr id="22" name="Text 20"/>
          <p:cNvSpPr/>
          <p:nvPr/>
        </p:nvSpPr>
        <p:spPr>
          <a:xfrm>
            <a:off x="428625" y="692944"/>
            <a:ext cx="8286750" cy="230614"/>
          </a:xfrm>
          <a:prstGeom prst="rect">
            <a:avLst/>
          </a:prstGeom>
          <a:noFill/>
          <a:ln/>
        </p:spPr>
        <p:txBody>
          <a:bodyPr wrap="square" lIns="0" tIns="0" rIns="0" bIns="0" rtlCol="0" anchor="t"/>
          <a:lstStyle/>
          <a:p>
            <a:pPr marL="0" indent="0" algn="l">
              <a:lnSpc>
                <a:spcPts val="1682"/>
              </a:lnSpc>
              <a:buNone/>
            </a:pPr>
            <a:r>
              <a:rPr lang="en-US" sz="1463" b="1" kern="0" spc="-15" dirty="0">
                <a:solidFill>
                  <a:srgbClr val="0F2A4A"/>
                </a:solidFill>
                <a:latin typeface="Tinos" pitchFamily="34" charset="0"/>
                <a:ea typeface="Tinos" pitchFamily="34" charset="-122"/>
                <a:cs typeface="Tinos" pitchFamily="34" charset="-120"/>
              </a:rPr>
              <a:t>Layered ASP.NET architecture — presentation, application, data.</a:t>
            </a:r>
            <a:endParaRPr lang="en-US" sz="1463" dirty="0"/>
          </a:p>
        </p:txBody>
      </p:sp>
      <p:sp>
        <p:nvSpPr>
          <p:cNvPr id="24" name="Text 22"/>
          <p:cNvSpPr/>
          <p:nvPr/>
        </p:nvSpPr>
        <p:spPr>
          <a:xfrm>
            <a:off x="428625" y="1274378"/>
            <a:ext cx="8286750" cy="769404"/>
          </a:xfrm>
          <a:prstGeom prst="roundRect">
            <a:avLst>
              <a:gd name="adj" fmla="val 9904"/>
            </a:avLst>
          </a:prstGeom>
          <a:solidFill>
            <a:srgbClr val="FFFFFF"/>
          </a:solidFill>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25" name="Text 23"/>
          <p:cNvSpPr/>
          <p:nvPr/>
        </p:nvSpPr>
        <p:spPr>
          <a:xfrm>
            <a:off x="592931" y="1367247"/>
            <a:ext cx="1989534" cy="108299"/>
          </a:xfrm>
          <a:prstGeom prst="rect">
            <a:avLst/>
          </a:prstGeom>
          <a:noFill/>
          <a:ln/>
        </p:spPr>
        <p:txBody>
          <a:bodyPr wrap="none" lIns="0" tIns="0" rIns="0" bIns="0" rtlCol="0" anchor="t">
            <a:normAutofit/>
          </a:bodyPr>
          <a:lstStyle/>
          <a:p>
            <a:pPr marL="0" indent="0" algn="l">
              <a:lnSpc>
                <a:spcPts val="844"/>
              </a:lnSpc>
              <a:buNone/>
            </a:pPr>
            <a:r>
              <a:rPr lang="en-US" sz="800" b="1" kern="0" spc="90" dirty="0">
                <a:solidFill>
                  <a:srgbClr val="8C6F12"/>
                </a:solidFill>
                <a:latin typeface="Liberation Sans Narrow" pitchFamily="34" charset="0"/>
                <a:ea typeface="Liberation Sans Narrow" pitchFamily="34" charset="-122"/>
                <a:cs typeface="Liberation Sans Narrow" pitchFamily="34" charset="-120"/>
              </a:rPr>
              <a:t>LAYER 1</a:t>
            </a:r>
            <a:endParaRPr lang="en-US" sz="800" dirty="0"/>
          </a:p>
        </p:txBody>
      </p:sp>
      <p:sp>
        <p:nvSpPr>
          <p:cNvPr id="26" name="Text 24"/>
          <p:cNvSpPr/>
          <p:nvPr/>
        </p:nvSpPr>
        <p:spPr>
          <a:xfrm>
            <a:off x="592931" y="1502978"/>
            <a:ext cx="1500188" cy="116782"/>
          </a:xfrm>
          <a:prstGeom prst="rect">
            <a:avLst/>
          </a:prstGeom>
          <a:noFill/>
          <a:ln/>
        </p:spPr>
        <p:txBody>
          <a:bodyPr wrap="none" lIns="0" tIns="0" rIns="0" bIns="0" rtlCol="0" anchor="t">
            <a:normAutofit/>
          </a:bodyPr>
          <a:lstStyle/>
          <a:p>
            <a:pPr marL="0" indent="0" algn="l">
              <a:lnSpc>
                <a:spcPts val="911"/>
              </a:lnSpc>
              <a:buNone/>
            </a:pPr>
            <a:r>
              <a:rPr lang="en-US" sz="800" b="1" kern="0" spc="15" dirty="0">
                <a:solidFill>
                  <a:srgbClr val="0F2A4A"/>
                </a:solidFill>
                <a:latin typeface="Carlito" pitchFamily="34" charset="0"/>
                <a:ea typeface="Carlito" pitchFamily="34" charset="-122"/>
                <a:cs typeface="Carlito" pitchFamily="34" charset="-120"/>
              </a:rPr>
              <a:t>Presentation Layer</a:t>
            </a:r>
            <a:endParaRPr lang="en-US" sz="800" dirty="0"/>
          </a:p>
        </p:txBody>
      </p:sp>
      <p:sp>
        <p:nvSpPr>
          <p:cNvPr id="28" name="Text 26"/>
          <p:cNvSpPr/>
          <p:nvPr/>
        </p:nvSpPr>
        <p:spPr>
          <a:xfrm>
            <a:off x="2127409" y="1436925"/>
            <a:ext cx="867586" cy="212027"/>
          </a:xfrm>
          <a:prstGeom prst="roundRect">
            <a:avLst>
              <a:gd name="adj" fmla="val 4487860"/>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29" name="Text 27"/>
          <p:cNvSpPr/>
          <p:nvPr/>
        </p:nvSpPr>
        <p:spPr>
          <a:xfrm>
            <a:off x="2150269" y="1448284"/>
            <a:ext cx="821866"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8C6F12"/>
                </a:solidFill>
                <a:latin typeface="Carlito" pitchFamily="34" charset="0"/>
                <a:ea typeface="Carlito" pitchFamily="34" charset="-122"/>
                <a:cs typeface="Carlito" pitchFamily="34" charset="-120"/>
              </a:rPr>
              <a:t>Login / Sign-up</a:t>
            </a:r>
            <a:endParaRPr lang="en-US" sz="800" dirty="0"/>
          </a:p>
        </p:txBody>
      </p:sp>
      <p:sp>
        <p:nvSpPr>
          <p:cNvPr id="30" name="Text 28"/>
          <p:cNvSpPr/>
          <p:nvPr/>
        </p:nvSpPr>
        <p:spPr>
          <a:xfrm>
            <a:off x="2992137" y="1436925"/>
            <a:ext cx="961125" cy="212027"/>
          </a:xfrm>
          <a:prstGeom prst="roundRect">
            <a:avLst>
              <a:gd name="adj" fmla="val 4487860"/>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31" name="Text 29"/>
          <p:cNvSpPr/>
          <p:nvPr/>
        </p:nvSpPr>
        <p:spPr>
          <a:xfrm>
            <a:off x="3014997" y="1448284"/>
            <a:ext cx="915405"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8C6F12"/>
                </a:solidFill>
                <a:latin typeface="Carlito" pitchFamily="34" charset="0"/>
                <a:ea typeface="Carlito" pitchFamily="34" charset="-122"/>
                <a:cs typeface="Carlito" pitchFamily="34" charset="-120"/>
              </a:rPr>
              <a:t>Home Dashboard</a:t>
            </a:r>
            <a:endParaRPr lang="en-US" sz="800" dirty="0"/>
          </a:p>
        </p:txBody>
      </p:sp>
      <p:sp>
        <p:nvSpPr>
          <p:cNvPr id="32" name="Text 30"/>
          <p:cNvSpPr/>
          <p:nvPr/>
        </p:nvSpPr>
        <p:spPr>
          <a:xfrm>
            <a:off x="3950404" y="1436925"/>
            <a:ext cx="877855" cy="212027"/>
          </a:xfrm>
          <a:prstGeom prst="roundRect">
            <a:avLst>
              <a:gd name="adj" fmla="val 4487860"/>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33" name="Text 31"/>
          <p:cNvSpPr/>
          <p:nvPr/>
        </p:nvSpPr>
        <p:spPr>
          <a:xfrm>
            <a:off x="3973264" y="1448284"/>
            <a:ext cx="832135"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8C6F12"/>
                </a:solidFill>
                <a:latin typeface="Carlito" pitchFamily="34" charset="0"/>
                <a:ea typeface="Carlito" pitchFamily="34" charset="-122"/>
                <a:cs typeface="Carlito" pitchFamily="34" charset="-120"/>
              </a:rPr>
              <a:t>Medication List</a:t>
            </a:r>
            <a:endParaRPr lang="en-US" sz="800" dirty="0"/>
          </a:p>
        </p:txBody>
      </p:sp>
      <p:sp>
        <p:nvSpPr>
          <p:cNvPr id="34" name="Text 32"/>
          <p:cNvSpPr/>
          <p:nvPr/>
        </p:nvSpPr>
        <p:spPr>
          <a:xfrm>
            <a:off x="4825402" y="1436925"/>
            <a:ext cx="1227453" cy="212027"/>
          </a:xfrm>
          <a:prstGeom prst="roundRect">
            <a:avLst>
              <a:gd name="adj" fmla="val 4487860"/>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35" name="Text 33"/>
          <p:cNvSpPr/>
          <p:nvPr/>
        </p:nvSpPr>
        <p:spPr>
          <a:xfrm>
            <a:off x="4848262" y="1448284"/>
            <a:ext cx="1181733"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8C6F12"/>
                </a:solidFill>
                <a:latin typeface="Carlito" pitchFamily="34" charset="0"/>
                <a:ea typeface="Carlito" pitchFamily="34" charset="-122"/>
                <a:cs typeface="Carlito" pitchFamily="34" charset="-120"/>
              </a:rPr>
              <a:t>Interaction Check View</a:t>
            </a:r>
            <a:endParaRPr lang="en-US" sz="800" dirty="0"/>
          </a:p>
        </p:txBody>
      </p:sp>
      <p:sp>
        <p:nvSpPr>
          <p:cNvPr id="36" name="Text 34"/>
          <p:cNvSpPr/>
          <p:nvPr/>
        </p:nvSpPr>
        <p:spPr>
          <a:xfrm>
            <a:off x="6049997" y="1436925"/>
            <a:ext cx="865354" cy="212027"/>
          </a:xfrm>
          <a:prstGeom prst="roundRect">
            <a:avLst>
              <a:gd name="adj" fmla="val 4487860"/>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37" name="Text 35"/>
          <p:cNvSpPr/>
          <p:nvPr/>
        </p:nvSpPr>
        <p:spPr>
          <a:xfrm>
            <a:off x="6072857" y="1448284"/>
            <a:ext cx="819634"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8C6F12"/>
                </a:solidFill>
                <a:latin typeface="Carlito" pitchFamily="34" charset="0"/>
                <a:ea typeface="Carlito" pitchFamily="34" charset="-122"/>
                <a:cs typeface="Carlito" pitchFamily="34" charset="-120"/>
              </a:rPr>
              <a:t>Reminder View</a:t>
            </a:r>
            <a:endParaRPr lang="en-US" sz="800" dirty="0"/>
          </a:p>
        </p:txBody>
      </p:sp>
      <p:sp>
        <p:nvSpPr>
          <p:cNvPr id="38" name="Text 36"/>
          <p:cNvSpPr/>
          <p:nvPr/>
        </p:nvSpPr>
        <p:spPr>
          <a:xfrm>
            <a:off x="6912493" y="1436925"/>
            <a:ext cx="1139383" cy="212027"/>
          </a:xfrm>
          <a:prstGeom prst="roundRect">
            <a:avLst>
              <a:gd name="adj" fmla="val 4487860"/>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39" name="Text 37"/>
          <p:cNvSpPr/>
          <p:nvPr/>
        </p:nvSpPr>
        <p:spPr>
          <a:xfrm>
            <a:off x="6935353" y="1448284"/>
            <a:ext cx="1093663"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8C6F12"/>
                </a:solidFill>
                <a:latin typeface="Carlito" pitchFamily="34" charset="0"/>
                <a:ea typeface="Carlito" pitchFamily="34" charset="-122"/>
                <a:cs typeface="Carlito" pitchFamily="34" charset="-120"/>
              </a:rPr>
              <a:t>Caregiver Dashboard</a:t>
            </a:r>
            <a:endParaRPr lang="en-US" sz="800" dirty="0"/>
          </a:p>
        </p:txBody>
      </p:sp>
      <p:sp>
        <p:nvSpPr>
          <p:cNvPr id="40" name="Text 38"/>
          <p:cNvSpPr/>
          <p:nvPr/>
        </p:nvSpPr>
        <p:spPr>
          <a:xfrm>
            <a:off x="2127409" y="1669097"/>
            <a:ext cx="1020395" cy="212027"/>
          </a:xfrm>
          <a:prstGeom prst="roundRect">
            <a:avLst>
              <a:gd name="adj" fmla="val 4487860"/>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41" name="Text 39"/>
          <p:cNvSpPr/>
          <p:nvPr/>
        </p:nvSpPr>
        <p:spPr>
          <a:xfrm>
            <a:off x="2150269" y="1680456"/>
            <a:ext cx="974675"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8C6F12"/>
                </a:solidFill>
                <a:latin typeface="Carlito" pitchFamily="34" charset="0"/>
                <a:ea typeface="Carlito" pitchFamily="34" charset="-122"/>
                <a:cs typeface="Carlito" pitchFamily="34" charset="-120"/>
              </a:rPr>
              <a:t>Emergency Button</a:t>
            </a:r>
            <a:endParaRPr lang="en-US" sz="800" dirty="0"/>
          </a:p>
        </p:txBody>
      </p:sp>
      <p:sp>
        <p:nvSpPr>
          <p:cNvPr id="42" name="Text 40"/>
          <p:cNvSpPr/>
          <p:nvPr/>
        </p:nvSpPr>
        <p:spPr>
          <a:xfrm>
            <a:off x="3144947" y="1669097"/>
            <a:ext cx="668901" cy="212027"/>
          </a:xfrm>
          <a:prstGeom prst="roundRect">
            <a:avLst>
              <a:gd name="adj" fmla="val 4487860"/>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43" name="Text 41"/>
          <p:cNvSpPr/>
          <p:nvPr/>
        </p:nvSpPr>
        <p:spPr>
          <a:xfrm>
            <a:off x="3167807" y="1680456"/>
            <a:ext cx="623181"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8C6F12"/>
                </a:solidFill>
                <a:latin typeface="Carlito" pitchFamily="34" charset="0"/>
                <a:ea typeface="Carlito" pitchFamily="34" charset="-122"/>
                <a:cs typeface="Carlito" pitchFamily="34" charset="-120"/>
              </a:rPr>
              <a:t>Chatbot UI</a:t>
            </a:r>
            <a:endParaRPr lang="en-US" sz="800" dirty="0"/>
          </a:p>
        </p:txBody>
      </p:sp>
      <p:sp>
        <p:nvSpPr>
          <p:cNvPr id="44" name="Text 42"/>
          <p:cNvSpPr/>
          <p:nvPr/>
        </p:nvSpPr>
        <p:spPr>
          <a:xfrm>
            <a:off x="428625" y="2215232"/>
            <a:ext cx="8286750" cy="783803"/>
          </a:xfrm>
          <a:prstGeom prst="roundRect">
            <a:avLst>
              <a:gd name="adj" fmla="val 9722"/>
            </a:avLst>
          </a:prstGeom>
          <a:solidFill>
            <a:srgbClr val="F2EEE3"/>
          </a:solidFill>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45" name="Text 43"/>
          <p:cNvSpPr/>
          <p:nvPr/>
        </p:nvSpPr>
        <p:spPr>
          <a:xfrm>
            <a:off x="592931" y="2308101"/>
            <a:ext cx="1989534" cy="108299"/>
          </a:xfrm>
          <a:prstGeom prst="rect">
            <a:avLst/>
          </a:prstGeom>
          <a:noFill/>
          <a:ln/>
        </p:spPr>
        <p:txBody>
          <a:bodyPr wrap="none" lIns="0" tIns="0" rIns="0" bIns="0" rtlCol="0" anchor="t">
            <a:normAutofit/>
          </a:bodyPr>
          <a:lstStyle/>
          <a:p>
            <a:pPr marL="0" indent="0" algn="l">
              <a:lnSpc>
                <a:spcPts val="844"/>
              </a:lnSpc>
              <a:buNone/>
            </a:pPr>
            <a:r>
              <a:rPr lang="en-US" sz="800" b="1" kern="0" spc="90" dirty="0">
                <a:solidFill>
                  <a:srgbClr val="8C6F12"/>
                </a:solidFill>
                <a:latin typeface="Liberation Sans Narrow" pitchFamily="34" charset="0"/>
                <a:ea typeface="Liberation Sans Narrow" pitchFamily="34" charset="-122"/>
                <a:cs typeface="Liberation Sans Narrow" pitchFamily="34" charset="-120"/>
              </a:rPr>
              <a:t>LAYER 2</a:t>
            </a:r>
            <a:endParaRPr lang="en-US" sz="800" dirty="0"/>
          </a:p>
        </p:txBody>
      </p:sp>
      <p:sp>
        <p:nvSpPr>
          <p:cNvPr id="46" name="Text 44"/>
          <p:cNvSpPr/>
          <p:nvPr/>
        </p:nvSpPr>
        <p:spPr>
          <a:xfrm>
            <a:off x="592931" y="2443832"/>
            <a:ext cx="1428750" cy="232422"/>
          </a:xfrm>
          <a:prstGeom prst="rect">
            <a:avLst/>
          </a:prstGeom>
          <a:noFill/>
          <a:ln/>
        </p:spPr>
        <p:txBody>
          <a:bodyPr wrap="square" lIns="0" tIns="0" rIns="0" bIns="0" rtlCol="0" anchor="t">
            <a:normAutofit/>
          </a:bodyPr>
          <a:lstStyle/>
          <a:p>
            <a:pPr marL="0" indent="0" algn="l">
              <a:lnSpc>
                <a:spcPts val="911"/>
              </a:lnSpc>
              <a:buNone/>
            </a:pPr>
            <a:r>
              <a:rPr lang="en-US" sz="800" b="1" kern="0" spc="15" dirty="0">
                <a:solidFill>
                  <a:srgbClr val="0F2A4A"/>
                </a:solidFill>
                <a:latin typeface="Carlito" pitchFamily="34" charset="0"/>
                <a:ea typeface="Carlito" pitchFamily="34" charset="-122"/>
                <a:cs typeface="Carlito" pitchFamily="34" charset="-120"/>
              </a:rPr>
              <a:t>Application / Business Logic</a:t>
            </a:r>
            <a:endParaRPr lang="en-US" sz="800" dirty="0"/>
          </a:p>
        </p:txBody>
      </p:sp>
      <p:sp>
        <p:nvSpPr>
          <p:cNvPr id="48" name="Text 46"/>
          <p:cNvSpPr/>
          <p:nvPr/>
        </p:nvSpPr>
        <p:spPr>
          <a:xfrm>
            <a:off x="2127409" y="2385035"/>
            <a:ext cx="762327" cy="212027"/>
          </a:xfrm>
          <a:prstGeom prst="roundRect">
            <a:avLst>
              <a:gd name="adj" fmla="val 4487860"/>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49" name="Text 47"/>
          <p:cNvSpPr/>
          <p:nvPr/>
        </p:nvSpPr>
        <p:spPr>
          <a:xfrm>
            <a:off x="2150269" y="2396393"/>
            <a:ext cx="716607"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Auth Service</a:t>
            </a:r>
            <a:endParaRPr lang="en-US" sz="800" dirty="0"/>
          </a:p>
        </p:txBody>
      </p:sp>
      <p:sp>
        <p:nvSpPr>
          <p:cNvPr id="50" name="Text 48"/>
          <p:cNvSpPr/>
          <p:nvPr/>
        </p:nvSpPr>
        <p:spPr>
          <a:xfrm>
            <a:off x="2886879" y="2385035"/>
            <a:ext cx="1045510" cy="212027"/>
          </a:xfrm>
          <a:prstGeom prst="roundRect">
            <a:avLst>
              <a:gd name="adj" fmla="val 4487860"/>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51" name="Text 49"/>
          <p:cNvSpPr/>
          <p:nvPr/>
        </p:nvSpPr>
        <p:spPr>
          <a:xfrm>
            <a:off x="2909739" y="2396393"/>
            <a:ext cx="999790"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Medication Service</a:t>
            </a:r>
            <a:endParaRPr lang="en-US" sz="800" dirty="0"/>
          </a:p>
        </p:txBody>
      </p:sp>
      <p:sp>
        <p:nvSpPr>
          <p:cNvPr id="52" name="Text 50"/>
          <p:cNvSpPr/>
          <p:nvPr/>
        </p:nvSpPr>
        <p:spPr>
          <a:xfrm>
            <a:off x="3929531" y="2385035"/>
            <a:ext cx="1021065" cy="212027"/>
          </a:xfrm>
          <a:prstGeom prst="roundRect">
            <a:avLst>
              <a:gd name="adj" fmla="val 4487860"/>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53" name="Text 51"/>
          <p:cNvSpPr/>
          <p:nvPr/>
        </p:nvSpPr>
        <p:spPr>
          <a:xfrm>
            <a:off x="3952391" y="2396393"/>
            <a:ext cx="975345"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Interaction Engine</a:t>
            </a:r>
            <a:endParaRPr lang="en-US" sz="800" dirty="0"/>
          </a:p>
        </p:txBody>
      </p:sp>
      <p:sp>
        <p:nvSpPr>
          <p:cNvPr id="54" name="Text 52"/>
          <p:cNvSpPr/>
          <p:nvPr/>
        </p:nvSpPr>
        <p:spPr>
          <a:xfrm>
            <a:off x="4947739" y="2385035"/>
            <a:ext cx="1100651" cy="212027"/>
          </a:xfrm>
          <a:prstGeom prst="roundRect">
            <a:avLst>
              <a:gd name="adj" fmla="val 4487860"/>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55" name="Text 53"/>
          <p:cNvSpPr/>
          <p:nvPr/>
        </p:nvSpPr>
        <p:spPr>
          <a:xfrm>
            <a:off x="4970599" y="2396393"/>
            <a:ext cx="1054931"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Reminder Scheduler</a:t>
            </a:r>
            <a:endParaRPr lang="en-US" sz="800" dirty="0"/>
          </a:p>
        </p:txBody>
      </p:sp>
      <p:sp>
        <p:nvSpPr>
          <p:cNvPr id="56" name="Text 54"/>
          <p:cNvSpPr/>
          <p:nvPr/>
        </p:nvSpPr>
        <p:spPr>
          <a:xfrm>
            <a:off x="6071964" y="2399965"/>
            <a:ext cx="1290340" cy="182166"/>
          </a:xfrm>
          <a:prstGeom prst="roundRect">
            <a:avLst>
              <a:gd name="adj" fmla="val 5223519"/>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57" name="Text 55"/>
          <p:cNvSpPr/>
          <p:nvPr/>
        </p:nvSpPr>
        <p:spPr>
          <a:xfrm>
            <a:off x="6068392" y="2396393"/>
            <a:ext cx="1318915" cy="264345"/>
          </a:xfrm>
          <a:prstGeom prst="rect">
            <a:avLst/>
          </a:prstGeom>
          <a:noFill/>
          <a:ln/>
        </p:spPr>
        <p:txBody>
          <a:bodyPr wrap="none" lIns="64294" tIns="28575" rIns="64294" bIns="28575" rtlCol="0" anchor="t"/>
          <a:lstStyle/>
          <a:p>
            <a:pPr marL="0" indent="0" algn="l">
              <a:lnSpc>
                <a:spcPts val="928"/>
              </a:lnSpc>
              <a:buNone/>
            </a:pPr>
            <a:r>
              <a:rPr lang="en-US" sz="800" kern="0" spc="6" dirty="0">
                <a:solidFill>
                  <a:srgbClr val="0F2A4A"/>
                </a:solidFill>
                <a:latin typeface="Carlito" pitchFamily="34" charset="0"/>
                <a:ea typeface="Carlito" pitchFamily="34" charset="-122"/>
                <a:cs typeface="Carlito" pitchFamily="34" charset="-120"/>
              </a:rPr>
              <a:t>Caregiver Linking Service</a:t>
            </a:r>
            <a:endParaRPr lang="en-US" sz="800" dirty="0"/>
          </a:p>
        </p:txBody>
      </p:sp>
      <p:sp>
        <p:nvSpPr>
          <p:cNvPr id="58" name="Text 56"/>
          <p:cNvSpPr/>
          <p:nvPr/>
        </p:nvSpPr>
        <p:spPr>
          <a:xfrm>
            <a:off x="7385878" y="2385035"/>
            <a:ext cx="1203008" cy="212027"/>
          </a:xfrm>
          <a:prstGeom prst="roundRect">
            <a:avLst>
              <a:gd name="adj" fmla="val 4487860"/>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59" name="Text 57"/>
          <p:cNvSpPr/>
          <p:nvPr/>
        </p:nvSpPr>
        <p:spPr>
          <a:xfrm>
            <a:off x="7408738" y="2396393"/>
            <a:ext cx="1157288"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Emergency Dispatcher</a:t>
            </a:r>
            <a:endParaRPr lang="en-US" sz="800" dirty="0"/>
          </a:p>
        </p:txBody>
      </p:sp>
      <p:sp>
        <p:nvSpPr>
          <p:cNvPr id="60" name="Text 58"/>
          <p:cNvSpPr/>
          <p:nvPr/>
        </p:nvSpPr>
        <p:spPr>
          <a:xfrm>
            <a:off x="2127409" y="2617207"/>
            <a:ext cx="962576" cy="212027"/>
          </a:xfrm>
          <a:prstGeom prst="roundRect">
            <a:avLst>
              <a:gd name="adj" fmla="val 4487860"/>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61" name="Text 59"/>
          <p:cNvSpPr/>
          <p:nvPr/>
        </p:nvSpPr>
        <p:spPr>
          <a:xfrm>
            <a:off x="2150269" y="2628565"/>
            <a:ext cx="916856"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Chatbot Gateway</a:t>
            </a:r>
            <a:endParaRPr lang="en-US" sz="800" dirty="0"/>
          </a:p>
        </p:txBody>
      </p:sp>
      <p:sp>
        <p:nvSpPr>
          <p:cNvPr id="62" name="Text 60"/>
          <p:cNvSpPr/>
          <p:nvPr/>
        </p:nvSpPr>
        <p:spPr>
          <a:xfrm>
            <a:off x="428625" y="3170486"/>
            <a:ext cx="8286750" cy="668164"/>
          </a:xfrm>
          <a:prstGeom prst="roundRect">
            <a:avLst>
              <a:gd name="adj" fmla="val 11404"/>
            </a:avLst>
          </a:prstGeom>
          <a:solidFill>
            <a:srgbClr val="FFFFFF"/>
          </a:solidFill>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63" name="Text 61"/>
          <p:cNvSpPr/>
          <p:nvPr/>
        </p:nvSpPr>
        <p:spPr>
          <a:xfrm>
            <a:off x="592931" y="3263354"/>
            <a:ext cx="1989534" cy="108299"/>
          </a:xfrm>
          <a:prstGeom prst="rect">
            <a:avLst/>
          </a:prstGeom>
          <a:noFill/>
          <a:ln/>
        </p:spPr>
        <p:txBody>
          <a:bodyPr wrap="none" lIns="0" tIns="0" rIns="0" bIns="0" rtlCol="0" anchor="t">
            <a:normAutofit/>
          </a:bodyPr>
          <a:lstStyle/>
          <a:p>
            <a:pPr marL="0" indent="0" algn="l">
              <a:lnSpc>
                <a:spcPts val="844"/>
              </a:lnSpc>
              <a:buNone/>
            </a:pPr>
            <a:r>
              <a:rPr lang="en-US" sz="800" b="1" kern="0" spc="90" dirty="0">
                <a:solidFill>
                  <a:srgbClr val="8C6F12"/>
                </a:solidFill>
                <a:latin typeface="Liberation Sans Narrow" pitchFamily="34" charset="0"/>
                <a:ea typeface="Liberation Sans Narrow" pitchFamily="34" charset="-122"/>
                <a:cs typeface="Liberation Sans Narrow" pitchFamily="34" charset="-120"/>
              </a:rPr>
              <a:t>LAYER 3</a:t>
            </a:r>
            <a:endParaRPr lang="en-US" sz="800" dirty="0"/>
          </a:p>
        </p:txBody>
      </p:sp>
      <p:sp>
        <p:nvSpPr>
          <p:cNvPr id="64" name="Text 62"/>
          <p:cNvSpPr/>
          <p:nvPr/>
        </p:nvSpPr>
        <p:spPr>
          <a:xfrm>
            <a:off x="592931" y="3399086"/>
            <a:ext cx="1500188" cy="116782"/>
          </a:xfrm>
          <a:prstGeom prst="rect">
            <a:avLst/>
          </a:prstGeom>
          <a:noFill/>
          <a:ln/>
        </p:spPr>
        <p:txBody>
          <a:bodyPr wrap="none" lIns="0" tIns="0" rIns="0" bIns="0" rtlCol="0" anchor="t">
            <a:normAutofit/>
          </a:bodyPr>
          <a:lstStyle/>
          <a:p>
            <a:pPr marL="0" indent="0" algn="l">
              <a:lnSpc>
                <a:spcPts val="911"/>
              </a:lnSpc>
              <a:buNone/>
            </a:pPr>
            <a:r>
              <a:rPr lang="en-US" sz="800" b="1" kern="0" spc="15" dirty="0">
                <a:solidFill>
                  <a:srgbClr val="0F2A4A"/>
                </a:solidFill>
                <a:latin typeface="Carlito" pitchFamily="34" charset="0"/>
                <a:ea typeface="Carlito" pitchFamily="34" charset="-122"/>
                <a:cs typeface="Carlito" pitchFamily="34" charset="-120"/>
              </a:rPr>
              <a:t>Data Access Layer</a:t>
            </a:r>
            <a:endParaRPr lang="en-US" sz="800" dirty="0"/>
          </a:p>
        </p:txBody>
      </p:sp>
      <p:sp>
        <p:nvSpPr>
          <p:cNvPr id="66" name="Text 64"/>
          <p:cNvSpPr/>
          <p:nvPr/>
        </p:nvSpPr>
        <p:spPr>
          <a:xfrm>
            <a:off x="2127409" y="3398554"/>
            <a:ext cx="1125208" cy="212027"/>
          </a:xfrm>
          <a:prstGeom prst="roundRect">
            <a:avLst>
              <a:gd name="adj" fmla="val 4487860"/>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67" name="Text 65"/>
          <p:cNvSpPr/>
          <p:nvPr/>
        </p:nvSpPr>
        <p:spPr>
          <a:xfrm>
            <a:off x="2150269" y="3409913"/>
            <a:ext cx="1079488"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EF Core Repositories</a:t>
            </a:r>
            <a:endParaRPr lang="en-US" sz="800" dirty="0"/>
          </a:p>
        </p:txBody>
      </p:sp>
      <p:sp>
        <p:nvSpPr>
          <p:cNvPr id="68" name="Text 66"/>
          <p:cNvSpPr/>
          <p:nvPr/>
        </p:nvSpPr>
        <p:spPr>
          <a:xfrm>
            <a:off x="3249759" y="3398554"/>
            <a:ext cx="815236" cy="212027"/>
          </a:xfrm>
          <a:prstGeom prst="roundRect">
            <a:avLst>
              <a:gd name="adj" fmla="val 4487860"/>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69" name="Text 67"/>
          <p:cNvSpPr/>
          <p:nvPr/>
        </p:nvSpPr>
        <p:spPr>
          <a:xfrm>
            <a:off x="3272619" y="3409913"/>
            <a:ext cx="769516"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Identity Store</a:t>
            </a:r>
            <a:endParaRPr lang="en-US" sz="800" dirty="0"/>
          </a:p>
        </p:txBody>
      </p:sp>
      <p:sp>
        <p:nvSpPr>
          <p:cNvPr id="70" name="Text 68"/>
          <p:cNvSpPr/>
          <p:nvPr/>
        </p:nvSpPr>
        <p:spPr>
          <a:xfrm>
            <a:off x="4062137" y="3398554"/>
            <a:ext cx="957441" cy="212027"/>
          </a:xfrm>
          <a:prstGeom prst="roundRect">
            <a:avLst>
              <a:gd name="adj" fmla="val 4487860"/>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71" name="Text 69"/>
          <p:cNvSpPr/>
          <p:nvPr/>
        </p:nvSpPr>
        <p:spPr>
          <a:xfrm>
            <a:off x="4084997" y="3409913"/>
            <a:ext cx="911721"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Medication Store</a:t>
            </a:r>
            <a:endParaRPr lang="en-US" sz="800" dirty="0"/>
          </a:p>
        </p:txBody>
      </p:sp>
      <p:sp>
        <p:nvSpPr>
          <p:cNvPr id="72" name="Text 70"/>
          <p:cNvSpPr/>
          <p:nvPr/>
        </p:nvSpPr>
        <p:spPr>
          <a:xfrm>
            <a:off x="5016721" y="3398554"/>
            <a:ext cx="860666" cy="212027"/>
          </a:xfrm>
          <a:prstGeom prst="roundRect">
            <a:avLst>
              <a:gd name="adj" fmla="val 4487860"/>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73" name="Text 71"/>
          <p:cNvSpPr/>
          <p:nvPr/>
        </p:nvSpPr>
        <p:spPr>
          <a:xfrm>
            <a:off x="5039581" y="3409913"/>
            <a:ext cx="814946"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Adherence Log</a:t>
            </a:r>
            <a:endParaRPr lang="en-US" sz="800" dirty="0"/>
          </a:p>
        </p:txBody>
      </p:sp>
      <p:sp>
        <p:nvSpPr>
          <p:cNvPr id="74" name="Text 72"/>
          <p:cNvSpPr/>
          <p:nvPr/>
        </p:nvSpPr>
        <p:spPr>
          <a:xfrm>
            <a:off x="5874529" y="3398554"/>
            <a:ext cx="889017" cy="212027"/>
          </a:xfrm>
          <a:prstGeom prst="roundRect">
            <a:avLst>
              <a:gd name="adj" fmla="val 4487860"/>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75" name="Text 73"/>
          <p:cNvSpPr/>
          <p:nvPr/>
        </p:nvSpPr>
        <p:spPr>
          <a:xfrm>
            <a:off x="5897389" y="3409913"/>
            <a:ext cx="843297"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Caregiver Links</a:t>
            </a:r>
            <a:endParaRPr lang="en-US" sz="800" dirty="0"/>
          </a:p>
        </p:txBody>
      </p:sp>
      <p:sp>
        <p:nvSpPr>
          <p:cNvPr id="76" name="Text 74"/>
          <p:cNvSpPr/>
          <p:nvPr/>
        </p:nvSpPr>
        <p:spPr>
          <a:xfrm>
            <a:off x="6761350" y="3398554"/>
            <a:ext cx="599378" cy="212027"/>
          </a:xfrm>
          <a:prstGeom prst="roundRect">
            <a:avLst>
              <a:gd name="adj" fmla="val 4487860"/>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77" name="Text 75"/>
          <p:cNvSpPr/>
          <p:nvPr/>
        </p:nvSpPr>
        <p:spPr>
          <a:xfrm>
            <a:off x="6783549" y="3409913"/>
            <a:ext cx="554980"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Alert Log</a:t>
            </a:r>
            <a:endParaRPr lang="en-US" sz="800" dirty="0"/>
          </a:p>
        </p:txBody>
      </p:sp>
      <p:sp>
        <p:nvSpPr>
          <p:cNvPr id="78" name="Text 76"/>
          <p:cNvSpPr/>
          <p:nvPr/>
        </p:nvSpPr>
        <p:spPr>
          <a:xfrm>
            <a:off x="428625" y="4010099"/>
            <a:ext cx="8286750" cy="769404"/>
          </a:xfrm>
          <a:prstGeom prst="roundRect">
            <a:avLst>
              <a:gd name="adj" fmla="val 9904"/>
            </a:avLst>
          </a:prstGeom>
          <a:solidFill>
            <a:srgbClr val="F2EEE3"/>
          </a:solidFill>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79" name="Text 77"/>
          <p:cNvSpPr/>
          <p:nvPr/>
        </p:nvSpPr>
        <p:spPr>
          <a:xfrm>
            <a:off x="592931" y="4102968"/>
            <a:ext cx="1835229" cy="108299"/>
          </a:xfrm>
          <a:prstGeom prst="rect">
            <a:avLst/>
          </a:prstGeom>
          <a:noFill/>
          <a:ln/>
        </p:spPr>
        <p:txBody>
          <a:bodyPr wrap="none" lIns="0" tIns="0" rIns="0" bIns="0" rtlCol="0" anchor="t">
            <a:normAutofit/>
          </a:bodyPr>
          <a:lstStyle/>
          <a:p>
            <a:pPr marL="0" indent="0" algn="l">
              <a:lnSpc>
                <a:spcPts val="844"/>
              </a:lnSpc>
              <a:buNone/>
            </a:pPr>
            <a:r>
              <a:rPr lang="en-US" sz="800" b="1" kern="0" spc="90" dirty="0">
                <a:solidFill>
                  <a:srgbClr val="8C6F12"/>
                </a:solidFill>
                <a:latin typeface="Liberation Sans Narrow" pitchFamily="34" charset="0"/>
                <a:ea typeface="Liberation Sans Narrow" pitchFamily="34" charset="-122"/>
                <a:cs typeface="Liberation Sans Narrow" pitchFamily="34" charset="-120"/>
              </a:rPr>
              <a:t>LAYER 4 · EXTERNAL</a:t>
            </a:r>
            <a:endParaRPr lang="en-US" sz="800" dirty="0"/>
          </a:p>
        </p:txBody>
      </p:sp>
      <p:sp>
        <p:nvSpPr>
          <p:cNvPr id="80" name="Text 78"/>
          <p:cNvSpPr/>
          <p:nvPr/>
        </p:nvSpPr>
        <p:spPr>
          <a:xfrm>
            <a:off x="592931" y="4238699"/>
            <a:ext cx="1500188" cy="116782"/>
          </a:xfrm>
          <a:prstGeom prst="rect">
            <a:avLst/>
          </a:prstGeom>
          <a:noFill/>
          <a:ln/>
        </p:spPr>
        <p:txBody>
          <a:bodyPr wrap="none" lIns="0" tIns="0" rIns="0" bIns="0" rtlCol="0" anchor="t">
            <a:normAutofit/>
          </a:bodyPr>
          <a:lstStyle/>
          <a:p>
            <a:pPr marL="0" indent="0" algn="l">
              <a:lnSpc>
                <a:spcPts val="911"/>
              </a:lnSpc>
              <a:buNone/>
            </a:pPr>
            <a:r>
              <a:rPr lang="en-US" sz="800" b="1" kern="0" spc="15" dirty="0">
                <a:solidFill>
                  <a:srgbClr val="0F2A4A"/>
                </a:solidFill>
                <a:latin typeface="Carlito" pitchFamily="34" charset="0"/>
                <a:ea typeface="Carlito" pitchFamily="34" charset="-122"/>
                <a:cs typeface="Carlito" pitchFamily="34" charset="-120"/>
              </a:rPr>
              <a:t>External Services</a:t>
            </a:r>
            <a:endParaRPr lang="en-US" sz="800" dirty="0"/>
          </a:p>
        </p:txBody>
      </p:sp>
      <p:sp>
        <p:nvSpPr>
          <p:cNvPr id="82" name="Text 80"/>
          <p:cNvSpPr/>
          <p:nvPr/>
        </p:nvSpPr>
        <p:spPr>
          <a:xfrm>
            <a:off x="2127409" y="4288732"/>
            <a:ext cx="844034" cy="212027"/>
          </a:xfrm>
          <a:prstGeom prst="roundRect">
            <a:avLst>
              <a:gd name="adj" fmla="val 4487860"/>
            </a:avLst>
          </a:prstGeom>
          <a:solidFill>
            <a:srgbClr val="FFFFFF"/>
          </a:solidFill>
          <a:ln w="7144">
            <a:solidFill>
              <a:srgbClr val="0F2A4A"/>
            </a:solidFill>
            <a:prstDash val="dash"/>
          </a:ln>
        </p:spPr>
        <p:txBody>
          <a:bodyPr wrap="square" rtlCol="0" anchor="ctr"/>
          <a:lstStyle/>
          <a:p>
            <a:pPr marL="0" indent="0">
              <a:buNone/>
            </a:pPr>
            <a:endParaRPr lang="en-US" dirty="0"/>
          </a:p>
        </p:txBody>
      </p:sp>
      <p:sp>
        <p:nvSpPr>
          <p:cNvPr id="83" name="Text 81"/>
          <p:cNvSpPr/>
          <p:nvPr/>
        </p:nvSpPr>
        <p:spPr>
          <a:xfrm>
            <a:off x="2150269" y="4300091"/>
            <a:ext cx="798314"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AI Chatbot API</a:t>
            </a:r>
            <a:endParaRPr lang="en-US" sz="800" dirty="0"/>
          </a:p>
        </p:txBody>
      </p:sp>
      <p:sp>
        <p:nvSpPr>
          <p:cNvPr id="84" name="Text 82"/>
          <p:cNvSpPr/>
          <p:nvPr/>
        </p:nvSpPr>
        <p:spPr>
          <a:xfrm>
            <a:off x="2995017" y="4303663"/>
            <a:ext cx="1357089" cy="182166"/>
          </a:xfrm>
          <a:prstGeom prst="roundRect">
            <a:avLst>
              <a:gd name="adj" fmla="val 5223519"/>
            </a:avLst>
          </a:prstGeom>
          <a:solidFill>
            <a:srgbClr val="FFFFFF"/>
          </a:solidFill>
          <a:ln w="7144">
            <a:solidFill>
              <a:srgbClr val="0F2A4A"/>
            </a:solidFill>
            <a:prstDash val="dash"/>
          </a:ln>
        </p:spPr>
        <p:txBody>
          <a:bodyPr wrap="square" rtlCol="0" anchor="ctr"/>
          <a:lstStyle/>
          <a:p>
            <a:pPr marL="0" indent="0">
              <a:buNone/>
            </a:pPr>
            <a:endParaRPr lang="en-US" dirty="0"/>
          </a:p>
        </p:txBody>
      </p:sp>
      <p:sp>
        <p:nvSpPr>
          <p:cNvPr id="85" name="Text 83"/>
          <p:cNvSpPr/>
          <p:nvPr/>
        </p:nvSpPr>
        <p:spPr>
          <a:xfrm>
            <a:off x="2991445" y="4300091"/>
            <a:ext cx="5588198" cy="264345"/>
          </a:xfrm>
          <a:prstGeom prst="rect">
            <a:avLst/>
          </a:prstGeom>
          <a:noFill/>
          <a:ln/>
        </p:spPr>
        <p:txBody>
          <a:bodyPr wrap="none" lIns="64294" tIns="28575" rIns="64294" bIns="28575" rtlCol="0" anchor="t"/>
          <a:lstStyle/>
          <a:p>
            <a:pPr marL="0" indent="0" algn="l">
              <a:lnSpc>
                <a:spcPts val="928"/>
              </a:lnSpc>
              <a:buNone/>
            </a:pPr>
            <a:r>
              <a:rPr lang="en-US" sz="800" kern="0" spc="6" dirty="0">
                <a:solidFill>
                  <a:srgbClr val="0F2A4A"/>
                </a:solidFill>
                <a:latin typeface="Carlito" pitchFamily="34" charset="0"/>
                <a:ea typeface="Carlito" pitchFamily="34" charset="-122"/>
                <a:cs typeface="Carlito" pitchFamily="34" charset="-120"/>
              </a:rPr>
              <a:t>Email / Notification Service</a:t>
            </a:r>
            <a:endParaRPr lang="en-US" sz="800" dirty="0"/>
          </a:p>
        </p:txBody>
      </p:sp>
      <p:sp>
        <p:nvSpPr>
          <p:cNvPr id="86" name="Text 84"/>
          <p:cNvSpPr/>
          <p:nvPr/>
        </p:nvSpPr>
        <p:spPr>
          <a:xfrm>
            <a:off x="428625" y="4879516"/>
            <a:ext cx="8286750" cy="243557"/>
          </a:xfrm>
          <a:prstGeom prst="roundRect">
            <a:avLst>
              <a:gd name="adj" fmla="val 23465"/>
            </a:avLst>
          </a:prstGeom>
          <a:solidFill>
            <a:srgbClr val="0F2A4A"/>
          </a:solidFill>
          <a:ln/>
        </p:spPr>
        <p:txBody>
          <a:bodyPr wrap="square" rtlCol="0" anchor="ctr"/>
          <a:lstStyle/>
          <a:p>
            <a:pPr marL="0" indent="0">
              <a:buNone/>
            </a:pPr>
            <a:endParaRPr lang="en-US" dirty="0"/>
          </a:p>
        </p:txBody>
      </p:sp>
      <p:sp>
        <p:nvSpPr>
          <p:cNvPr id="87" name="Text 85"/>
          <p:cNvSpPr/>
          <p:nvPr/>
        </p:nvSpPr>
        <p:spPr>
          <a:xfrm>
            <a:off x="542925" y="4944145"/>
            <a:ext cx="114300" cy="114300"/>
          </a:xfrm>
          <a:prstGeom prst="rect">
            <a:avLst/>
          </a:prstGeom>
          <a:noFill/>
          <a:ln/>
        </p:spPr>
        <p:txBody>
          <a:bodyPr wrap="none" lIns="0" tIns="0" rIns="0" bIns="0" rtlCol="0" anchor="ctr"/>
          <a:lstStyle/>
          <a:p>
            <a:pPr marL="0" indent="0" algn="ctr">
              <a:buNone/>
            </a:pPr>
            <a:r>
              <a:rPr lang="en-US" sz="1125" dirty="0">
                <a:solidFill>
                  <a:srgbClr val="E6C75A"/>
                </a:solidFill>
                <a:latin typeface="Segoe UI Symbol" pitchFamily="34" charset="0"/>
                <a:ea typeface="Segoe UI Symbol" pitchFamily="34" charset="-122"/>
                <a:cs typeface="Segoe UI Symbol" pitchFamily="34" charset="-120"/>
              </a:rPr>
              <a:t>↓</a:t>
            </a:r>
            <a:endParaRPr lang="en-US" sz="1125" dirty="0"/>
          </a:p>
        </p:txBody>
      </p:sp>
      <p:sp>
        <p:nvSpPr>
          <p:cNvPr id="88" name="Text 86"/>
          <p:cNvSpPr/>
          <p:nvPr/>
        </p:nvSpPr>
        <p:spPr>
          <a:xfrm>
            <a:off x="728663" y="4943810"/>
            <a:ext cx="7872413" cy="114970"/>
          </a:xfrm>
          <a:prstGeom prst="rect">
            <a:avLst/>
          </a:prstGeom>
          <a:noFill/>
          <a:ln/>
        </p:spPr>
        <p:txBody>
          <a:bodyPr wrap="square" lIns="0" tIns="0" rIns="0" bIns="0" rtlCol="0" anchor="t"/>
          <a:lstStyle/>
          <a:p>
            <a:pPr marL="0" indent="0" algn="l">
              <a:lnSpc>
                <a:spcPts val="906"/>
              </a:lnSpc>
              <a:buNone/>
            </a:pPr>
            <a:r>
              <a:rPr lang="en-US" sz="800" kern="0" spc="13" dirty="0">
                <a:solidFill>
                  <a:srgbClr val="FFFFFF"/>
                </a:solidFill>
                <a:latin typeface="Carlito" pitchFamily="34" charset="0"/>
                <a:ea typeface="Carlito" pitchFamily="34" charset="-122"/>
                <a:cs typeface="Carlito" pitchFamily="34" charset="-120"/>
              </a:rPr>
              <a:t>Data flows top-down: a request from the UI is validated in the business layer, persisted via EF Core, and may invoke an external AI service before returning.</a:t>
            </a:r>
            <a:endParaRPr lang="en-US" sz="800" dirty="0"/>
          </a:p>
        </p:txBody>
      </p:sp>
      <p:sp>
        <p:nvSpPr>
          <p:cNvPr id="90" name="Text 88"/>
          <p:cNvSpPr/>
          <p:nvPr/>
        </p:nvSpPr>
        <p:spPr>
          <a:xfrm>
            <a:off x="8073107" y="4868466"/>
            <a:ext cx="556543"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Architecture</a:t>
            </a:r>
            <a:endParaRPr lang="en-US" sz="8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457200" y="517922"/>
            <a:ext cx="8229600" cy="0"/>
          </a:xfrm>
          <a:prstGeom prst="line">
            <a:avLst/>
          </a:prstGeom>
          <a:noFill/>
          <a:ln w="7144">
            <a:solidFill>
              <a:srgbClr val="D9D2BC"/>
            </a:solidFill>
            <a:prstDash val="solid"/>
          </a:ln>
        </p:spPr>
      </p:sp>
      <p:sp>
        <p:nvSpPr>
          <p:cNvPr id="3" name="Shape 1"/>
          <p:cNvSpPr/>
          <p:nvPr/>
        </p:nvSpPr>
        <p:spPr>
          <a:xfrm>
            <a:off x="578644" y="2302297"/>
            <a:ext cx="1718072" cy="0"/>
          </a:xfrm>
          <a:prstGeom prst="line">
            <a:avLst/>
          </a:prstGeom>
          <a:noFill/>
          <a:ln w="7144">
            <a:solidFill>
              <a:srgbClr val="D9D2BC"/>
            </a:solidFill>
            <a:prstDash val="solid"/>
          </a:ln>
        </p:spPr>
      </p:sp>
      <p:sp>
        <p:nvSpPr>
          <p:cNvPr id="4" name="Shape 2"/>
          <p:cNvSpPr/>
          <p:nvPr/>
        </p:nvSpPr>
        <p:spPr>
          <a:xfrm>
            <a:off x="2668191" y="2302297"/>
            <a:ext cx="1718072" cy="0"/>
          </a:xfrm>
          <a:prstGeom prst="line">
            <a:avLst/>
          </a:prstGeom>
          <a:noFill/>
          <a:ln w="7144">
            <a:solidFill>
              <a:srgbClr val="D9D2BC"/>
            </a:solidFill>
            <a:prstDash val="solid"/>
          </a:ln>
        </p:spPr>
      </p:sp>
      <p:sp>
        <p:nvSpPr>
          <p:cNvPr id="5" name="Shape 3"/>
          <p:cNvSpPr/>
          <p:nvPr/>
        </p:nvSpPr>
        <p:spPr>
          <a:xfrm>
            <a:off x="4757738" y="2302297"/>
            <a:ext cx="1718072" cy="0"/>
          </a:xfrm>
          <a:prstGeom prst="line">
            <a:avLst/>
          </a:prstGeom>
          <a:noFill/>
          <a:ln w="7144">
            <a:solidFill>
              <a:srgbClr val="D9D2BC"/>
            </a:solidFill>
            <a:prstDash val="solid"/>
          </a:ln>
        </p:spPr>
      </p:sp>
      <p:sp>
        <p:nvSpPr>
          <p:cNvPr id="6" name="Shape 4"/>
          <p:cNvSpPr/>
          <p:nvPr/>
        </p:nvSpPr>
        <p:spPr>
          <a:xfrm>
            <a:off x="6847284" y="2302297"/>
            <a:ext cx="1718072" cy="0"/>
          </a:xfrm>
          <a:prstGeom prst="line">
            <a:avLst/>
          </a:prstGeom>
          <a:noFill/>
          <a:ln w="7144">
            <a:solidFill>
              <a:srgbClr val="D9D2BC"/>
            </a:solidFill>
            <a:prstDash val="solid"/>
          </a:ln>
        </p:spPr>
      </p:sp>
      <p:sp>
        <p:nvSpPr>
          <p:cNvPr id="7" name="Shape 5"/>
          <p:cNvSpPr/>
          <p:nvPr/>
        </p:nvSpPr>
        <p:spPr>
          <a:xfrm>
            <a:off x="514350" y="4793456"/>
            <a:ext cx="8115300" cy="0"/>
          </a:xfrm>
          <a:prstGeom prst="line">
            <a:avLst/>
          </a:prstGeom>
          <a:noFill/>
          <a:ln w="7144">
            <a:solidFill>
              <a:srgbClr val="D9D2BC"/>
            </a:solidFill>
            <a:prstDash val="solid"/>
          </a:ln>
        </p:spPr>
      </p:sp>
      <p:sp>
        <p:nvSpPr>
          <p:cNvPr id="8" name="Text 6"/>
          <p:cNvSpPr/>
          <p:nvPr/>
        </p:nvSpPr>
        <p:spPr>
          <a:xfrm>
            <a:off x="457200" y="285750"/>
            <a:ext cx="779394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06 · TECH STACK</a:t>
            </a:r>
            <a:endParaRPr lang="en-US" sz="800" dirty="0"/>
          </a:p>
        </p:txBody>
      </p:sp>
      <p:sp>
        <p:nvSpPr>
          <p:cNvPr id="9" name="Text 7"/>
          <p:cNvSpPr/>
          <p:nvPr/>
        </p:nvSpPr>
        <p:spPr>
          <a:xfrm>
            <a:off x="8265430" y="285750"/>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10 / 21</a:t>
            </a:r>
            <a:endParaRPr lang="en-US" sz="800" dirty="0"/>
          </a:p>
        </p:txBody>
      </p:sp>
      <p:sp>
        <p:nvSpPr>
          <p:cNvPr id="10" name="Text 8"/>
          <p:cNvSpPr/>
          <p:nvPr/>
        </p:nvSpPr>
        <p:spPr>
          <a:xfrm>
            <a:off x="457200" y="721519"/>
            <a:ext cx="8636000" cy="266176"/>
          </a:xfrm>
          <a:prstGeom prst="rect">
            <a:avLst/>
          </a:prstGeom>
          <a:noFill/>
          <a:ln/>
        </p:spPr>
        <p:txBody>
          <a:bodyPr wrap="none" lIns="0" tIns="0" rIns="0" bIns="0" rtlCol="0" anchor="t"/>
          <a:lstStyle/>
          <a:p>
            <a:pPr marL="0" indent="0" algn="l">
              <a:lnSpc>
                <a:spcPts val="1941"/>
              </a:lnSpc>
              <a:buNone/>
            </a:pPr>
            <a:r>
              <a:rPr lang="en-US" sz="1688" b="1" kern="0" spc="-17" dirty="0">
                <a:solidFill>
                  <a:srgbClr val="0F2A4A"/>
                </a:solidFill>
                <a:latin typeface="Tinos" pitchFamily="34" charset="0"/>
                <a:ea typeface="Tinos" pitchFamily="34" charset="-122"/>
                <a:cs typeface="Tinos" pitchFamily="34" charset="-120"/>
              </a:rPr>
              <a:t>Tools &amp; technologies</a:t>
            </a:r>
            <a:endParaRPr lang="en-US" sz="1688" dirty="0"/>
          </a:p>
        </p:txBody>
      </p:sp>
      <p:sp>
        <p:nvSpPr>
          <p:cNvPr id="11" name="Text 9"/>
          <p:cNvSpPr/>
          <p:nvPr/>
        </p:nvSpPr>
        <p:spPr>
          <a:xfrm>
            <a:off x="457200" y="1053703"/>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12" name="Text 10"/>
          <p:cNvSpPr/>
          <p:nvPr/>
        </p:nvSpPr>
        <p:spPr>
          <a:xfrm>
            <a:off x="457200" y="1160859"/>
            <a:ext cx="7858125" cy="169980"/>
          </a:xfrm>
          <a:prstGeom prst="rect">
            <a:avLst/>
          </a:prstGeom>
          <a:noFill/>
          <a:ln/>
        </p:spPr>
        <p:txBody>
          <a:bodyPr wrap="square" lIns="0" tIns="0" rIns="0" bIns="0" rtlCol="0" anchor="t"/>
          <a:lstStyle/>
          <a:p>
            <a:pPr marL="0" indent="0" algn="l">
              <a:lnSpc>
                <a:spcPts val="1221"/>
              </a:lnSpc>
              <a:buNone/>
            </a:pPr>
            <a:r>
              <a:rPr lang="en-US" sz="800" dirty="0">
                <a:solidFill>
                  <a:srgbClr val="4A5A75"/>
                </a:solidFill>
                <a:latin typeface="Carlito" pitchFamily="34" charset="0"/>
                <a:ea typeface="Carlito" pitchFamily="34" charset="-122"/>
                <a:cs typeface="Carlito" pitchFamily="34" charset="-120"/>
              </a:rPr>
              <a:t>A pragmatic Microsoft-stack web app, with an external AI service for the chatbot and an open interaction dataset for safety checks.</a:t>
            </a:r>
            <a:endParaRPr lang="en-US" sz="800" dirty="0"/>
          </a:p>
        </p:txBody>
      </p:sp>
      <p:sp>
        <p:nvSpPr>
          <p:cNvPr id="13" name="Text 11"/>
          <p:cNvSpPr/>
          <p:nvPr/>
        </p:nvSpPr>
        <p:spPr>
          <a:xfrm>
            <a:off x="433750" y="1524551"/>
            <a:ext cx="1953816" cy="2128614"/>
          </a:xfrm>
          <a:prstGeom prst="roundRect">
            <a:avLst>
              <a:gd name="adj" fmla="val 3900"/>
            </a:avLst>
          </a:prstGeom>
          <a:solidFill>
            <a:srgbClr val="FFFFFF"/>
          </a:solidFill>
          <a:ln w="7144">
            <a:solidFill>
              <a:srgbClr val="D9D2BC"/>
            </a:solidFill>
            <a:prstDash val="solid"/>
          </a:ln>
          <a:effectLst>
            <a:outerShdw blurRad="38100" dist="19050" dir="5400000" algn="bl" rotWithShape="0">
              <a:srgbClr val="0F2A4A">
                <a:alpha val="5000"/>
              </a:srgbClr>
            </a:outerShdw>
          </a:effectLst>
        </p:spPr>
        <p:txBody>
          <a:bodyPr wrap="square" rtlCol="0" anchor="ctr"/>
          <a:lstStyle/>
          <a:p>
            <a:pPr marL="0" indent="0">
              <a:buNone/>
            </a:pPr>
            <a:endParaRPr lang="en-US" dirty="0"/>
          </a:p>
        </p:txBody>
      </p:sp>
      <p:sp>
        <p:nvSpPr>
          <p:cNvPr id="14" name="Text 12"/>
          <p:cNvSpPr/>
          <p:nvPr/>
        </p:nvSpPr>
        <p:spPr>
          <a:xfrm>
            <a:off x="578644" y="1594396"/>
            <a:ext cx="257175" cy="257175"/>
          </a:xfrm>
          <a:prstGeom prst="roundRect">
            <a:avLst>
              <a:gd name="adj" fmla="val 29630"/>
            </a:avLst>
          </a:prstGeom>
          <a:solidFill>
            <a:srgbClr val="0F2A4A"/>
          </a:solidFill>
          <a:ln/>
        </p:spPr>
        <p:txBody>
          <a:bodyPr wrap="square" rtlCol="0" anchor="ctr"/>
          <a:lstStyle/>
          <a:p>
            <a:pPr marL="0" indent="0">
              <a:buNone/>
            </a:pPr>
            <a:endParaRPr lang="en-US" dirty="0"/>
          </a:p>
        </p:txBody>
      </p:sp>
      <p:sp>
        <p:nvSpPr>
          <p:cNvPr id="15" name="Text 13"/>
          <p:cNvSpPr/>
          <p:nvPr/>
        </p:nvSpPr>
        <p:spPr>
          <a:xfrm>
            <a:off x="603647" y="1619399"/>
            <a:ext cx="207169" cy="207169"/>
          </a:xfrm>
          <a:prstGeom prst="rect">
            <a:avLst/>
          </a:prstGeom>
          <a:noFill/>
          <a:ln/>
        </p:spPr>
        <p:txBody>
          <a:bodyPr wrap="none" lIns="0" tIns="0" rIns="0" bIns="0" rtlCol="0" anchor="ctr"/>
          <a:lstStyle/>
          <a:p>
            <a:pPr marL="0" indent="0" algn="ctr">
              <a:buNone/>
            </a:pPr>
            <a:r>
              <a:rPr lang="en-US" sz="1406" dirty="0">
                <a:solidFill>
                  <a:srgbClr val="E6C75A"/>
                </a:solidFill>
                <a:latin typeface="Segoe UI Symbol" pitchFamily="34" charset="0"/>
                <a:ea typeface="Segoe UI Symbol" pitchFamily="34" charset="-122"/>
                <a:cs typeface="Segoe UI Symbol" pitchFamily="34" charset="-120"/>
              </a:rPr>
              <a:t>▦</a:t>
            </a:r>
            <a:endParaRPr lang="en-US" sz="1406" dirty="0"/>
          </a:p>
        </p:txBody>
      </p:sp>
      <p:sp>
        <p:nvSpPr>
          <p:cNvPr id="16" name="Text 14"/>
          <p:cNvSpPr/>
          <p:nvPr/>
        </p:nvSpPr>
        <p:spPr>
          <a:xfrm>
            <a:off x="578644" y="1923008"/>
            <a:ext cx="1718072" cy="161877"/>
          </a:xfrm>
          <a:prstGeom prst="rect">
            <a:avLst/>
          </a:prstGeom>
          <a:noFill/>
          <a:ln/>
        </p:spPr>
        <p:txBody>
          <a:bodyPr wrap="none" lIns="0" tIns="0" rIns="0" bIns="0" rtlCol="0" anchor="t">
            <a:normAutofit/>
          </a:bodyPr>
          <a:lstStyle/>
          <a:p>
            <a:pPr marL="0" indent="0" algn="l">
              <a:lnSpc>
                <a:spcPts val="1266"/>
              </a:lnSpc>
              <a:buNone/>
            </a:pPr>
            <a:r>
              <a:rPr lang="en-US" sz="844" b="1" kern="0" spc="34" dirty="0">
                <a:solidFill>
                  <a:srgbClr val="0F2A4A"/>
                </a:solidFill>
                <a:latin typeface="Carlito" pitchFamily="34" charset="0"/>
                <a:ea typeface="Carlito" pitchFamily="34" charset="-122"/>
                <a:cs typeface="Carlito" pitchFamily="34" charset="-120"/>
              </a:rPr>
              <a:t>BACKEND</a:t>
            </a:r>
            <a:endParaRPr lang="en-US" sz="844" dirty="0"/>
          </a:p>
        </p:txBody>
      </p:sp>
      <p:sp>
        <p:nvSpPr>
          <p:cNvPr id="17" name="Text 15"/>
          <p:cNvSpPr/>
          <p:nvPr/>
        </p:nvSpPr>
        <p:spPr>
          <a:xfrm>
            <a:off x="578644" y="2112318"/>
            <a:ext cx="1718072" cy="251844"/>
          </a:xfrm>
          <a:prstGeom prst="rect">
            <a:avLst/>
          </a:prstGeom>
          <a:noFill/>
          <a:ln/>
        </p:spPr>
        <p:txBody>
          <a:bodyPr wrap="none" lIns="0" tIns="0" rIns="0" bIns="71438" rtlCol="0" anchor="t">
            <a:normAutofit/>
          </a:bodyPr>
          <a:lstStyle/>
          <a:p>
            <a:pPr marL="0" indent="0" algn="l">
              <a:lnSpc>
                <a:spcPts val="906"/>
              </a:lnSpc>
              <a:buNone/>
            </a:pPr>
            <a:r>
              <a:rPr lang="en-US" sz="800" dirty="0">
                <a:solidFill>
                  <a:srgbClr val="4A5A75"/>
                </a:solidFill>
                <a:latin typeface="Carlito" pitchFamily="34" charset="0"/>
                <a:ea typeface="Carlito" pitchFamily="34" charset="-122"/>
                <a:cs typeface="Carlito" pitchFamily="34" charset="-120"/>
              </a:rPr>
              <a:t>Server-side logic &amp; APIs</a:t>
            </a:r>
            <a:endParaRPr lang="en-US" sz="800" dirty="0"/>
          </a:p>
        </p:txBody>
      </p:sp>
      <p:sp>
        <p:nvSpPr>
          <p:cNvPr id="18" name="Text 16"/>
          <p:cNvSpPr/>
          <p:nvPr/>
        </p:nvSpPr>
        <p:spPr>
          <a:xfrm>
            <a:off x="578644" y="2434456"/>
            <a:ext cx="42863" cy="42863"/>
          </a:xfrm>
          <a:prstGeom prst="ellipse">
            <a:avLst/>
          </a:prstGeom>
          <a:solidFill>
            <a:srgbClr val="C9A227"/>
          </a:solidFill>
          <a:ln/>
        </p:spPr>
        <p:txBody>
          <a:bodyPr wrap="square" rtlCol="0" anchor="ctr"/>
          <a:lstStyle/>
          <a:p>
            <a:pPr marL="0" indent="0">
              <a:buNone/>
            </a:pPr>
            <a:endParaRPr lang="en-US" dirty="0"/>
          </a:p>
        </p:txBody>
      </p:sp>
      <p:sp>
        <p:nvSpPr>
          <p:cNvPr id="19" name="Text 17"/>
          <p:cNvSpPr/>
          <p:nvPr/>
        </p:nvSpPr>
        <p:spPr>
          <a:xfrm>
            <a:off x="678656" y="2391594"/>
            <a:ext cx="1477567" cy="95798"/>
          </a:xfrm>
          <a:prstGeom prst="rect">
            <a:avLst/>
          </a:prstGeom>
          <a:noFill/>
          <a:ln/>
        </p:spPr>
        <p:txBody>
          <a:bodyPr wrap="none" lIns="0" tIns="0" rIns="0" bIns="0" rtlCol="0" anchor="t">
            <a:noAutofit/>
          </a:bodyPr>
          <a:lstStyle/>
          <a:p>
            <a:pPr marL="0" indent="0" algn="l">
              <a:lnSpc>
                <a:spcPts val="914"/>
              </a:lnSpc>
              <a:buNone/>
            </a:pPr>
            <a:r>
              <a:rPr lang="en-US" sz="600" b="1" dirty="0">
                <a:solidFill>
                  <a:srgbClr val="0F2A4A"/>
                </a:solidFill>
                <a:latin typeface="Carlito" pitchFamily="34" charset="0"/>
                <a:ea typeface="Carlito" pitchFamily="34" charset="-122"/>
                <a:cs typeface="Carlito" pitchFamily="34" charset="-120"/>
              </a:rPr>
              <a:t>ASP.NET Core MVC</a:t>
            </a:r>
            <a:endParaRPr lang="en-US" sz="600" dirty="0"/>
          </a:p>
        </p:txBody>
      </p:sp>
      <p:sp>
        <p:nvSpPr>
          <p:cNvPr id="20" name="Text 18"/>
          <p:cNvSpPr/>
          <p:nvPr/>
        </p:nvSpPr>
        <p:spPr>
          <a:xfrm>
            <a:off x="678656" y="2514823"/>
            <a:ext cx="1491640" cy="148070"/>
          </a:xfrm>
          <a:prstGeom prst="rect">
            <a:avLst/>
          </a:prstGeom>
          <a:noFill/>
          <a:ln/>
        </p:spPr>
        <p:txBody>
          <a:bodyPr wrap="squar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web framework, controllers, routing</a:t>
            </a:r>
            <a:endParaRPr lang="en-US" sz="800" dirty="0"/>
          </a:p>
        </p:txBody>
      </p:sp>
      <p:sp>
        <p:nvSpPr>
          <p:cNvPr id="21" name="Text 19"/>
          <p:cNvSpPr/>
          <p:nvPr/>
        </p:nvSpPr>
        <p:spPr>
          <a:xfrm>
            <a:off x="578644" y="2728020"/>
            <a:ext cx="42863" cy="42863"/>
          </a:xfrm>
          <a:prstGeom prst="ellipse">
            <a:avLst/>
          </a:prstGeom>
          <a:solidFill>
            <a:srgbClr val="C9A227"/>
          </a:solidFill>
          <a:ln/>
        </p:spPr>
        <p:txBody>
          <a:bodyPr wrap="square" rtlCol="0" anchor="ctr"/>
          <a:lstStyle/>
          <a:p>
            <a:pPr marL="0" indent="0">
              <a:buNone/>
            </a:pPr>
            <a:endParaRPr lang="en-US" dirty="0"/>
          </a:p>
        </p:txBody>
      </p:sp>
      <p:sp>
        <p:nvSpPr>
          <p:cNvPr id="22" name="Text 20"/>
          <p:cNvSpPr/>
          <p:nvPr/>
        </p:nvSpPr>
        <p:spPr>
          <a:xfrm>
            <a:off x="676722" y="2704996"/>
            <a:ext cx="1151715" cy="95798"/>
          </a:xfrm>
          <a:prstGeom prst="rect">
            <a:avLst/>
          </a:prstGeom>
          <a:noFill/>
          <a:ln/>
        </p:spPr>
        <p:txBody>
          <a:bodyPr wrap="none" lIns="0" tIns="0" rIns="0" bIns="0" rtlCol="0" anchor="t">
            <a:noAutofit/>
          </a:bodyPr>
          <a:lstStyle/>
          <a:p>
            <a:pPr marL="0" indent="0" algn="l">
              <a:lnSpc>
                <a:spcPts val="914"/>
              </a:lnSpc>
              <a:buNone/>
            </a:pPr>
            <a:r>
              <a:rPr lang="en-US" sz="600" b="1" dirty="0">
                <a:solidFill>
                  <a:srgbClr val="0F2A4A"/>
                </a:solidFill>
                <a:latin typeface="Liberation Sans Narrow" pitchFamily="34" charset="0"/>
                <a:ea typeface="Liberation Sans Narrow" pitchFamily="34" charset="-122"/>
                <a:cs typeface="Liberation Sans Narrow" pitchFamily="34" charset="-120"/>
              </a:rPr>
              <a:t>C# .NET 8</a:t>
            </a:r>
            <a:endParaRPr lang="en-US" sz="600" dirty="0"/>
          </a:p>
        </p:txBody>
      </p:sp>
      <p:sp>
        <p:nvSpPr>
          <p:cNvPr id="23" name="Text 21"/>
          <p:cNvSpPr/>
          <p:nvPr/>
        </p:nvSpPr>
        <p:spPr>
          <a:xfrm>
            <a:off x="657225" y="2826106"/>
            <a:ext cx="989755" cy="148070"/>
          </a:xfrm>
          <a:prstGeom prst="rect">
            <a:avLst/>
          </a:prstGeom>
          <a:noFill/>
          <a:ln/>
        </p:spPr>
        <p:txBody>
          <a:bodyPr wrap="squar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business logic services</a:t>
            </a:r>
            <a:endParaRPr lang="en-US" sz="800" dirty="0"/>
          </a:p>
        </p:txBody>
      </p:sp>
      <p:sp>
        <p:nvSpPr>
          <p:cNvPr id="24" name="Text 22"/>
          <p:cNvSpPr/>
          <p:nvPr/>
        </p:nvSpPr>
        <p:spPr>
          <a:xfrm>
            <a:off x="578644" y="3021583"/>
            <a:ext cx="42863" cy="42863"/>
          </a:xfrm>
          <a:prstGeom prst="ellipse">
            <a:avLst/>
          </a:prstGeom>
          <a:solidFill>
            <a:srgbClr val="C9A227"/>
          </a:solidFill>
          <a:ln/>
        </p:spPr>
        <p:txBody>
          <a:bodyPr wrap="square" rtlCol="0" anchor="ctr"/>
          <a:lstStyle/>
          <a:p>
            <a:pPr marL="0" indent="0">
              <a:buNone/>
            </a:pPr>
            <a:endParaRPr lang="en-US" dirty="0"/>
          </a:p>
        </p:txBody>
      </p:sp>
      <p:sp>
        <p:nvSpPr>
          <p:cNvPr id="25" name="Text 23"/>
          <p:cNvSpPr/>
          <p:nvPr/>
        </p:nvSpPr>
        <p:spPr>
          <a:xfrm>
            <a:off x="678656" y="2978721"/>
            <a:ext cx="1351239" cy="95798"/>
          </a:xfrm>
          <a:prstGeom prst="rect">
            <a:avLst/>
          </a:prstGeom>
          <a:noFill/>
          <a:ln/>
        </p:spPr>
        <p:txBody>
          <a:bodyPr wrap="none" lIns="0" tIns="0" rIns="0" bIns="0" rtlCol="0" anchor="t">
            <a:noAutofit/>
          </a:bodyPr>
          <a:lstStyle/>
          <a:p>
            <a:pPr marL="0" indent="0" algn="l">
              <a:lnSpc>
                <a:spcPts val="914"/>
              </a:lnSpc>
              <a:buNone/>
            </a:pPr>
            <a:r>
              <a:rPr lang="en-US" sz="600" b="1" dirty="0">
                <a:solidFill>
                  <a:srgbClr val="0F2A4A"/>
                </a:solidFill>
                <a:latin typeface="Carlito" pitchFamily="34" charset="0"/>
                <a:ea typeface="Carlito" pitchFamily="34" charset="-122"/>
                <a:cs typeface="Carlito" pitchFamily="34" charset="-120"/>
              </a:rPr>
              <a:t>Entity Framework Core</a:t>
            </a:r>
            <a:endParaRPr lang="en-US" sz="600" dirty="0"/>
          </a:p>
        </p:txBody>
      </p:sp>
      <p:sp>
        <p:nvSpPr>
          <p:cNvPr id="26" name="Text 24"/>
          <p:cNvSpPr/>
          <p:nvPr/>
        </p:nvSpPr>
        <p:spPr>
          <a:xfrm>
            <a:off x="678656" y="3101950"/>
            <a:ext cx="1351239" cy="148070"/>
          </a:xfrm>
          <a:prstGeom prst="rect">
            <a:avLst/>
          </a:prstGeom>
          <a:noFill/>
          <a:ln/>
        </p:spPr>
        <p:txBody>
          <a:bodyPr wrap="non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ORM &amp; migrations</a:t>
            </a:r>
            <a:endParaRPr lang="en-US" sz="800" dirty="0"/>
          </a:p>
        </p:txBody>
      </p:sp>
      <p:sp>
        <p:nvSpPr>
          <p:cNvPr id="27" name="Text 25"/>
          <p:cNvSpPr/>
          <p:nvPr/>
        </p:nvSpPr>
        <p:spPr>
          <a:xfrm>
            <a:off x="578644" y="3315146"/>
            <a:ext cx="42863" cy="42863"/>
          </a:xfrm>
          <a:prstGeom prst="ellipse">
            <a:avLst/>
          </a:prstGeom>
          <a:solidFill>
            <a:srgbClr val="C9A227"/>
          </a:solidFill>
          <a:ln/>
        </p:spPr>
        <p:txBody>
          <a:bodyPr wrap="square" rtlCol="0" anchor="ctr"/>
          <a:lstStyle/>
          <a:p>
            <a:pPr marL="0" indent="0">
              <a:buNone/>
            </a:pPr>
            <a:endParaRPr lang="en-US" dirty="0"/>
          </a:p>
        </p:txBody>
      </p:sp>
      <p:sp>
        <p:nvSpPr>
          <p:cNvPr id="28" name="Text 26"/>
          <p:cNvSpPr/>
          <p:nvPr/>
        </p:nvSpPr>
        <p:spPr>
          <a:xfrm>
            <a:off x="678656" y="3272284"/>
            <a:ext cx="1022358" cy="95798"/>
          </a:xfrm>
          <a:prstGeom prst="rect">
            <a:avLst/>
          </a:prstGeom>
          <a:noFill/>
          <a:ln/>
        </p:spPr>
        <p:txBody>
          <a:bodyPr wrap="none" lIns="0" tIns="0" rIns="0" bIns="0" rtlCol="0" anchor="t">
            <a:noAutofit/>
          </a:bodyPr>
          <a:lstStyle/>
          <a:p>
            <a:pPr marL="0" indent="0" algn="l">
              <a:lnSpc>
                <a:spcPts val="914"/>
              </a:lnSpc>
              <a:buNone/>
            </a:pPr>
            <a:r>
              <a:rPr lang="en-US" sz="600" b="1" dirty="0">
                <a:solidFill>
                  <a:srgbClr val="0F2A4A"/>
                </a:solidFill>
                <a:latin typeface="Carlito" pitchFamily="34" charset="0"/>
                <a:ea typeface="Carlito" pitchFamily="34" charset="-122"/>
                <a:cs typeface="Carlito" pitchFamily="34" charset="-120"/>
              </a:rPr>
              <a:t>ASP.NET Identity</a:t>
            </a:r>
            <a:endParaRPr lang="en-US" sz="600" dirty="0"/>
          </a:p>
        </p:txBody>
      </p:sp>
      <p:sp>
        <p:nvSpPr>
          <p:cNvPr id="29" name="Text 27"/>
          <p:cNvSpPr/>
          <p:nvPr/>
        </p:nvSpPr>
        <p:spPr>
          <a:xfrm>
            <a:off x="678656" y="3395514"/>
            <a:ext cx="959551" cy="106040"/>
          </a:xfrm>
          <a:prstGeom prst="rect">
            <a:avLst/>
          </a:prstGeom>
          <a:noFill/>
          <a:ln/>
        </p:spPr>
        <p:txBody>
          <a:bodyPr wrap="squar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authentication &amp; roles</a:t>
            </a:r>
            <a:endParaRPr lang="en-US" sz="800" dirty="0"/>
          </a:p>
        </p:txBody>
      </p:sp>
      <p:sp>
        <p:nvSpPr>
          <p:cNvPr id="30" name="Text 28"/>
          <p:cNvSpPr/>
          <p:nvPr/>
        </p:nvSpPr>
        <p:spPr>
          <a:xfrm>
            <a:off x="2550319" y="1476524"/>
            <a:ext cx="1953816" cy="2128614"/>
          </a:xfrm>
          <a:prstGeom prst="roundRect">
            <a:avLst>
              <a:gd name="adj" fmla="val 3900"/>
            </a:avLst>
          </a:prstGeom>
          <a:solidFill>
            <a:srgbClr val="FFFFFF"/>
          </a:solidFill>
          <a:ln w="7144">
            <a:solidFill>
              <a:srgbClr val="D9D2BC"/>
            </a:solidFill>
            <a:prstDash val="solid"/>
          </a:ln>
          <a:effectLst>
            <a:outerShdw blurRad="38100" dist="19050" dir="5400000" algn="bl" rotWithShape="0">
              <a:srgbClr val="0F2A4A">
                <a:alpha val="5000"/>
              </a:srgbClr>
            </a:outerShdw>
          </a:effectLst>
        </p:spPr>
        <p:txBody>
          <a:bodyPr wrap="square" rtlCol="0" anchor="ctr"/>
          <a:lstStyle/>
          <a:p>
            <a:pPr marL="0" indent="0">
              <a:buNone/>
            </a:pPr>
            <a:endParaRPr lang="en-US" dirty="0"/>
          </a:p>
        </p:txBody>
      </p:sp>
      <p:sp>
        <p:nvSpPr>
          <p:cNvPr id="31" name="Text 29"/>
          <p:cNvSpPr/>
          <p:nvPr/>
        </p:nvSpPr>
        <p:spPr>
          <a:xfrm>
            <a:off x="2668191" y="1594396"/>
            <a:ext cx="257175" cy="257175"/>
          </a:xfrm>
          <a:prstGeom prst="roundRect">
            <a:avLst>
              <a:gd name="adj" fmla="val 29630"/>
            </a:avLst>
          </a:prstGeom>
          <a:solidFill>
            <a:srgbClr val="0F2A4A"/>
          </a:solidFill>
          <a:ln/>
        </p:spPr>
        <p:txBody>
          <a:bodyPr wrap="square" rtlCol="0" anchor="ctr"/>
          <a:lstStyle/>
          <a:p>
            <a:pPr marL="0" indent="0">
              <a:buNone/>
            </a:pPr>
            <a:endParaRPr lang="en-US" dirty="0"/>
          </a:p>
        </p:txBody>
      </p:sp>
      <p:sp>
        <p:nvSpPr>
          <p:cNvPr id="32" name="Text 30"/>
          <p:cNvSpPr/>
          <p:nvPr/>
        </p:nvSpPr>
        <p:spPr>
          <a:xfrm>
            <a:off x="2693194" y="1619399"/>
            <a:ext cx="207169" cy="207169"/>
          </a:xfrm>
          <a:prstGeom prst="rect">
            <a:avLst/>
          </a:prstGeom>
          <a:noFill/>
          <a:ln/>
        </p:spPr>
        <p:txBody>
          <a:bodyPr wrap="none" lIns="0" tIns="0" rIns="0" bIns="0" rtlCol="0" anchor="ctr"/>
          <a:lstStyle/>
          <a:p>
            <a:pPr marL="0" indent="0" algn="ctr">
              <a:buNone/>
            </a:pPr>
            <a:r>
              <a:rPr lang="en-US" sz="1406" dirty="0">
                <a:solidFill>
                  <a:srgbClr val="E6C75A"/>
                </a:solidFill>
                <a:latin typeface="Segoe UI Symbol" pitchFamily="34" charset="0"/>
                <a:ea typeface="Segoe UI Symbol" pitchFamily="34" charset="-122"/>
                <a:cs typeface="Segoe UI Symbol" pitchFamily="34" charset="-120"/>
              </a:rPr>
              <a:t>✦</a:t>
            </a:r>
            <a:endParaRPr lang="en-US" sz="1406" dirty="0"/>
          </a:p>
        </p:txBody>
      </p:sp>
      <p:sp>
        <p:nvSpPr>
          <p:cNvPr id="33" name="Text 31"/>
          <p:cNvSpPr/>
          <p:nvPr/>
        </p:nvSpPr>
        <p:spPr>
          <a:xfrm>
            <a:off x="2668191" y="1923008"/>
            <a:ext cx="1718072" cy="161877"/>
          </a:xfrm>
          <a:prstGeom prst="rect">
            <a:avLst/>
          </a:prstGeom>
          <a:noFill/>
          <a:ln/>
        </p:spPr>
        <p:txBody>
          <a:bodyPr wrap="none" lIns="0" tIns="0" rIns="0" bIns="0" rtlCol="0" anchor="t">
            <a:normAutofit/>
          </a:bodyPr>
          <a:lstStyle/>
          <a:p>
            <a:pPr marL="0" indent="0" algn="l">
              <a:lnSpc>
                <a:spcPts val="1266"/>
              </a:lnSpc>
              <a:buNone/>
            </a:pPr>
            <a:r>
              <a:rPr lang="en-US" sz="844" b="1" kern="0" spc="34" dirty="0">
                <a:solidFill>
                  <a:srgbClr val="0F2A4A"/>
                </a:solidFill>
                <a:latin typeface="Carlito" pitchFamily="34" charset="0"/>
                <a:ea typeface="Carlito" pitchFamily="34" charset="-122"/>
                <a:cs typeface="Carlito" pitchFamily="34" charset="-120"/>
              </a:rPr>
              <a:t>FRONTEND</a:t>
            </a:r>
            <a:endParaRPr lang="en-US" sz="844" dirty="0"/>
          </a:p>
        </p:txBody>
      </p:sp>
      <p:sp>
        <p:nvSpPr>
          <p:cNvPr id="34" name="Text 32"/>
          <p:cNvSpPr/>
          <p:nvPr/>
        </p:nvSpPr>
        <p:spPr>
          <a:xfrm>
            <a:off x="2668191" y="2112318"/>
            <a:ext cx="1821156" cy="251844"/>
          </a:xfrm>
          <a:prstGeom prst="rect">
            <a:avLst/>
          </a:prstGeom>
          <a:noFill/>
          <a:ln/>
        </p:spPr>
        <p:txBody>
          <a:bodyPr wrap="square" lIns="0" tIns="0" rIns="0" bIns="71438" rtlCol="0" anchor="t">
            <a:normAutofit/>
          </a:bodyPr>
          <a:lstStyle/>
          <a:p>
            <a:pPr marL="0" indent="0" algn="l">
              <a:lnSpc>
                <a:spcPts val="906"/>
              </a:lnSpc>
              <a:buNone/>
            </a:pPr>
            <a:r>
              <a:rPr lang="en-US" sz="800" dirty="0">
                <a:solidFill>
                  <a:srgbClr val="4A5A75"/>
                </a:solidFill>
                <a:latin typeface="Carlito" pitchFamily="34" charset="0"/>
                <a:ea typeface="Carlito" pitchFamily="34" charset="-122"/>
                <a:cs typeface="Carlito" pitchFamily="34" charset="-120"/>
              </a:rPr>
              <a:t>User interface &amp; experience</a:t>
            </a:r>
            <a:endParaRPr lang="en-US" sz="800" dirty="0"/>
          </a:p>
        </p:txBody>
      </p:sp>
      <p:sp>
        <p:nvSpPr>
          <p:cNvPr id="35" name="Text 33"/>
          <p:cNvSpPr/>
          <p:nvPr/>
        </p:nvSpPr>
        <p:spPr>
          <a:xfrm>
            <a:off x="2668191" y="2434456"/>
            <a:ext cx="42863" cy="42863"/>
          </a:xfrm>
          <a:prstGeom prst="ellipse">
            <a:avLst/>
          </a:prstGeom>
          <a:solidFill>
            <a:srgbClr val="C9A227"/>
          </a:solidFill>
          <a:ln/>
        </p:spPr>
        <p:txBody>
          <a:bodyPr wrap="square" rtlCol="0" anchor="ctr"/>
          <a:lstStyle/>
          <a:p>
            <a:pPr marL="0" indent="0">
              <a:buNone/>
            </a:pPr>
            <a:endParaRPr lang="en-US" dirty="0"/>
          </a:p>
        </p:txBody>
      </p:sp>
      <p:sp>
        <p:nvSpPr>
          <p:cNvPr id="36" name="Text 34"/>
          <p:cNvSpPr/>
          <p:nvPr/>
        </p:nvSpPr>
        <p:spPr>
          <a:xfrm>
            <a:off x="2768203" y="2391594"/>
            <a:ext cx="859749" cy="95798"/>
          </a:xfrm>
          <a:prstGeom prst="rect">
            <a:avLst/>
          </a:prstGeom>
          <a:noFill/>
          <a:ln/>
        </p:spPr>
        <p:txBody>
          <a:bodyPr wrap="none" lIns="0" tIns="0" rIns="0" bIns="0" rtlCol="0" anchor="t">
            <a:noAutofit/>
          </a:bodyPr>
          <a:lstStyle/>
          <a:p>
            <a:pPr marL="0" indent="0" algn="l">
              <a:lnSpc>
                <a:spcPts val="914"/>
              </a:lnSpc>
              <a:buNone/>
            </a:pPr>
            <a:r>
              <a:rPr lang="en-US" sz="600" b="1" dirty="0">
                <a:solidFill>
                  <a:srgbClr val="0F2A4A"/>
                </a:solidFill>
                <a:latin typeface="Carlito" pitchFamily="34" charset="0"/>
                <a:ea typeface="Carlito" pitchFamily="34" charset="-122"/>
                <a:cs typeface="Carlito" pitchFamily="34" charset="-120"/>
              </a:rPr>
              <a:t>Razor Views</a:t>
            </a:r>
            <a:endParaRPr lang="en-US" sz="600" dirty="0"/>
          </a:p>
        </p:txBody>
      </p:sp>
      <p:sp>
        <p:nvSpPr>
          <p:cNvPr id="37" name="Text 35"/>
          <p:cNvSpPr/>
          <p:nvPr/>
        </p:nvSpPr>
        <p:spPr>
          <a:xfrm>
            <a:off x="2768203" y="2514823"/>
            <a:ext cx="859749" cy="148070"/>
          </a:xfrm>
          <a:prstGeom prst="rect">
            <a:avLst/>
          </a:prstGeom>
          <a:noFill/>
          <a:ln/>
        </p:spPr>
        <p:txBody>
          <a:bodyPr wrap="squar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server-rendered UI</a:t>
            </a:r>
            <a:endParaRPr lang="en-US" sz="800" dirty="0"/>
          </a:p>
        </p:txBody>
      </p:sp>
      <p:sp>
        <p:nvSpPr>
          <p:cNvPr id="38" name="Text 36"/>
          <p:cNvSpPr/>
          <p:nvPr/>
        </p:nvSpPr>
        <p:spPr>
          <a:xfrm>
            <a:off x="2668191" y="2728020"/>
            <a:ext cx="42863" cy="42863"/>
          </a:xfrm>
          <a:prstGeom prst="ellipse">
            <a:avLst/>
          </a:prstGeom>
          <a:solidFill>
            <a:srgbClr val="C9A227"/>
          </a:solidFill>
          <a:ln/>
        </p:spPr>
        <p:txBody>
          <a:bodyPr wrap="square" rtlCol="0" anchor="ctr"/>
          <a:lstStyle/>
          <a:p>
            <a:pPr marL="0" indent="0">
              <a:buNone/>
            </a:pPr>
            <a:endParaRPr lang="en-US" dirty="0"/>
          </a:p>
        </p:txBody>
      </p:sp>
      <p:sp>
        <p:nvSpPr>
          <p:cNvPr id="39" name="Text 37"/>
          <p:cNvSpPr/>
          <p:nvPr/>
        </p:nvSpPr>
        <p:spPr>
          <a:xfrm>
            <a:off x="2768203" y="2685157"/>
            <a:ext cx="860926" cy="95798"/>
          </a:xfrm>
          <a:prstGeom prst="rect">
            <a:avLst/>
          </a:prstGeom>
          <a:noFill/>
          <a:ln/>
        </p:spPr>
        <p:txBody>
          <a:bodyPr wrap="none" lIns="0" tIns="0" rIns="0" bIns="0" rtlCol="0" anchor="t">
            <a:noAutofit/>
          </a:bodyPr>
          <a:lstStyle/>
          <a:p>
            <a:pPr marL="0" indent="0" algn="l">
              <a:lnSpc>
                <a:spcPts val="914"/>
              </a:lnSpc>
              <a:buNone/>
            </a:pPr>
            <a:r>
              <a:rPr lang="en-US" sz="600" b="1" dirty="0">
                <a:solidFill>
                  <a:srgbClr val="0F2A4A"/>
                </a:solidFill>
                <a:latin typeface="Liberation Sans Narrow" pitchFamily="34" charset="0"/>
                <a:ea typeface="Liberation Sans Narrow" pitchFamily="34" charset="-122"/>
                <a:cs typeface="Liberation Sans Narrow" pitchFamily="34" charset="-120"/>
              </a:rPr>
              <a:t>HTML5 + CSS3</a:t>
            </a:r>
            <a:endParaRPr lang="en-US" sz="600" dirty="0"/>
          </a:p>
        </p:txBody>
      </p:sp>
      <p:sp>
        <p:nvSpPr>
          <p:cNvPr id="40" name="Text 38"/>
          <p:cNvSpPr/>
          <p:nvPr/>
        </p:nvSpPr>
        <p:spPr>
          <a:xfrm>
            <a:off x="2768203" y="2808387"/>
            <a:ext cx="860926" cy="148070"/>
          </a:xfrm>
          <a:prstGeom prst="rect">
            <a:avLst/>
          </a:prstGeom>
          <a:noFill/>
          <a:ln/>
        </p:spPr>
        <p:txBody>
          <a:bodyPr wrap="squar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structure &amp; styling</a:t>
            </a:r>
            <a:endParaRPr lang="en-US" sz="800" dirty="0"/>
          </a:p>
        </p:txBody>
      </p:sp>
      <p:sp>
        <p:nvSpPr>
          <p:cNvPr id="41" name="Text 39"/>
          <p:cNvSpPr/>
          <p:nvPr/>
        </p:nvSpPr>
        <p:spPr>
          <a:xfrm>
            <a:off x="2668191" y="3021583"/>
            <a:ext cx="42863" cy="42863"/>
          </a:xfrm>
          <a:prstGeom prst="ellipse">
            <a:avLst/>
          </a:prstGeom>
          <a:solidFill>
            <a:srgbClr val="C9A227"/>
          </a:solidFill>
          <a:ln/>
        </p:spPr>
        <p:txBody>
          <a:bodyPr wrap="square" rtlCol="0" anchor="ctr"/>
          <a:lstStyle/>
          <a:p>
            <a:pPr marL="0" indent="0">
              <a:buNone/>
            </a:pPr>
            <a:endParaRPr lang="en-US" dirty="0"/>
          </a:p>
        </p:txBody>
      </p:sp>
      <p:sp>
        <p:nvSpPr>
          <p:cNvPr id="42" name="Text 40"/>
          <p:cNvSpPr/>
          <p:nvPr/>
        </p:nvSpPr>
        <p:spPr>
          <a:xfrm>
            <a:off x="2768203" y="2978721"/>
            <a:ext cx="1148991" cy="95798"/>
          </a:xfrm>
          <a:prstGeom prst="rect">
            <a:avLst/>
          </a:prstGeom>
          <a:noFill/>
          <a:ln/>
        </p:spPr>
        <p:txBody>
          <a:bodyPr wrap="none" lIns="0" tIns="0" rIns="0" bIns="0" rtlCol="0" anchor="t">
            <a:noAutofit/>
          </a:bodyPr>
          <a:lstStyle/>
          <a:p>
            <a:pPr marL="0" indent="0" algn="l">
              <a:lnSpc>
                <a:spcPts val="914"/>
              </a:lnSpc>
              <a:buNone/>
            </a:pPr>
            <a:r>
              <a:rPr lang="en-US" sz="600" b="1" dirty="0">
                <a:solidFill>
                  <a:srgbClr val="0F2A4A"/>
                </a:solidFill>
                <a:latin typeface="Carlito" pitchFamily="34" charset="0"/>
                <a:ea typeface="Carlito" pitchFamily="34" charset="-122"/>
                <a:cs typeface="Carlito" pitchFamily="34" charset="-120"/>
              </a:rPr>
              <a:t>JavaScript + jQuery</a:t>
            </a:r>
            <a:endParaRPr lang="en-US" sz="600" dirty="0"/>
          </a:p>
        </p:txBody>
      </p:sp>
      <p:sp>
        <p:nvSpPr>
          <p:cNvPr id="43" name="Text 41"/>
          <p:cNvSpPr/>
          <p:nvPr/>
        </p:nvSpPr>
        <p:spPr>
          <a:xfrm>
            <a:off x="2768203" y="3101950"/>
            <a:ext cx="1148991" cy="148070"/>
          </a:xfrm>
          <a:prstGeom prst="rect">
            <a:avLst/>
          </a:prstGeom>
          <a:noFill/>
          <a:ln/>
        </p:spPr>
        <p:txBody>
          <a:bodyPr wrap="non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client interactivity</a:t>
            </a:r>
            <a:endParaRPr lang="en-US" sz="800" dirty="0"/>
          </a:p>
        </p:txBody>
      </p:sp>
      <p:sp>
        <p:nvSpPr>
          <p:cNvPr id="44" name="Text 42"/>
          <p:cNvSpPr/>
          <p:nvPr/>
        </p:nvSpPr>
        <p:spPr>
          <a:xfrm>
            <a:off x="2668191" y="3315146"/>
            <a:ext cx="42863" cy="42863"/>
          </a:xfrm>
          <a:prstGeom prst="ellipse">
            <a:avLst/>
          </a:prstGeom>
          <a:solidFill>
            <a:srgbClr val="C9A227"/>
          </a:solidFill>
          <a:ln/>
        </p:spPr>
        <p:txBody>
          <a:bodyPr wrap="square" rtlCol="0" anchor="ctr"/>
          <a:lstStyle/>
          <a:p>
            <a:pPr marL="0" indent="0">
              <a:buNone/>
            </a:pPr>
            <a:endParaRPr lang="en-US" dirty="0"/>
          </a:p>
        </p:txBody>
      </p:sp>
      <p:sp>
        <p:nvSpPr>
          <p:cNvPr id="45" name="Text 43"/>
          <p:cNvSpPr/>
          <p:nvPr/>
        </p:nvSpPr>
        <p:spPr>
          <a:xfrm>
            <a:off x="2768203" y="3272284"/>
            <a:ext cx="1335671" cy="95798"/>
          </a:xfrm>
          <a:prstGeom prst="rect">
            <a:avLst/>
          </a:prstGeom>
          <a:noFill/>
          <a:ln/>
        </p:spPr>
        <p:txBody>
          <a:bodyPr wrap="none" lIns="0" tIns="0" rIns="0" bIns="0" rtlCol="0" anchor="t">
            <a:noAutofit/>
          </a:bodyPr>
          <a:lstStyle/>
          <a:p>
            <a:pPr marL="0" indent="0" algn="l">
              <a:lnSpc>
                <a:spcPts val="914"/>
              </a:lnSpc>
              <a:buNone/>
            </a:pPr>
            <a:r>
              <a:rPr lang="en-US" sz="600" b="1" dirty="0">
                <a:solidFill>
                  <a:srgbClr val="0F2A4A"/>
                </a:solidFill>
                <a:latin typeface="Liberation Sans Narrow" pitchFamily="34" charset="0"/>
                <a:ea typeface="Liberation Sans Narrow" pitchFamily="34" charset="-122"/>
                <a:cs typeface="Liberation Sans Narrow" pitchFamily="34" charset="-120"/>
              </a:rPr>
              <a:t>Bootstrap 5</a:t>
            </a:r>
            <a:endParaRPr lang="en-US" sz="600" dirty="0"/>
          </a:p>
        </p:txBody>
      </p:sp>
      <p:sp>
        <p:nvSpPr>
          <p:cNvPr id="46" name="Text 44"/>
          <p:cNvSpPr/>
          <p:nvPr/>
        </p:nvSpPr>
        <p:spPr>
          <a:xfrm>
            <a:off x="2768203" y="3395514"/>
            <a:ext cx="1230823" cy="106040"/>
          </a:xfrm>
          <a:prstGeom prst="rect">
            <a:avLst/>
          </a:prstGeom>
          <a:noFill/>
          <a:ln/>
        </p:spPr>
        <p:txBody>
          <a:bodyPr wrap="squar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responsive grid, components</a:t>
            </a:r>
            <a:endParaRPr lang="en-US" sz="800" dirty="0"/>
          </a:p>
        </p:txBody>
      </p:sp>
      <p:sp>
        <p:nvSpPr>
          <p:cNvPr id="47" name="Text 45"/>
          <p:cNvSpPr/>
          <p:nvPr/>
        </p:nvSpPr>
        <p:spPr>
          <a:xfrm>
            <a:off x="4657724" y="1484337"/>
            <a:ext cx="1953816" cy="2128614"/>
          </a:xfrm>
          <a:prstGeom prst="roundRect">
            <a:avLst>
              <a:gd name="adj" fmla="val 3900"/>
            </a:avLst>
          </a:prstGeom>
          <a:solidFill>
            <a:srgbClr val="FFFFFF"/>
          </a:solidFill>
          <a:ln w="7144">
            <a:solidFill>
              <a:srgbClr val="D9D2BC"/>
            </a:solidFill>
            <a:prstDash val="solid"/>
          </a:ln>
          <a:effectLst>
            <a:outerShdw blurRad="38100" dist="19050" dir="5400000" algn="bl" rotWithShape="0">
              <a:srgbClr val="0F2A4A">
                <a:alpha val="5000"/>
              </a:srgbClr>
            </a:outerShdw>
          </a:effectLst>
        </p:spPr>
        <p:txBody>
          <a:bodyPr wrap="square" rtlCol="0" anchor="ctr"/>
          <a:lstStyle/>
          <a:p>
            <a:pPr marL="0" indent="0">
              <a:buNone/>
            </a:pPr>
            <a:endParaRPr lang="en-US" dirty="0"/>
          </a:p>
        </p:txBody>
      </p:sp>
      <p:sp>
        <p:nvSpPr>
          <p:cNvPr id="48" name="Text 46"/>
          <p:cNvSpPr/>
          <p:nvPr/>
        </p:nvSpPr>
        <p:spPr>
          <a:xfrm>
            <a:off x="4757738" y="1594396"/>
            <a:ext cx="257175" cy="257175"/>
          </a:xfrm>
          <a:prstGeom prst="roundRect">
            <a:avLst>
              <a:gd name="adj" fmla="val 29630"/>
            </a:avLst>
          </a:prstGeom>
          <a:solidFill>
            <a:srgbClr val="0F2A4A"/>
          </a:solidFill>
          <a:ln/>
        </p:spPr>
        <p:txBody>
          <a:bodyPr wrap="square" rtlCol="0" anchor="ctr"/>
          <a:lstStyle/>
          <a:p>
            <a:pPr marL="0" indent="0">
              <a:buNone/>
            </a:pPr>
            <a:endParaRPr lang="en-US" dirty="0"/>
          </a:p>
        </p:txBody>
      </p:sp>
      <p:sp>
        <p:nvSpPr>
          <p:cNvPr id="49" name="Text 47"/>
          <p:cNvSpPr/>
          <p:nvPr/>
        </p:nvSpPr>
        <p:spPr>
          <a:xfrm>
            <a:off x="4782741" y="1619399"/>
            <a:ext cx="207169" cy="207169"/>
          </a:xfrm>
          <a:prstGeom prst="rect">
            <a:avLst/>
          </a:prstGeom>
          <a:noFill/>
          <a:ln/>
        </p:spPr>
        <p:txBody>
          <a:bodyPr wrap="none" lIns="0" tIns="0" rIns="0" bIns="0" rtlCol="0" anchor="ctr"/>
          <a:lstStyle/>
          <a:p>
            <a:pPr marL="0" indent="0" algn="ctr">
              <a:buNone/>
            </a:pPr>
            <a:r>
              <a:rPr lang="en-US" sz="1406" dirty="0">
                <a:solidFill>
                  <a:srgbClr val="E6C75A"/>
                </a:solidFill>
                <a:latin typeface="Segoe UI Symbol" pitchFamily="34" charset="0"/>
                <a:ea typeface="Segoe UI Symbol" pitchFamily="34" charset="-122"/>
                <a:cs typeface="Segoe UI Symbol" pitchFamily="34" charset="-120"/>
              </a:rPr>
              <a:t>▦</a:t>
            </a:r>
            <a:endParaRPr lang="en-US" sz="1406" dirty="0"/>
          </a:p>
        </p:txBody>
      </p:sp>
      <p:sp>
        <p:nvSpPr>
          <p:cNvPr id="50" name="Text 48"/>
          <p:cNvSpPr/>
          <p:nvPr/>
        </p:nvSpPr>
        <p:spPr>
          <a:xfrm>
            <a:off x="4757738" y="1923008"/>
            <a:ext cx="1718072" cy="161877"/>
          </a:xfrm>
          <a:prstGeom prst="rect">
            <a:avLst/>
          </a:prstGeom>
          <a:noFill/>
          <a:ln/>
        </p:spPr>
        <p:txBody>
          <a:bodyPr wrap="none" lIns="0" tIns="0" rIns="0" bIns="0" rtlCol="0" anchor="t">
            <a:normAutofit/>
          </a:bodyPr>
          <a:lstStyle/>
          <a:p>
            <a:pPr marL="0" indent="0" algn="l">
              <a:lnSpc>
                <a:spcPts val="1266"/>
              </a:lnSpc>
              <a:buNone/>
            </a:pPr>
            <a:r>
              <a:rPr lang="en-US" sz="844" b="1" kern="0" spc="34" dirty="0">
                <a:solidFill>
                  <a:srgbClr val="0F2A4A"/>
                </a:solidFill>
                <a:latin typeface="Carlito" pitchFamily="34" charset="0"/>
                <a:ea typeface="Carlito" pitchFamily="34" charset="-122"/>
                <a:cs typeface="Carlito" pitchFamily="34" charset="-120"/>
              </a:rPr>
              <a:t>DATA &amp; STORAGE</a:t>
            </a:r>
            <a:endParaRPr lang="en-US" sz="844" dirty="0"/>
          </a:p>
        </p:txBody>
      </p:sp>
      <p:sp>
        <p:nvSpPr>
          <p:cNvPr id="51" name="Text 49"/>
          <p:cNvSpPr/>
          <p:nvPr/>
        </p:nvSpPr>
        <p:spPr>
          <a:xfrm>
            <a:off x="4757738" y="2112318"/>
            <a:ext cx="1821156" cy="251844"/>
          </a:xfrm>
          <a:prstGeom prst="rect">
            <a:avLst/>
          </a:prstGeom>
          <a:noFill/>
          <a:ln/>
        </p:spPr>
        <p:txBody>
          <a:bodyPr wrap="square" lIns="0" tIns="0" rIns="0" bIns="71438" rtlCol="0" anchor="t">
            <a:normAutofit/>
          </a:bodyPr>
          <a:lstStyle/>
          <a:p>
            <a:pPr marL="0" indent="0" algn="l">
              <a:lnSpc>
                <a:spcPts val="906"/>
              </a:lnSpc>
              <a:buNone/>
            </a:pPr>
            <a:r>
              <a:rPr lang="en-US" sz="800" dirty="0">
                <a:solidFill>
                  <a:srgbClr val="4A5A75"/>
                </a:solidFill>
                <a:latin typeface="Carlito" pitchFamily="34" charset="0"/>
                <a:ea typeface="Carlito" pitchFamily="34" charset="-122"/>
                <a:cs typeface="Carlito" pitchFamily="34" charset="-120"/>
              </a:rPr>
              <a:t>Persistence &amp; medical knowledge</a:t>
            </a:r>
            <a:endParaRPr lang="en-US" sz="800" dirty="0"/>
          </a:p>
        </p:txBody>
      </p:sp>
      <p:sp>
        <p:nvSpPr>
          <p:cNvPr id="52" name="Text 50"/>
          <p:cNvSpPr/>
          <p:nvPr/>
        </p:nvSpPr>
        <p:spPr>
          <a:xfrm>
            <a:off x="4757738" y="2434456"/>
            <a:ext cx="42863" cy="42863"/>
          </a:xfrm>
          <a:prstGeom prst="ellipse">
            <a:avLst/>
          </a:prstGeom>
          <a:solidFill>
            <a:srgbClr val="C9A227"/>
          </a:solidFill>
          <a:ln/>
        </p:spPr>
        <p:txBody>
          <a:bodyPr wrap="square" rtlCol="0" anchor="ctr"/>
          <a:lstStyle/>
          <a:p>
            <a:pPr marL="0" indent="0">
              <a:buNone/>
            </a:pPr>
            <a:endParaRPr lang="en-US" dirty="0"/>
          </a:p>
        </p:txBody>
      </p:sp>
      <p:sp>
        <p:nvSpPr>
          <p:cNvPr id="53" name="Text 51"/>
          <p:cNvSpPr/>
          <p:nvPr/>
        </p:nvSpPr>
        <p:spPr>
          <a:xfrm>
            <a:off x="4857750" y="2391594"/>
            <a:ext cx="1279026" cy="95798"/>
          </a:xfrm>
          <a:prstGeom prst="rect">
            <a:avLst/>
          </a:prstGeom>
          <a:noFill/>
          <a:ln/>
        </p:spPr>
        <p:txBody>
          <a:bodyPr wrap="none" lIns="0" tIns="0" rIns="0" bIns="0" rtlCol="0" anchor="t">
            <a:noAutofit/>
          </a:bodyPr>
          <a:lstStyle/>
          <a:p>
            <a:pPr marL="0" indent="0" algn="l">
              <a:lnSpc>
                <a:spcPts val="914"/>
              </a:lnSpc>
              <a:buNone/>
            </a:pPr>
            <a:r>
              <a:rPr lang="en-US" sz="600" b="1" dirty="0">
                <a:solidFill>
                  <a:srgbClr val="0F2A4A"/>
                </a:solidFill>
                <a:latin typeface="Carlito" pitchFamily="34" charset="0"/>
                <a:ea typeface="Carlito" pitchFamily="34" charset="-122"/>
                <a:cs typeface="Carlito" pitchFamily="34" charset="-120"/>
              </a:rPr>
              <a:t>Microsoft SQL Server</a:t>
            </a:r>
            <a:endParaRPr lang="en-US" sz="600" dirty="0"/>
          </a:p>
        </p:txBody>
      </p:sp>
      <p:sp>
        <p:nvSpPr>
          <p:cNvPr id="54" name="Text 52"/>
          <p:cNvSpPr/>
          <p:nvPr/>
        </p:nvSpPr>
        <p:spPr>
          <a:xfrm>
            <a:off x="4857750" y="2514823"/>
            <a:ext cx="1178625" cy="148070"/>
          </a:xfrm>
          <a:prstGeom prst="rect">
            <a:avLst/>
          </a:prstGeom>
          <a:noFill/>
          <a:ln/>
        </p:spPr>
        <p:txBody>
          <a:bodyPr wrap="squar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primary relational database</a:t>
            </a:r>
            <a:endParaRPr lang="en-US" sz="800" dirty="0"/>
          </a:p>
        </p:txBody>
      </p:sp>
      <p:sp>
        <p:nvSpPr>
          <p:cNvPr id="55" name="Text 53"/>
          <p:cNvSpPr/>
          <p:nvPr/>
        </p:nvSpPr>
        <p:spPr>
          <a:xfrm>
            <a:off x="4757738" y="2728020"/>
            <a:ext cx="42863" cy="42863"/>
          </a:xfrm>
          <a:prstGeom prst="ellipse">
            <a:avLst/>
          </a:prstGeom>
          <a:solidFill>
            <a:srgbClr val="C9A227"/>
          </a:solidFill>
          <a:ln/>
        </p:spPr>
        <p:txBody>
          <a:bodyPr wrap="square" rtlCol="0" anchor="ctr"/>
          <a:lstStyle/>
          <a:p>
            <a:pPr marL="0" indent="0">
              <a:buNone/>
            </a:pPr>
            <a:endParaRPr lang="en-US" dirty="0"/>
          </a:p>
        </p:txBody>
      </p:sp>
      <p:sp>
        <p:nvSpPr>
          <p:cNvPr id="56" name="Text 54"/>
          <p:cNvSpPr/>
          <p:nvPr/>
        </p:nvSpPr>
        <p:spPr>
          <a:xfrm>
            <a:off x="4857750" y="2685157"/>
            <a:ext cx="1618059" cy="211884"/>
          </a:xfrm>
          <a:prstGeom prst="rect">
            <a:avLst/>
          </a:prstGeom>
          <a:noFill/>
          <a:ln/>
        </p:spPr>
        <p:txBody>
          <a:bodyPr wrap="square" lIns="0" tIns="0" rIns="0" bIns="0" rtlCol="0" anchor="t">
            <a:normAutofit/>
          </a:bodyPr>
          <a:lstStyle/>
          <a:p>
            <a:pPr marL="0" indent="0" algn="l">
              <a:lnSpc>
                <a:spcPts val="914"/>
              </a:lnSpc>
              <a:buNone/>
            </a:pPr>
            <a:r>
              <a:rPr lang="en-US" sz="600" b="1" dirty="0">
                <a:solidFill>
                  <a:srgbClr val="0F2A4A"/>
                </a:solidFill>
                <a:latin typeface="Carlito" pitchFamily="34" charset="0"/>
                <a:ea typeface="Carlito" pitchFamily="34" charset="-122"/>
                <a:cs typeface="Carlito" pitchFamily="34" charset="-120"/>
              </a:rPr>
              <a:t>DrugBank-style interaction dataset</a:t>
            </a:r>
            <a:endParaRPr lang="en-US" sz="600" dirty="0"/>
          </a:p>
        </p:txBody>
      </p:sp>
      <p:sp>
        <p:nvSpPr>
          <p:cNvPr id="57" name="Text 55"/>
          <p:cNvSpPr/>
          <p:nvPr/>
        </p:nvSpPr>
        <p:spPr>
          <a:xfrm>
            <a:off x="4857750" y="2892853"/>
            <a:ext cx="1715143" cy="148070"/>
          </a:xfrm>
          <a:prstGeom prst="rect">
            <a:avLst/>
          </a:prstGeom>
          <a:noFill/>
          <a:ln/>
        </p:spPr>
        <p:txBody>
          <a:bodyPr wrap="squar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curated drug-interaction rules</a:t>
            </a:r>
            <a:endParaRPr lang="en-US" sz="800" dirty="0"/>
          </a:p>
        </p:txBody>
      </p:sp>
      <p:sp>
        <p:nvSpPr>
          <p:cNvPr id="58" name="Text 56"/>
          <p:cNvSpPr/>
          <p:nvPr/>
        </p:nvSpPr>
        <p:spPr>
          <a:xfrm>
            <a:off x="4757738" y="3137669"/>
            <a:ext cx="42863" cy="42863"/>
          </a:xfrm>
          <a:prstGeom prst="ellipse">
            <a:avLst/>
          </a:prstGeom>
          <a:solidFill>
            <a:srgbClr val="C9A227"/>
          </a:solidFill>
          <a:ln/>
        </p:spPr>
        <p:txBody>
          <a:bodyPr wrap="square" rtlCol="0" anchor="ctr"/>
          <a:lstStyle/>
          <a:p>
            <a:pPr marL="0" indent="0">
              <a:buNone/>
            </a:pPr>
            <a:endParaRPr lang="en-US" dirty="0"/>
          </a:p>
        </p:txBody>
      </p:sp>
      <p:sp>
        <p:nvSpPr>
          <p:cNvPr id="59" name="Text 57"/>
          <p:cNvSpPr/>
          <p:nvPr/>
        </p:nvSpPr>
        <p:spPr>
          <a:xfrm>
            <a:off x="4857750" y="3094806"/>
            <a:ext cx="1255740" cy="95798"/>
          </a:xfrm>
          <a:prstGeom prst="rect">
            <a:avLst/>
          </a:prstGeom>
          <a:noFill/>
          <a:ln/>
        </p:spPr>
        <p:txBody>
          <a:bodyPr wrap="none" lIns="0" tIns="0" rIns="0" bIns="0" rtlCol="0" anchor="t">
            <a:noAutofit/>
          </a:bodyPr>
          <a:lstStyle/>
          <a:p>
            <a:pPr marL="0" indent="0" algn="l">
              <a:lnSpc>
                <a:spcPts val="914"/>
              </a:lnSpc>
              <a:buNone/>
            </a:pPr>
            <a:r>
              <a:rPr lang="en-US" sz="600" b="1" dirty="0">
                <a:solidFill>
                  <a:srgbClr val="0F2A4A"/>
                </a:solidFill>
                <a:latin typeface="Carlito" pitchFamily="34" charset="0"/>
                <a:ea typeface="Carlito" pitchFamily="34" charset="-122"/>
                <a:cs typeface="Carlito" pitchFamily="34" charset="-120"/>
              </a:rPr>
              <a:t>Azure Blob (optional)</a:t>
            </a:r>
            <a:endParaRPr lang="en-US" sz="600" dirty="0"/>
          </a:p>
        </p:txBody>
      </p:sp>
      <p:sp>
        <p:nvSpPr>
          <p:cNvPr id="60" name="Text 58"/>
          <p:cNvSpPr/>
          <p:nvPr/>
        </p:nvSpPr>
        <p:spPr>
          <a:xfrm>
            <a:off x="4857750" y="3218036"/>
            <a:ext cx="1178596" cy="148070"/>
          </a:xfrm>
          <a:prstGeom prst="rect">
            <a:avLst/>
          </a:prstGeom>
          <a:noFill/>
          <a:ln/>
        </p:spPr>
        <p:txBody>
          <a:bodyPr wrap="non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profile picture storage</a:t>
            </a:r>
            <a:endParaRPr lang="en-US" sz="800" dirty="0"/>
          </a:p>
        </p:txBody>
      </p:sp>
      <p:sp>
        <p:nvSpPr>
          <p:cNvPr id="61" name="Text 59"/>
          <p:cNvSpPr/>
          <p:nvPr/>
        </p:nvSpPr>
        <p:spPr>
          <a:xfrm>
            <a:off x="6729413" y="1476524"/>
            <a:ext cx="1953816" cy="2128614"/>
          </a:xfrm>
          <a:prstGeom prst="roundRect">
            <a:avLst>
              <a:gd name="adj" fmla="val 3900"/>
            </a:avLst>
          </a:prstGeom>
          <a:solidFill>
            <a:srgbClr val="FFFFFF"/>
          </a:solidFill>
          <a:ln w="7144">
            <a:solidFill>
              <a:srgbClr val="D9D2BC"/>
            </a:solidFill>
            <a:prstDash val="solid"/>
          </a:ln>
          <a:effectLst>
            <a:outerShdw blurRad="38100" dist="19050" dir="5400000" algn="bl" rotWithShape="0">
              <a:srgbClr val="0F2A4A">
                <a:alpha val="5000"/>
              </a:srgbClr>
            </a:outerShdw>
          </a:effectLst>
        </p:spPr>
        <p:txBody>
          <a:bodyPr wrap="square" rtlCol="0" anchor="ctr"/>
          <a:lstStyle/>
          <a:p>
            <a:pPr marL="0" indent="0">
              <a:buNone/>
            </a:pPr>
            <a:endParaRPr lang="en-US" dirty="0"/>
          </a:p>
        </p:txBody>
      </p:sp>
      <p:sp>
        <p:nvSpPr>
          <p:cNvPr id="62" name="Text 60"/>
          <p:cNvSpPr/>
          <p:nvPr/>
        </p:nvSpPr>
        <p:spPr>
          <a:xfrm>
            <a:off x="6847284" y="1594396"/>
            <a:ext cx="257175" cy="257175"/>
          </a:xfrm>
          <a:prstGeom prst="roundRect">
            <a:avLst>
              <a:gd name="adj" fmla="val 29630"/>
            </a:avLst>
          </a:prstGeom>
          <a:solidFill>
            <a:srgbClr val="0F2A4A"/>
          </a:solidFill>
          <a:ln/>
        </p:spPr>
        <p:txBody>
          <a:bodyPr wrap="square" rtlCol="0" anchor="ctr"/>
          <a:lstStyle/>
          <a:p>
            <a:pPr marL="0" indent="0">
              <a:buNone/>
            </a:pPr>
            <a:endParaRPr lang="en-US" dirty="0"/>
          </a:p>
        </p:txBody>
      </p:sp>
      <p:sp>
        <p:nvSpPr>
          <p:cNvPr id="63" name="Text 61"/>
          <p:cNvSpPr/>
          <p:nvPr/>
        </p:nvSpPr>
        <p:spPr>
          <a:xfrm>
            <a:off x="6872288" y="1619399"/>
            <a:ext cx="207169" cy="207169"/>
          </a:xfrm>
          <a:prstGeom prst="rect">
            <a:avLst/>
          </a:prstGeom>
          <a:noFill/>
          <a:ln/>
        </p:spPr>
        <p:txBody>
          <a:bodyPr wrap="none" lIns="0" tIns="0" rIns="0" bIns="0" rtlCol="0" anchor="ctr"/>
          <a:lstStyle/>
          <a:p>
            <a:pPr marL="0" indent="0" algn="ctr">
              <a:buNone/>
            </a:pPr>
            <a:r>
              <a:rPr lang="en-US" sz="1406" dirty="0">
                <a:solidFill>
                  <a:srgbClr val="E6C75A"/>
                </a:solidFill>
                <a:latin typeface="Segoe UI Symbol" pitchFamily="34" charset="0"/>
                <a:ea typeface="Segoe UI Symbol" pitchFamily="34" charset="-122"/>
                <a:cs typeface="Segoe UI Symbol" pitchFamily="34" charset="-120"/>
              </a:rPr>
              <a:t>☁</a:t>
            </a:r>
            <a:endParaRPr lang="en-US" sz="1406" dirty="0"/>
          </a:p>
        </p:txBody>
      </p:sp>
      <p:sp>
        <p:nvSpPr>
          <p:cNvPr id="64" name="Text 62"/>
          <p:cNvSpPr/>
          <p:nvPr/>
        </p:nvSpPr>
        <p:spPr>
          <a:xfrm>
            <a:off x="6847284" y="1923008"/>
            <a:ext cx="1718072" cy="161877"/>
          </a:xfrm>
          <a:prstGeom prst="rect">
            <a:avLst/>
          </a:prstGeom>
          <a:noFill/>
          <a:ln/>
        </p:spPr>
        <p:txBody>
          <a:bodyPr wrap="none" lIns="0" tIns="0" rIns="0" bIns="0" rtlCol="0" anchor="t">
            <a:normAutofit/>
          </a:bodyPr>
          <a:lstStyle/>
          <a:p>
            <a:pPr marL="0" indent="0" algn="l">
              <a:lnSpc>
                <a:spcPts val="1266"/>
              </a:lnSpc>
              <a:buNone/>
            </a:pPr>
            <a:r>
              <a:rPr lang="en-US" sz="844" b="1" kern="0" spc="34" dirty="0">
                <a:solidFill>
                  <a:srgbClr val="0F2A4A"/>
                </a:solidFill>
                <a:latin typeface="Carlito" pitchFamily="34" charset="0"/>
                <a:ea typeface="Carlito" pitchFamily="34" charset="-122"/>
                <a:cs typeface="Carlito" pitchFamily="34" charset="-120"/>
              </a:rPr>
              <a:t>EXTERNAL &amp; DEPLOY</a:t>
            </a:r>
            <a:endParaRPr lang="en-US" sz="844" dirty="0"/>
          </a:p>
        </p:txBody>
      </p:sp>
      <p:sp>
        <p:nvSpPr>
          <p:cNvPr id="65" name="Text 63"/>
          <p:cNvSpPr/>
          <p:nvPr/>
        </p:nvSpPr>
        <p:spPr>
          <a:xfrm>
            <a:off x="6847284" y="2112318"/>
            <a:ext cx="1718072" cy="251844"/>
          </a:xfrm>
          <a:prstGeom prst="rect">
            <a:avLst/>
          </a:prstGeom>
          <a:noFill/>
          <a:ln/>
        </p:spPr>
        <p:txBody>
          <a:bodyPr wrap="none" lIns="0" tIns="0" rIns="0" bIns="71438" rtlCol="0" anchor="t">
            <a:normAutofit/>
          </a:bodyPr>
          <a:lstStyle/>
          <a:p>
            <a:pPr marL="0" indent="0" algn="l">
              <a:lnSpc>
                <a:spcPts val="906"/>
              </a:lnSpc>
              <a:buNone/>
            </a:pPr>
            <a:r>
              <a:rPr lang="en-US" sz="800" dirty="0">
                <a:solidFill>
                  <a:srgbClr val="4A5A75"/>
                </a:solidFill>
                <a:latin typeface="Carlito" pitchFamily="34" charset="0"/>
                <a:ea typeface="Carlito" pitchFamily="34" charset="-122"/>
                <a:cs typeface="Carlito" pitchFamily="34" charset="-120"/>
              </a:rPr>
              <a:t>AI, alerts, and hosting</a:t>
            </a:r>
            <a:endParaRPr lang="en-US" sz="800" dirty="0"/>
          </a:p>
        </p:txBody>
      </p:sp>
      <p:sp>
        <p:nvSpPr>
          <p:cNvPr id="66" name="Text 64"/>
          <p:cNvSpPr/>
          <p:nvPr/>
        </p:nvSpPr>
        <p:spPr>
          <a:xfrm>
            <a:off x="6847284" y="2434456"/>
            <a:ext cx="42863" cy="42863"/>
          </a:xfrm>
          <a:prstGeom prst="ellipse">
            <a:avLst/>
          </a:prstGeom>
          <a:solidFill>
            <a:srgbClr val="C9A227"/>
          </a:solidFill>
          <a:ln/>
        </p:spPr>
        <p:txBody>
          <a:bodyPr wrap="square" rtlCol="0" anchor="ctr"/>
          <a:lstStyle/>
          <a:p>
            <a:pPr marL="0" indent="0">
              <a:buNone/>
            </a:pPr>
            <a:endParaRPr lang="en-US" dirty="0"/>
          </a:p>
        </p:txBody>
      </p:sp>
      <p:sp>
        <p:nvSpPr>
          <p:cNvPr id="67" name="Text 65"/>
          <p:cNvSpPr/>
          <p:nvPr/>
        </p:nvSpPr>
        <p:spPr>
          <a:xfrm>
            <a:off x="6947297" y="2391594"/>
            <a:ext cx="1507608" cy="95798"/>
          </a:xfrm>
          <a:prstGeom prst="rect">
            <a:avLst/>
          </a:prstGeom>
          <a:noFill/>
          <a:ln/>
        </p:spPr>
        <p:txBody>
          <a:bodyPr wrap="square" lIns="0" tIns="0" rIns="0" bIns="0" rtlCol="0" anchor="t">
            <a:noAutofit/>
          </a:bodyPr>
          <a:lstStyle/>
          <a:p>
            <a:pPr marL="0" indent="0" algn="l">
              <a:lnSpc>
                <a:spcPts val="914"/>
              </a:lnSpc>
              <a:buNone/>
            </a:pPr>
            <a:r>
              <a:rPr lang="en-US" sz="600" b="1" dirty="0">
                <a:solidFill>
                  <a:srgbClr val="0F2A4A"/>
                </a:solidFill>
                <a:latin typeface="Carlito" pitchFamily="34" charset="0"/>
                <a:ea typeface="Carlito" pitchFamily="34" charset="-122"/>
                <a:cs typeface="Carlito" pitchFamily="34" charset="-120"/>
              </a:rPr>
              <a:t>OpenAI-compatible LLM API</a:t>
            </a:r>
            <a:endParaRPr lang="en-US" sz="600" dirty="0"/>
          </a:p>
        </p:txBody>
      </p:sp>
      <p:sp>
        <p:nvSpPr>
          <p:cNvPr id="68" name="Text 66"/>
          <p:cNvSpPr/>
          <p:nvPr/>
        </p:nvSpPr>
        <p:spPr>
          <a:xfrm>
            <a:off x="6947297" y="2514823"/>
            <a:ext cx="1465730" cy="148070"/>
          </a:xfrm>
          <a:prstGeom prst="rect">
            <a:avLst/>
          </a:prstGeom>
          <a:noFill/>
          <a:ln/>
        </p:spPr>
        <p:txBody>
          <a:bodyPr wrap="non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chatbot responses</a:t>
            </a:r>
            <a:endParaRPr lang="en-US" sz="800" dirty="0"/>
          </a:p>
        </p:txBody>
      </p:sp>
      <p:sp>
        <p:nvSpPr>
          <p:cNvPr id="69" name="Text 67"/>
          <p:cNvSpPr/>
          <p:nvPr/>
        </p:nvSpPr>
        <p:spPr>
          <a:xfrm>
            <a:off x="6847284" y="2728020"/>
            <a:ext cx="42863" cy="42863"/>
          </a:xfrm>
          <a:prstGeom prst="ellipse">
            <a:avLst/>
          </a:prstGeom>
          <a:solidFill>
            <a:srgbClr val="C9A227"/>
          </a:solidFill>
          <a:ln/>
        </p:spPr>
        <p:txBody>
          <a:bodyPr wrap="square" rtlCol="0" anchor="ctr"/>
          <a:lstStyle/>
          <a:p>
            <a:pPr marL="0" indent="0">
              <a:buNone/>
            </a:pPr>
            <a:endParaRPr lang="en-US" dirty="0"/>
          </a:p>
        </p:txBody>
      </p:sp>
      <p:sp>
        <p:nvSpPr>
          <p:cNvPr id="70" name="Text 68"/>
          <p:cNvSpPr/>
          <p:nvPr/>
        </p:nvSpPr>
        <p:spPr>
          <a:xfrm>
            <a:off x="6947297" y="2685157"/>
            <a:ext cx="1357388" cy="95798"/>
          </a:xfrm>
          <a:prstGeom prst="rect">
            <a:avLst/>
          </a:prstGeom>
          <a:noFill/>
          <a:ln/>
        </p:spPr>
        <p:txBody>
          <a:bodyPr wrap="none" lIns="0" tIns="0" rIns="0" bIns="0" rtlCol="0" anchor="t">
            <a:noAutofit/>
          </a:bodyPr>
          <a:lstStyle/>
          <a:p>
            <a:pPr marL="0" indent="0" algn="l">
              <a:lnSpc>
                <a:spcPts val="914"/>
              </a:lnSpc>
              <a:buNone/>
            </a:pPr>
            <a:r>
              <a:rPr lang="en-US" sz="600" b="1" dirty="0">
                <a:solidFill>
                  <a:srgbClr val="0F2A4A"/>
                </a:solidFill>
                <a:latin typeface="Carlito" pitchFamily="34" charset="0"/>
                <a:ea typeface="Carlito" pitchFamily="34" charset="-122"/>
                <a:cs typeface="Carlito" pitchFamily="34" charset="-120"/>
              </a:rPr>
              <a:t>SMTP / Email service</a:t>
            </a:r>
            <a:endParaRPr lang="en-US" sz="600" dirty="0"/>
          </a:p>
        </p:txBody>
      </p:sp>
      <p:sp>
        <p:nvSpPr>
          <p:cNvPr id="71" name="Text 69"/>
          <p:cNvSpPr/>
          <p:nvPr/>
        </p:nvSpPr>
        <p:spPr>
          <a:xfrm>
            <a:off x="6947297" y="2808387"/>
            <a:ext cx="1250835" cy="148070"/>
          </a:xfrm>
          <a:prstGeom prst="rect">
            <a:avLst/>
          </a:prstGeom>
          <a:noFill/>
          <a:ln/>
        </p:spPr>
        <p:txBody>
          <a:bodyPr wrap="squar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reminder &amp; emergency alerts</a:t>
            </a:r>
            <a:endParaRPr lang="en-US" sz="800" dirty="0"/>
          </a:p>
        </p:txBody>
      </p:sp>
      <p:sp>
        <p:nvSpPr>
          <p:cNvPr id="72" name="Text 70"/>
          <p:cNvSpPr/>
          <p:nvPr/>
        </p:nvSpPr>
        <p:spPr>
          <a:xfrm>
            <a:off x="6847284" y="3021583"/>
            <a:ext cx="42863" cy="42863"/>
          </a:xfrm>
          <a:prstGeom prst="ellipse">
            <a:avLst/>
          </a:prstGeom>
          <a:solidFill>
            <a:srgbClr val="C9A227"/>
          </a:solidFill>
          <a:ln/>
        </p:spPr>
        <p:txBody>
          <a:bodyPr wrap="square" rtlCol="0" anchor="ctr"/>
          <a:lstStyle/>
          <a:p>
            <a:pPr marL="0" indent="0">
              <a:buNone/>
            </a:pPr>
            <a:endParaRPr lang="en-US" dirty="0"/>
          </a:p>
        </p:txBody>
      </p:sp>
      <p:sp>
        <p:nvSpPr>
          <p:cNvPr id="73" name="Text 71"/>
          <p:cNvSpPr/>
          <p:nvPr/>
        </p:nvSpPr>
        <p:spPr>
          <a:xfrm>
            <a:off x="6947297" y="2978721"/>
            <a:ext cx="1713268" cy="95798"/>
          </a:xfrm>
          <a:prstGeom prst="rect">
            <a:avLst/>
          </a:prstGeom>
          <a:noFill/>
          <a:ln/>
        </p:spPr>
        <p:txBody>
          <a:bodyPr wrap="square" lIns="0" tIns="0" rIns="0" bIns="0" rtlCol="0" anchor="t">
            <a:noAutofit/>
          </a:bodyPr>
          <a:lstStyle/>
          <a:p>
            <a:pPr marL="0" indent="0" algn="l">
              <a:lnSpc>
                <a:spcPts val="914"/>
              </a:lnSpc>
              <a:buNone/>
            </a:pPr>
            <a:r>
              <a:rPr lang="en-US" sz="600" b="1" dirty="0">
                <a:solidFill>
                  <a:srgbClr val="0F2A4A"/>
                </a:solidFill>
                <a:latin typeface="Carlito" pitchFamily="34" charset="0"/>
                <a:ea typeface="Carlito" pitchFamily="34" charset="-122"/>
                <a:cs typeface="Carlito" pitchFamily="34" charset="-120"/>
              </a:rPr>
              <a:t>IIS / Azure hosting (runasp.net)</a:t>
            </a:r>
            <a:endParaRPr lang="en-US" sz="600" dirty="0"/>
          </a:p>
        </p:txBody>
      </p:sp>
      <p:sp>
        <p:nvSpPr>
          <p:cNvPr id="74" name="Text 72"/>
          <p:cNvSpPr/>
          <p:nvPr/>
        </p:nvSpPr>
        <p:spPr>
          <a:xfrm>
            <a:off x="6947297" y="3101950"/>
            <a:ext cx="1618059" cy="148070"/>
          </a:xfrm>
          <a:prstGeom prst="rect">
            <a:avLst/>
          </a:prstGeom>
          <a:noFill/>
          <a:ln/>
        </p:spPr>
        <p:txBody>
          <a:bodyPr wrap="non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production deployment</a:t>
            </a:r>
            <a:endParaRPr lang="en-US" sz="800" dirty="0"/>
          </a:p>
        </p:txBody>
      </p:sp>
      <p:sp>
        <p:nvSpPr>
          <p:cNvPr id="75" name="Text 73"/>
          <p:cNvSpPr/>
          <p:nvPr/>
        </p:nvSpPr>
        <p:spPr>
          <a:xfrm>
            <a:off x="6847284" y="3315146"/>
            <a:ext cx="42863" cy="42863"/>
          </a:xfrm>
          <a:prstGeom prst="ellipse">
            <a:avLst/>
          </a:prstGeom>
          <a:solidFill>
            <a:srgbClr val="C9A227"/>
          </a:solidFill>
          <a:ln/>
        </p:spPr>
        <p:txBody>
          <a:bodyPr wrap="square" rtlCol="0" anchor="ctr"/>
          <a:lstStyle/>
          <a:p>
            <a:pPr marL="0" indent="0">
              <a:buNone/>
            </a:pPr>
            <a:endParaRPr lang="en-US" dirty="0"/>
          </a:p>
        </p:txBody>
      </p:sp>
      <p:sp>
        <p:nvSpPr>
          <p:cNvPr id="76" name="Text 74"/>
          <p:cNvSpPr/>
          <p:nvPr/>
        </p:nvSpPr>
        <p:spPr>
          <a:xfrm>
            <a:off x="6947297" y="3272284"/>
            <a:ext cx="907759" cy="95798"/>
          </a:xfrm>
          <a:prstGeom prst="rect">
            <a:avLst/>
          </a:prstGeom>
          <a:noFill/>
          <a:ln/>
        </p:spPr>
        <p:txBody>
          <a:bodyPr wrap="none" lIns="0" tIns="0" rIns="0" bIns="0" rtlCol="0" anchor="t">
            <a:noAutofit/>
          </a:bodyPr>
          <a:lstStyle/>
          <a:p>
            <a:pPr marL="0" indent="0" algn="l">
              <a:lnSpc>
                <a:spcPts val="914"/>
              </a:lnSpc>
              <a:buNone/>
            </a:pPr>
            <a:r>
              <a:rPr lang="en-US" sz="600" b="1" dirty="0">
                <a:solidFill>
                  <a:srgbClr val="0F2A4A"/>
                </a:solidFill>
                <a:latin typeface="Carlito" pitchFamily="34" charset="0"/>
                <a:ea typeface="Carlito" pitchFamily="34" charset="-122"/>
                <a:cs typeface="Carlito" pitchFamily="34" charset="-120"/>
              </a:rPr>
              <a:t>Git + GitHub</a:t>
            </a:r>
            <a:endParaRPr lang="en-US" sz="600" dirty="0"/>
          </a:p>
        </p:txBody>
      </p:sp>
      <p:sp>
        <p:nvSpPr>
          <p:cNvPr id="77" name="Text 75"/>
          <p:cNvSpPr/>
          <p:nvPr/>
        </p:nvSpPr>
        <p:spPr>
          <a:xfrm>
            <a:off x="6947297" y="3395514"/>
            <a:ext cx="907759" cy="106040"/>
          </a:xfrm>
          <a:prstGeom prst="rect">
            <a:avLst/>
          </a:prstGeom>
          <a:noFill/>
          <a:ln/>
        </p:spPr>
        <p:txBody>
          <a:bodyPr wrap="squar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version control &amp; CI</a:t>
            </a:r>
            <a:endParaRPr lang="en-US" sz="800" dirty="0"/>
          </a:p>
        </p:txBody>
      </p:sp>
      <p:sp>
        <p:nvSpPr>
          <p:cNvPr id="78" name="Text 76"/>
          <p:cNvSpPr/>
          <p:nvPr/>
        </p:nvSpPr>
        <p:spPr>
          <a:xfrm>
            <a:off x="457200" y="3737297"/>
            <a:ext cx="8229600" cy="285750"/>
          </a:xfrm>
          <a:prstGeom prst="roundRect">
            <a:avLst>
              <a:gd name="adj" fmla="val 20000"/>
            </a:avLst>
          </a:prstGeom>
          <a:solidFill>
            <a:srgbClr val="0F2A4A"/>
          </a:solidFill>
          <a:ln/>
        </p:spPr>
        <p:txBody>
          <a:bodyPr wrap="square" rtlCol="0" anchor="ctr"/>
          <a:lstStyle/>
          <a:p>
            <a:pPr marL="0" indent="0">
              <a:buNone/>
            </a:pPr>
            <a:endParaRPr lang="en-US" dirty="0"/>
          </a:p>
        </p:txBody>
      </p:sp>
      <p:sp>
        <p:nvSpPr>
          <p:cNvPr id="79" name="Text 77"/>
          <p:cNvSpPr/>
          <p:nvPr/>
        </p:nvSpPr>
        <p:spPr>
          <a:xfrm>
            <a:off x="585788" y="3815879"/>
            <a:ext cx="128588" cy="128588"/>
          </a:xfrm>
          <a:prstGeom prst="rect">
            <a:avLst/>
          </a:prstGeom>
          <a:noFill/>
          <a:ln/>
        </p:spPr>
        <p:txBody>
          <a:bodyPr wrap="none" lIns="0" tIns="0" rIns="0" bIns="0" rtlCol="0" anchor="ctr"/>
          <a:lstStyle/>
          <a:p>
            <a:pPr marL="0" indent="0" algn="ctr">
              <a:buNone/>
            </a:pPr>
            <a:r>
              <a:rPr lang="en-US" sz="1266" dirty="0">
                <a:solidFill>
                  <a:srgbClr val="E6C75A"/>
                </a:solidFill>
                <a:latin typeface="Segoe UI Symbol" pitchFamily="34" charset="0"/>
                <a:ea typeface="Segoe UI Symbol" pitchFamily="34" charset="-122"/>
                <a:cs typeface="Segoe UI Symbol" pitchFamily="34" charset="-120"/>
              </a:rPr>
              <a:t>✓</a:t>
            </a:r>
            <a:endParaRPr lang="en-US" sz="1266" dirty="0"/>
          </a:p>
        </p:txBody>
      </p:sp>
      <p:sp>
        <p:nvSpPr>
          <p:cNvPr id="80" name="Text 78"/>
          <p:cNvSpPr/>
          <p:nvPr/>
        </p:nvSpPr>
        <p:spPr>
          <a:xfrm>
            <a:off x="800100" y="3823246"/>
            <a:ext cx="1226465" cy="121221"/>
          </a:xfrm>
          <a:prstGeom prst="rect">
            <a:avLst/>
          </a:prstGeom>
          <a:noFill/>
          <a:ln/>
        </p:spPr>
        <p:txBody>
          <a:bodyPr wrap="none" lIns="0" tIns="0" rIns="0" bIns="0" rtlCol="0" anchor="t"/>
          <a:lstStyle/>
          <a:p>
            <a:pPr marL="0" indent="0" algn="l">
              <a:lnSpc>
                <a:spcPts val="897"/>
              </a:lnSpc>
              <a:buNone/>
            </a:pPr>
            <a:r>
              <a:rPr lang="en-US" sz="800" b="1" kern="0" spc="62" dirty="0">
                <a:solidFill>
                  <a:srgbClr val="E6C75A"/>
                </a:solidFill>
                <a:latin typeface="Carlito" pitchFamily="34" charset="0"/>
                <a:ea typeface="Carlito" pitchFamily="34" charset="-122"/>
                <a:cs typeface="Carlito" pitchFamily="34" charset="-120"/>
              </a:rPr>
              <a:t>STACK RATIONALE</a:t>
            </a:r>
            <a:endParaRPr lang="en-US" sz="800" dirty="0"/>
          </a:p>
        </p:txBody>
      </p:sp>
      <p:sp>
        <p:nvSpPr>
          <p:cNvPr id="81" name="Text 79"/>
          <p:cNvSpPr/>
          <p:nvPr/>
        </p:nvSpPr>
        <p:spPr>
          <a:xfrm>
            <a:off x="1809824" y="3818000"/>
            <a:ext cx="6748388" cy="126467"/>
          </a:xfrm>
          <a:prstGeom prst="rect">
            <a:avLst/>
          </a:prstGeom>
          <a:noFill/>
          <a:ln/>
        </p:spPr>
        <p:txBody>
          <a:bodyPr wrap="square" lIns="0" tIns="0" rIns="0" bIns="0" rtlCol="0" anchor="t"/>
          <a:lstStyle/>
          <a:p>
            <a:pPr marL="0" indent="0" algn="l">
              <a:lnSpc>
                <a:spcPts val="979"/>
              </a:lnSpc>
              <a:buNone/>
            </a:pPr>
            <a:r>
              <a:rPr lang="en-US" sz="800" kern="0" spc="14" dirty="0">
                <a:solidFill>
                  <a:srgbClr val="FFFFFF"/>
                </a:solidFill>
                <a:latin typeface="Carlito" pitchFamily="34" charset="0"/>
                <a:ea typeface="Carlito" pitchFamily="34" charset="-122"/>
                <a:cs typeface="Carlito" pitchFamily="34" charset="-120"/>
              </a:rPr>
              <a:t>Microsoft ecosystem for enterprise-grade reliability; external AI API for natural language; curated dataset for evidence-backed interaction safety.</a:t>
            </a:r>
            <a:endParaRPr lang="en-US" sz="800" dirty="0"/>
          </a:p>
        </p:txBody>
      </p:sp>
      <p:sp>
        <p:nvSpPr>
          <p:cNvPr id="82" name="Text 80"/>
          <p:cNvSpPr/>
          <p:nvPr/>
        </p:nvSpPr>
        <p:spPr>
          <a:xfrm>
            <a:off x="514350" y="4868466"/>
            <a:ext cx="7165628"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83" name="Text 81"/>
          <p:cNvSpPr/>
          <p:nvPr/>
        </p:nvSpPr>
        <p:spPr>
          <a:xfrm>
            <a:off x="7694265" y="4868466"/>
            <a:ext cx="935385"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Tools &amp; Technologies</a:t>
            </a:r>
            <a:endParaRPr lang="en-US" sz="8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428625" y="489347"/>
            <a:ext cx="8286750" cy="0"/>
          </a:xfrm>
          <a:prstGeom prst="line">
            <a:avLst/>
          </a:prstGeom>
          <a:noFill/>
          <a:ln w="7144">
            <a:solidFill>
              <a:srgbClr val="D9D2BC"/>
            </a:solidFill>
            <a:prstDash val="solid"/>
          </a:ln>
        </p:spPr>
      </p:sp>
      <p:sp>
        <p:nvSpPr>
          <p:cNvPr id="3" name="Shape 1"/>
          <p:cNvSpPr/>
          <p:nvPr/>
        </p:nvSpPr>
        <p:spPr>
          <a:xfrm>
            <a:off x="514350" y="4793456"/>
            <a:ext cx="8115300" cy="0"/>
          </a:xfrm>
          <a:prstGeom prst="line">
            <a:avLst/>
          </a:prstGeom>
          <a:noFill/>
          <a:ln w="7144">
            <a:solidFill>
              <a:srgbClr val="D9D2BC"/>
            </a:solidFill>
            <a:prstDash val="solid"/>
          </a:ln>
        </p:spPr>
      </p:sp>
      <p:sp>
        <p:nvSpPr>
          <p:cNvPr id="4" name="Text 2"/>
          <p:cNvSpPr/>
          <p:nvPr/>
        </p:nvSpPr>
        <p:spPr>
          <a:xfrm>
            <a:off x="428625" y="257175"/>
            <a:ext cx="785109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07 · IMPLEMENTATION</a:t>
            </a:r>
            <a:endParaRPr lang="en-US" sz="800" dirty="0"/>
          </a:p>
        </p:txBody>
      </p:sp>
      <p:sp>
        <p:nvSpPr>
          <p:cNvPr id="5" name="Text 3"/>
          <p:cNvSpPr/>
          <p:nvPr/>
        </p:nvSpPr>
        <p:spPr>
          <a:xfrm>
            <a:off x="8294005" y="257175"/>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11 / 21</a:t>
            </a:r>
            <a:endParaRPr lang="en-US" sz="800" dirty="0"/>
          </a:p>
        </p:txBody>
      </p:sp>
      <p:sp>
        <p:nvSpPr>
          <p:cNvPr id="44" name="Text 41"/>
          <p:cNvSpPr/>
          <p:nvPr/>
        </p:nvSpPr>
        <p:spPr>
          <a:xfrm>
            <a:off x="514350" y="4868466"/>
            <a:ext cx="7388982"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45" name="Text 42"/>
          <p:cNvSpPr/>
          <p:nvPr/>
        </p:nvSpPr>
        <p:spPr>
          <a:xfrm>
            <a:off x="7917619" y="4868466"/>
            <a:ext cx="712031"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Implementation</a:t>
            </a:r>
            <a:endParaRPr lang="en-US" sz="800" dirty="0"/>
          </a:p>
        </p:txBody>
      </p:sp>
      <p:pic>
        <p:nvPicPr>
          <p:cNvPr id="47" name="Picture 46">
            <a:extLst>
              <a:ext uri="{FF2B5EF4-FFF2-40B4-BE49-F238E27FC236}">
                <a16:creationId xmlns:a16="http://schemas.microsoft.com/office/drawing/2014/main" id="{025DC85D-0444-0D0F-2B1B-25579A6C19C8}"/>
              </a:ext>
            </a:extLst>
          </p:cNvPr>
          <p:cNvPicPr>
            <a:picLocks noChangeAspect="1"/>
          </p:cNvPicPr>
          <p:nvPr/>
        </p:nvPicPr>
        <p:blipFill>
          <a:blip r:embed="rId3"/>
          <a:stretch>
            <a:fillRect/>
          </a:stretch>
        </p:blipFill>
        <p:spPr>
          <a:xfrm>
            <a:off x="649086" y="604678"/>
            <a:ext cx="1847917" cy="3103147"/>
          </a:xfrm>
          <a:prstGeom prst="rect">
            <a:avLst/>
          </a:prstGeom>
        </p:spPr>
      </p:pic>
      <p:sp>
        <p:nvSpPr>
          <p:cNvPr id="48" name="TextBox 47">
            <a:extLst>
              <a:ext uri="{FF2B5EF4-FFF2-40B4-BE49-F238E27FC236}">
                <a16:creationId xmlns:a16="http://schemas.microsoft.com/office/drawing/2014/main" id="{49281797-C7EA-81D8-1524-485B703D4ED7}"/>
              </a:ext>
            </a:extLst>
          </p:cNvPr>
          <p:cNvSpPr txBox="1"/>
          <p:nvPr/>
        </p:nvSpPr>
        <p:spPr>
          <a:xfrm>
            <a:off x="606885" y="3707825"/>
            <a:ext cx="1973224" cy="954107"/>
          </a:xfrm>
          <a:prstGeom prst="rect">
            <a:avLst/>
          </a:prstGeom>
          <a:noFill/>
        </p:spPr>
        <p:txBody>
          <a:bodyPr wrap="square" rtlCol="0">
            <a:spAutoFit/>
          </a:bodyPr>
          <a:lstStyle/>
          <a:p>
            <a:r>
              <a:rPr lang="en-US" sz="800" b="1" dirty="0">
                <a:solidFill>
                  <a:srgbClr val="002060"/>
                </a:solidFill>
              </a:rPr>
              <a:t>Welcome &amp; Splash Screen</a:t>
            </a:r>
            <a:r>
              <a:rPr lang="en-US" sz="800" dirty="0">
                <a:solidFill>
                  <a:srgbClr val="002060"/>
                </a:solidFill>
              </a:rPr>
              <a:t> – The entry point of the </a:t>
            </a:r>
            <a:r>
              <a:rPr lang="en-US" sz="800" dirty="0" err="1">
                <a:solidFill>
                  <a:srgbClr val="002060"/>
                </a:solidFill>
              </a:rPr>
              <a:t>MedWise</a:t>
            </a:r>
            <a:r>
              <a:rPr lang="en-US" sz="800" dirty="0">
                <a:solidFill>
                  <a:srgbClr val="002060"/>
                </a:solidFill>
              </a:rPr>
              <a:t> application, featuring a clean user interface with the project branding, slogan ("Your medication safety, simplified"), and clear Call-to-Action buttons for new users to get started or log in.</a:t>
            </a:r>
          </a:p>
        </p:txBody>
      </p:sp>
      <p:pic>
        <p:nvPicPr>
          <p:cNvPr id="50" name="Picture 49">
            <a:extLst>
              <a:ext uri="{FF2B5EF4-FFF2-40B4-BE49-F238E27FC236}">
                <a16:creationId xmlns:a16="http://schemas.microsoft.com/office/drawing/2014/main" id="{BA00EF01-F4D5-A621-8D33-8E078E15D07A}"/>
              </a:ext>
            </a:extLst>
          </p:cNvPr>
          <p:cNvPicPr>
            <a:picLocks noChangeAspect="1"/>
          </p:cNvPicPr>
          <p:nvPr/>
        </p:nvPicPr>
        <p:blipFill>
          <a:blip r:embed="rId4"/>
          <a:stretch>
            <a:fillRect/>
          </a:stretch>
        </p:blipFill>
        <p:spPr>
          <a:xfrm>
            <a:off x="3427401" y="604677"/>
            <a:ext cx="2068557" cy="3144229"/>
          </a:xfrm>
          <a:prstGeom prst="rect">
            <a:avLst/>
          </a:prstGeom>
        </p:spPr>
      </p:pic>
      <p:sp>
        <p:nvSpPr>
          <p:cNvPr id="51" name="TextBox 50">
            <a:extLst>
              <a:ext uri="{FF2B5EF4-FFF2-40B4-BE49-F238E27FC236}">
                <a16:creationId xmlns:a16="http://schemas.microsoft.com/office/drawing/2014/main" id="{27B1BC9A-77E0-EC43-3B22-90D674D9CA74}"/>
              </a:ext>
            </a:extLst>
          </p:cNvPr>
          <p:cNvSpPr txBox="1"/>
          <p:nvPr/>
        </p:nvSpPr>
        <p:spPr>
          <a:xfrm>
            <a:off x="3414121" y="3748906"/>
            <a:ext cx="2315758" cy="584775"/>
          </a:xfrm>
          <a:prstGeom prst="rect">
            <a:avLst/>
          </a:prstGeom>
          <a:noFill/>
        </p:spPr>
        <p:txBody>
          <a:bodyPr wrap="square" rtlCol="0">
            <a:spAutoFit/>
          </a:bodyPr>
          <a:lstStyle/>
          <a:p>
            <a:r>
              <a:rPr lang="en-US" sz="800" b="1" dirty="0">
                <a:solidFill>
                  <a:srgbClr val="002060"/>
                </a:solidFill>
              </a:rPr>
              <a:t>User Login Interface</a:t>
            </a:r>
            <a:r>
              <a:rPr lang="en-US" sz="800" dirty="0">
                <a:solidFill>
                  <a:srgbClr val="002060"/>
                </a:solidFill>
              </a:rPr>
              <a:t> – A secure and simple sign-in form for existing users (Patients/Caregivers) to access their personal dashboards using their registered email and password.</a:t>
            </a:r>
          </a:p>
        </p:txBody>
      </p:sp>
      <p:pic>
        <p:nvPicPr>
          <p:cNvPr id="55" name="Picture 54">
            <a:extLst>
              <a:ext uri="{FF2B5EF4-FFF2-40B4-BE49-F238E27FC236}">
                <a16:creationId xmlns:a16="http://schemas.microsoft.com/office/drawing/2014/main" id="{35C2DB34-B4D7-16C5-58B0-7ED02C3E98B0}"/>
              </a:ext>
            </a:extLst>
          </p:cNvPr>
          <p:cNvPicPr>
            <a:picLocks noChangeAspect="1"/>
          </p:cNvPicPr>
          <p:nvPr/>
        </p:nvPicPr>
        <p:blipFill>
          <a:blip r:embed="rId5"/>
          <a:stretch>
            <a:fillRect/>
          </a:stretch>
        </p:blipFill>
        <p:spPr>
          <a:xfrm>
            <a:off x="6343250" y="604678"/>
            <a:ext cx="2161440" cy="3103147"/>
          </a:xfrm>
          <a:prstGeom prst="rect">
            <a:avLst/>
          </a:prstGeom>
        </p:spPr>
      </p:pic>
      <p:sp>
        <p:nvSpPr>
          <p:cNvPr id="56" name="TextBox 55">
            <a:extLst>
              <a:ext uri="{FF2B5EF4-FFF2-40B4-BE49-F238E27FC236}">
                <a16:creationId xmlns:a16="http://schemas.microsoft.com/office/drawing/2014/main" id="{B4DBDAA3-944E-365A-7C2A-8C2E19AD2444}"/>
              </a:ext>
            </a:extLst>
          </p:cNvPr>
          <p:cNvSpPr txBox="1"/>
          <p:nvPr/>
        </p:nvSpPr>
        <p:spPr>
          <a:xfrm>
            <a:off x="6266090" y="3748906"/>
            <a:ext cx="2315759" cy="707886"/>
          </a:xfrm>
          <a:prstGeom prst="rect">
            <a:avLst/>
          </a:prstGeom>
          <a:noFill/>
        </p:spPr>
        <p:txBody>
          <a:bodyPr wrap="square" rtlCol="0">
            <a:spAutoFit/>
          </a:bodyPr>
          <a:lstStyle/>
          <a:p>
            <a:r>
              <a:rPr lang="en-US" sz="800" b="1" dirty="0">
                <a:solidFill>
                  <a:srgbClr val="002060"/>
                </a:solidFill>
              </a:rPr>
              <a:t>Registration &amp; Account Creation</a:t>
            </a:r>
            <a:r>
              <a:rPr lang="en-US" sz="800" dirty="0">
                <a:solidFill>
                  <a:srgbClr val="002060"/>
                </a:solidFill>
              </a:rPr>
              <a:t> – The sign-up form customized for the Egyptian context, allowing users to register by full name, phone number, and crucially select their role either as a </a:t>
            </a:r>
            <a:r>
              <a:rPr lang="en-US" sz="800" b="1" dirty="0">
                <a:solidFill>
                  <a:srgbClr val="002060"/>
                </a:solidFill>
              </a:rPr>
              <a:t>Patient</a:t>
            </a:r>
            <a:r>
              <a:rPr lang="en-US" sz="800" dirty="0">
                <a:solidFill>
                  <a:srgbClr val="002060"/>
                </a:solidFill>
              </a:rPr>
              <a:t> or a </a:t>
            </a:r>
            <a:r>
              <a:rPr lang="en-US" sz="800" b="1" dirty="0">
                <a:solidFill>
                  <a:srgbClr val="002060"/>
                </a:solidFill>
              </a:rPr>
              <a:t>Caregiver</a:t>
            </a:r>
            <a:r>
              <a:rPr lang="en-US" sz="800" dirty="0">
                <a:solidFill>
                  <a:srgbClr val="002060"/>
                </a:solidFill>
              </a:rPr>
              <a:t>.</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a:extLst>
            <a:ext uri="{FF2B5EF4-FFF2-40B4-BE49-F238E27FC236}">
              <a16:creationId xmlns:a16="http://schemas.microsoft.com/office/drawing/2014/main" id="{B4C78352-D562-C256-EEA1-29A5C3FDC47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B443742-A35F-8093-89EA-18A7B3956CE9}"/>
              </a:ext>
            </a:extLst>
          </p:cNvPr>
          <p:cNvSpPr/>
          <p:nvPr/>
        </p:nvSpPr>
        <p:spPr>
          <a:xfrm>
            <a:off x="428625" y="489347"/>
            <a:ext cx="8286750" cy="0"/>
          </a:xfrm>
          <a:prstGeom prst="line">
            <a:avLst/>
          </a:prstGeom>
          <a:noFill/>
          <a:ln w="7144">
            <a:solidFill>
              <a:srgbClr val="D9D2BC"/>
            </a:solidFill>
            <a:prstDash val="solid"/>
          </a:ln>
        </p:spPr>
      </p:sp>
      <p:sp>
        <p:nvSpPr>
          <p:cNvPr id="3" name="Shape 1">
            <a:extLst>
              <a:ext uri="{FF2B5EF4-FFF2-40B4-BE49-F238E27FC236}">
                <a16:creationId xmlns:a16="http://schemas.microsoft.com/office/drawing/2014/main" id="{8FD6BDA7-4704-16D5-A0A5-CD743F78EB3B}"/>
              </a:ext>
            </a:extLst>
          </p:cNvPr>
          <p:cNvSpPr/>
          <p:nvPr/>
        </p:nvSpPr>
        <p:spPr>
          <a:xfrm>
            <a:off x="514350" y="4793456"/>
            <a:ext cx="8115300" cy="0"/>
          </a:xfrm>
          <a:prstGeom prst="line">
            <a:avLst/>
          </a:prstGeom>
          <a:noFill/>
          <a:ln w="7144">
            <a:solidFill>
              <a:srgbClr val="D9D2BC"/>
            </a:solidFill>
            <a:prstDash val="solid"/>
          </a:ln>
        </p:spPr>
      </p:sp>
      <p:sp>
        <p:nvSpPr>
          <p:cNvPr id="4" name="Text 2">
            <a:extLst>
              <a:ext uri="{FF2B5EF4-FFF2-40B4-BE49-F238E27FC236}">
                <a16:creationId xmlns:a16="http://schemas.microsoft.com/office/drawing/2014/main" id="{E37E5C01-BF3F-CFAC-4786-E61C95846AFD}"/>
              </a:ext>
            </a:extLst>
          </p:cNvPr>
          <p:cNvSpPr/>
          <p:nvPr/>
        </p:nvSpPr>
        <p:spPr>
          <a:xfrm>
            <a:off x="428625" y="257175"/>
            <a:ext cx="785109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07 · IMPLEMENTATION</a:t>
            </a:r>
            <a:endParaRPr lang="en-US" sz="800" dirty="0"/>
          </a:p>
        </p:txBody>
      </p:sp>
      <p:sp>
        <p:nvSpPr>
          <p:cNvPr id="5" name="Text 3">
            <a:extLst>
              <a:ext uri="{FF2B5EF4-FFF2-40B4-BE49-F238E27FC236}">
                <a16:creationId xmlns:a16="http://schemas.microsoft.com/office/drawing/2014/main" id="{2DA8CC3F-2848-8144-80DE-876B0768705E}"/>
              </a:ext>
            </a:extLst>
          </p:cNvPr>
          <p:cNvSpPr/>
          <p:nvPr/>
        </p:nvSpPr>
        <p:spPr>
          <a:xfrm>
            <a:off x="8294005" y="257175"/>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1</a:t>
            </a:r>
            <a:r>
              <a:rPr lang="ar-EG" sz="800" kern="0" spc="68" dirty="0">
                <a:solidFill>
                  <a:srgbClr val="7A8AA0"/>
                </a:solidFill>
                <a:latin typeface="Liberation Sans Narrow" pitchFamily="34" charset="0"/>
                <a:ea typeface="Liberation Sans Narrow" pitchFamily="34" charset="-122"/>
                <a:cs typeface="Liberation Sans Narrow" pitchFamily="34" charset="-120"/>
              </a:rPr>
              <a:t>2</a:t>
            </a:r>
            <a:r>
              <a:rPr lang="en-US" sz="800" kern="0" spc="68" dirty="0">
                <a:solidFill>
                  <a:srgbClr val="7A8AA0"/>
                </a:solidFill>
                <a:latin typeface="Liberation Sans Narrow" pitchFamily="34" charset="0"/>
                <a:ea typeface="Liberation Sans Narrow" pitchFamily="34" charset="-122"/>
                <a:cs typeface="Liberation Sans Narrow" pitchFamily="34" charset="-120"/>
              </a:rPr>
              <a:t> / 21</a:t>
            </a:r>
            <a:endParaRPr lang="en-US" sz="800" dirty="0"/>
          </a:p>
        </p:txBody>
      </p:sp>
      <p:sp>
        <p:nvSpPr>
          <p:cNvPr id="44" name="Text 41">
            <a:extLst>
              <a:ext uri="{FF2B5EF4-FFF2-40B4-BE49-F238E27FC236}">
                <a16:creationId xmlns:a16="http://schemas.microsoft.com/office/drawing/2014/main" id="{798A9AB4-ABF9-91E7-EA48-133E9F3BFDF0}"/>
              </a:ext>
            </a:extLst>
          </p:cNvPr>
          <p:cNvSpPr/>
          <p:nvPr/>
        </p:nvSpPr>
        <p:spPr>
          <a:xfrm>
            <a:off x="514350" y="4868466"/>
            <a:ext cx="7388982"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45" name="Text 42">
            <a:extLst>
              <a:ext uri="{FF2B5EF4-FFF2-40B4-BE49-F238E27FC236}">
                <a16:creationId xmlns:a16="http://schemas.microsoft.com/office/drawing/2014/main" id="{B593D66E-A99B-506C-AF00-59061724CCE9}"/>
              </a:ext>
            </a:extLst>
          </p:cNvPr>
          <p:cNvSpPr/>
          <p:nvPr/>
        </p:nvSpPr>
        <p:spPr>
          <a:xfrm>
            <a:off x="7917619" y="4868466"/>
            <a:ext cx="712031"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Implementation</a:t>
            </a:r>
            <a:endParaRPr lang="en-US" sz="800" dirty="0"/>
          </a:p>
        </p:txBody>
      </p:sp>
      <p:pic>
        <p:nvPicPr>
          <p:cNvPr id="7" name="Picture 6">
            <a:extLst>
              <a:ext uri="{FF2B5EF4-FFF2-40B4-BE49-F238E27FC236}">
                <a16:creationId xmlns:a16="http://schemas.microsoft.com/office/drawing/2014/main" id="{864A1A4D-CF12-8FF4-A0DD-DE8260B215B7}"/>
              </a:ext>
            </a:extLst>
          </p:cNvPr>
          <p:cNvPicPr>
            <a:picLocks noChangeAspect="1"/>
          </p:cNvPicPr>
          <p:nvPr/>
        </p:nvPicPr>
        <p:blipFill>
          <a:blip r:embed="rId3"/>
          <a:stretch>
            <a:fillRect/>
          </a:stretch>
        </p:blipFill>
        <p:spPr>
          <a:xfrm>
            <a:off x="665451" y="590953"/>
            <a:ext cx="7197037" cy="3544088"/>
          </a:xfrm>
          <a:prstGeom prst="rect">
            <a:avLst/>
          </a:prstGeom>
        </p:spPr>
      </p:pic>
      <p:sp>
        <p:nvSpPr>
          <p:cNvPr id="13" name="Rectangle 4">
            <a:extLst>
              <a:ext uri="{FF2B5EF4-FFF2-40B4-BE49-F238E27FC236}">
                <a16:creationId xmlns:a16="http://schemas.microsoft.com/office/drawing/2014/main" id="{344E85A6-21BF-7BA4-CFDF-5FE357953D9D}"/>
              </a:ext>
            </a:extLst>
          </p:cNvPr>
          <p:cNvSpPr>
            <a:spLocks noChangeArrowheads="1"/>
          </p:cNvSpPr>
          <p:nvPr/>
        </p:nvSpPr>
        <p:spPr bwMode="auto">
          <a:xfrm>
            <a:off x="588396" y="4155341"/>
            <a:ext cx="747724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r-EG" altLang="en-US" sz="1000" b="1" i="0" u="none" strike="noStrike" cap="none" normalizeH="0" baseline="0" dirty="0">
                <a:ln>
                  <a:noFill/>
                </a:ln>
                <a:solidFill>
                  <a:srgbClr val="002060"/>
                </a:solidFill>
                <a:effectLst/>
                <a:latin typeface="Arial" panose="020B0604020202020204" pitchFamily="34" charset="0"/>
              </a:rPr>
              <a:t> </a:t>
            </a:r>
            <a:r>
              <a:rPr kumimoji="0" lang="en-US" altLang="en-US" sz="1000" b="1" i="0" u="none" strike="noStrike" cap="none" normalizeH="0" baseline="0" dirty="0">
                <a:ln>
                  <a:noFill/>
                </a:ln>
                <a:solidFill>
                  <a:srgbClr val="002060"/>
                </a:solidFill>
                <a:effectLst/>
                <a:latin typeface="Arial" panose="020B0604020202020204" pitchFamily="34" charset="0"/>
              </a:rPr>
              <a:t>Patient Dashboard (Overview)</a:t>
            </a:r>
            <a:r>
              <a:rPr kumimoji="0" lang="en-US" altLang="en-US" sz="1000" b="0" i="0" u="none" strike="noStrike" cap="none" normalizeH="0" baseline="0" dirty="0">
                <a:ln>
                  <a:noFill/>
                </a:ln>
                <a:solidFill>
                  <a:srgbClr val="002060"/>
                </a:solidFill>
                <a:effectLst/>
                <a:latin typeface="Arial" panose="020B0604020202020204" pitchFamily="34" charset="0"/>
              </a:rPr>
              <a:t> – The central hub for the patient (e.g., Mina Ayman) displaying a summary of active medications, today's reminders, doses taken, and missed doses, alongside a clear navigation menu for core features like </a:t>
            </a:r>
            <a:r>
              <a:rPr kumimoji="0" lang="en-US" altLang="en-US" sz="1000" b="0" i="0" u="none" strike="noStrike" cap="none" normalizeH="0" baseline="0" dirty="0" err="1">
                <a:ln>
                  <a:noFill/>
                </a:ln>
                <a:solidFill>
                  <a:srgbClr val="002060"/>
                </a:solidFill>
                <a:effectLst/>
                <a:latin typeface="Arial" panose="020B0604020202020204" pitchFamily="34" charset="0"/>
              </a:rPr>
              <a:t>MedBot</a:t>
            </a:r>
            <a:r>
              <a:rPr kumimoji="0" lang="en-US" altLang="en-US" sz="1000" b="0" i="0" u="none" strike="noStrike" cap="none" normalizeH="0" baseline="0" dirty="0">
                <a:ln>
                  <a:noFill/>
                </a:ln>
                <a:solidFill>
                  <a:srgbClr val="002060"/>
                </a:solidFill>
                <a:effectLst/>
                <a:latin typeface="Arial" panose="020B0604020202020204" pitchFamily="34" charset="0"/>
              </a:rPr>
              <a:t> and Interaction Check.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6284998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a:extLst>
            <a:ext uri="{FF2B5EF4-FFF2-40B4-BE49-F238E27FC236}">
              <a16:creationId xmlns:a16="http://schemas.microsoft.com/office/drawing/2014/main" id="{E962C821-E302-CE54-A09E-14BFAEA3C3B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9951E00-B8C4-BB16-470C-58D2E6534D68}"/>
              </a:ext>
            </a:extLst>
          </p:cNvPr>
          <p:cNvSpPr/>
          <p:nvPr/>
        </p:nvSpPr>
        <p:spPr>
          <a:xfrm>
            <a:off x="428625" y="489347"/>
            <a:ext cx="8286750" cy="0"/>
          </a:xfrm>
          <a:prstGeom prst="line">
            <a:avLst/>
          </a:prstGeom>
          <a:noFill/>
          <a:ln w="7144">
            <a:solidFill>
              <a:srgbClr val="D9D2BC"/>
            </a:solidFill>
            <a:prstDash val="solid"/>
          </a:ln>
        </p:spPr>
      </p:sp>
      <p:sp>
        <p:nvSpPr>
          <p:cNvPr id="3" name="Shape 1">
            <a:extLst>
              <a:ext uri="{FF2B5EF4-FFF2-40B4-BE49-F238E27FC236}">
                <a16:creationId xmlns:a16="http://schemas.microsoft.com/office/drawing/2014/main" id="{4A52E10C-AE9F-697E-5CD0-88C744A54EAD}"/>
              </a:ext>
            </a:extLst>
          </p:cNvPr>
          <p:cNvSpPr/>
          <p:nvPr/>
        </p:nvSpPr>
        <p:spPr>
          <a:xfrm>
            <a:off x="514350" y="4793456"/>
            <a:ext cx="8115300" cy="0"/>
          </a:xfrm>
          <a:prstGeom prst="line">
            <a:avLst/>
          </a:prstGeom>
          <a:noFill/>
          <a:ln w="7144">
            <a:solidFill>
              <a:srgbClr val="D9D2BC"/>
            </a:solidFill>
            <a:prstDash val="solid"/>
          </a:ln>
        </p:spPr>
      </p:sp>
      <p:sp>
        <p:nvSpPr>
          <p:cNvPr id="4" name="Text 2">
            <a:extLst>
              <a:ext uri="{FF2B5EF4-FFF2-40B4-BE49-F238E27FC236}">
                <a16:creationId xmlns:a16="http://schemas.microsoft.com/office/drawing/2014/main" id="{BE78F189-9ADF-2DCB-C6E0-1AB90F68EA1B}"/>
              </a:ext>
            </a:extLst>
          </p:cNvPr>
          <p:cNvSpPr/>
          <p:nvPr/>
        </p:nvSpPr>
        <p:spPr>
          <a:xfrm>
            <a:off x="428625" y="257175"/>
            <a:ext cx="785109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07 · IMPLEMENTATION</a:t>
            </a:r>
            <a:endParaRPr lang="en-US" sz="800" dirty="0"/>
          </a:p>
        </p:txBody>
      </p:sp>
      <p:sp>
        <p:nvSpPr>
          <p:cNvPr id="5" name="Text 3">
            <a:extLst>
              <a:ext uri="{FF2B5EF4-FFF2-40B4-BE49-F238E27FC236}">
                <a16:creationId xmlns:a16="http://schemas.microsoft.com/office/drawing/2014/main" id="{5DBFDEB2-C93F-3C7B-A291-103ABF8191DA}"/>
              </a:ext>
            </a:extLst>
          </p:cNvPr>
          <p:cNvSpPr/>
          <p:nvPr/>
        </p:nvSpPr>
        <p:spPr>
          <a:xfrm>
            <a:off x="8294005" y="257175"/>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1</a:t>
            </a:r>
            <a:r>
              <a:rPr lang="ar-EG" sz="800" kern="0" spc="68" dirty="0">
                <a:solidFill>
                  <a:srgbClr val="7A8AA0"/>
                </a:solidFill>
                <a:latin typeface="Liberation Sans Narrow" pitchFamily="34" charset="0"/>
                <a:ea typeface="Liberation Sans Narrow" pitchFamily="34" charset="-122"/>
                <a:cs typeface="Liberation Sans Narrow" pitchFamily="34" charset="-120"/>
              </a:rPr>
              <a:t>3</a:t>
            </a:r>
            <a:r>
              <a:rPr lang="en-US" sz="800" kern="0" spc="68" dirty="0">
                <a:solidFill>
                  <a:srgbClr val="7A8AA0"/>
                </a:solidFill>
                <a:latin typeface="Liberation Sans Narrow" pitchFamily="34" charset="0"/>
                <a:ea typeface="Liberation Sans Narrow" pitchFamily="34" charset="-122"/>
                <a:cs typeface="Liberation Sans Narrow" pitchFamily="34" charset="-120"/>
              </a:rPr>
              <a:t> / 21</a:t>
            </a:r>
            <a:endParaRPr lang="en-US" sz="800" dirty="0"/>
          </a:p>
        </p:txBody>
      </p:sp>
      <p:sp>
        <p:nvSpPr>
          <p:cNvPr id="44" name="Text 41">
            <a:extLst>
              <a:ext uri="{FF2B5EF4-FFF2-40B4-BE49-F238E27FC236}">
                <a16:creationId xmlns:a16="http://schemas.microsoft.com/office/drawing/2014/main" id="{6D82D386-44DB-BD28-CB8A-92BEDFF8E399}"/>
              </a:ext>
            </a:extLst>
          </p:cNvPr>
          <p:cNvSpPr/>
          <p:nvPr/>
        </p:nvSpPr>
        <p:spPr>
          <a:xfrm>
            <a:off x="514350" y="4868466"/>
            <a:ext cx="7388982"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45" name="Text 42">
            <a:extLst>
              <a:ext uri="{FF2B5EF4-FFF2-40B4-BE49-F238E27FC236}">
                <a16:creationId xmlns:a16="http://schemas.microsoft.com/office/drawing/2014/main" id="{3D44E8FA-7EEC-6ECC-4300-7E23A8A58788}"/>
              </a:ext>
            </a:extLst>
          </p:cNvPr>
          <p:cNvSpPr/>
          <p:nvPr/>
        </p:nvSpPr>
        <p:spPr>
          <a:xfrm>
            <a:off x="7917619" y="4868466"/>
            <a:ext cx="712031"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Implementation</a:t>
            </a:r>
            <a:endParaRPr lang="en-US" sz="800" dirty="0"/>
          </a:p>
        </p:txBody>
      </p:sp>
      <p:pic>
        <p:nvPicPr>
          <p:cNvPr id="8" name="Picture 7">
            <a:extLst>
              <a:ext uri="{FF2B5EF4-FFF2-40B4-BE49-F238E27FC236}">
                <a16:creationId xmlns:a16="http://schemas.microsoft.com/office/drawing/2014/main" id="{D63E0590-4F58-9CCC-0A4B-EE96A4A7C7D2}"/>
              </a:ext>
            </a:extLst>
          </p:cNvPr>
          <p:cNvPicPr>
            <a:picLocks noChangeAspect="1"/>
          </p:cNvPicPr>
          <p:nvPr/>
        </p:nvPicPr>
        <p:blipFill>
          <a:blip r:embed="rId3"/>
          <a:stretch>
            <a:fillRect/>
          </a:stretch>
        </p:blipFill>
        <p:spPr>
          <a:xfrm>
            <a:off x="428625" y="682229"/>
            <a:ext cx="2566823" cy="2987982"/>
          </a:xfrm>
          <a:prstGeom prst="rect">
            <a:avLst/>
          </a:prstGeom>
        </p:spPr>
      </p:pic>
      <p:sp>
        <p:nvSpPr>
          <p:cNvPr id="10" name="Rectangle 1">
            <a:extLst>
              <a:ext uri="{FF2B5EF4-FFF2-40B4-BE49-F238E27FC236}">
                <a16:creationId xmlns:a16="http://schemas.microsoft.com/office/drawing/2014/main" id="{0890B0CF-3469-C27B-6C9D-01F0EA52CAC3}"/>
              </a:ext>
            </a:extLst>
          </p:cNvPr>
          <p:cNvSpPr>
            <a:spLocks noChangeArrowheads="1"/>
          </p:cNvSpPr>
          <p:nvPr/>
        </p:nvSpPr>
        <p:spPr bwMode="auto">
          <a:xfrm>
            <a:off x="364777" y="3715821"/>
            <a:ext cx="2680336"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rgbClr val="002060"/>
                </a:solidFill>
                <a:effectLst/>
                <a:latin typeface="Arial" panose="020B0604020202020204" pitchFamily="34" charset="0"/>
              </a:rPr>
              <a:t>Add New Medication Form</a:t>
            </a:r>
            <a:r>
              <a:rPr kumimoji="0" lang="en-US" altLang="en-US" sz="800" b="0" i="0" u="none" strike="noStrike" cap="none" normalizeH="0" baseline="0" dirty="0">
                <a:ln>
                  <a:noFill/>
                </a:ln>
                <a:solidFill>
                  <a:srgbClr val="002060"/>
                </a:solidFill>
                <a:effectLst/>
                <a:latin typeface="Arial" panose="020B0604020202020204" pitchFamily="34" charset="0"/>
              </a:rPr>
              <a:t> – An intuitive form enabling patients or caregivers to input new prescription details, including Medication Name, Active Ingredient, Dosage Time, and Frequency to feed into the interaction database and reminder system.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a:extLst>
              <a:ext uri="{FF2B5EF4-FFF2-40B4-BE49-F238E27FC236}">
                <a16:creationId xmlns:a16="http://schemas.microsoft.com/office/drawing/2014/main" id="{A90A402C-2E67-EE68-BE38-02D92803A5E8}"/>
              </a:ext>
            </a:extLst>
          </p:cNvPr>
          <p:cNvPicPr>
            <a:picLocks noChangeAspect="1"/>
          </p:cNvPicPr>
          <p:nvPr/>
        </p:nvPicPr>
        <p:blipFill>
          <a:blip r:embed="rId4"/>
          <a:stretch>
            <a:fillRect/>
          </a:stretch>
        </p:blipFill>
        <p:spPr>
          <a:xfrm>
            <a:off x="3064424" y="1319047"/>
            <a:ext cx="3140884" cy="1437667"/>
          </a:xfrm>
          <a:prstGeom prst="rect">
            <a:avLst/>
          </a:prstGeom>
        </p:spPr>
      </p:pic>
      <p:sp>
        <p:nvSpPr>
          <p:cNvPr id="15" name="Rectangle 2">
            <a:extLst>
              <a:ext uri="{FF2B5EF4-FFF2-40B4-BE49-F238E27FC236}">
                <a16:creationId xmlns:a16="http://schemas.microsoft.com/office/drawing/2014/main" id="{3542A629-827D-FDA3-01B8-ADF374C36BDB}"/>
              </a:ext>
            </a:extLst>
          </p:cNvPr>
          <p:cNvSpPr>
            <a:spLocks noChangeArrowheads="1"/>
          </p:cNvSpPr>
          <p:nvPr/>
        </p:nvSpPr>
        <p:spPr bwMode="auto">
          <a:xfrm>
            <a:off x="3045113" y="2823687"/>
            <a:ext cx="3292234"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rgbClr val="002060"/>
                </a:solidFill>
                <a:effectLst/>
                <a:latin typeface="Arial" panose="020B0604020202020204" pitchFamily="34" charset="0"/>
              </a:rPr>
              <a:t>Today's Reminders (Medication Tracking)</a:t>
            </a:r>
            <a:r>
              <a:rPr kumimoji="0" lang="en-US" altLang="en-US" sz="800" b="0" i="0" u="none" strike="noStrike" cap="none" normalizeH="0" baseline="0" dirty="0">
                <a:ln>
                  <a:noFill/>
                </a:ln>
                <a:solidFill>
                  <a:srgbClr val="002060"/>
                </a:solidFill>
                <a:effectLst/>
                <a:latin typeface="Arial" panose="020B0604020202020204" pitchFamily="34" charset="0"/>
              </a:rPr>
              <a:t> – A simplified list showing scheduled medications for the day with their exact times, featuring a prominent "Mark Taken" button to help elderly users track their adherence easily.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7" name="Picture 16">
            <a:extLst>
              <a:ext uri="{FF2B5EF4-FFF2-40B4-BE49-F238E27FC236}">
                <a16:creationId xmlns:a16="http://schemas.microsoft.com/office/drawing/2014/main" id="{0083D8EA-1D69-9D6D-5CE7-D452CC836D80}"/>
              </a:ext>
            </a:extLst>
          </p:cNvPr>
          <p:cNvPicPr>
            <a:picLocks noChangeAspect="1"/>
          </p:cNvPicPr>
          <p:nvPr/>
        </p:nvPicPr>
        <p:blipFill>
          <a:blip r:embed="rId5"/>
          <a:stretch>
            <a:fillRect/>
          </a:stretch>
        </p:blipFill>
        <p:spPr>
          <a:xfrm>
            <a:off x="6274284" y="695456"/>
            <a:ext cx="2680336" cy="3081442"/>
          </a:xfrm>
          <a:prstGeom prst="rect">
            <a:avLst/>
          </a:prstGeom>
        </p:spPr>
      </p:pic>
      <p:sp>
        <p:nvSpPr>
          <p:cNvPr id="19" name="Rectangle 3">
            <a:extLst>
              <a:ext uri="{FF2B5EF4-FFF2-40B4-BE49-F238E27FC236}">
                <a16:creationId xmlns:a16="http://schemas.microsoft.com/office/drawing/2014/main" id="{EAA1A804-8E06-6496-B324-C26A74225A43}"/>
              </a:ext>
            </a:extLst>
          </p:cNvPr>
          <p:cNvSpPr>
            <a:spLocks noChangeArrowheads="1"/>
          </p:cNvSpPr>
          <p:nvPr/>
        </p:nvSpPr>
        <p:spPr bwMode="auto">
          <a:xfrm>
            <a:off x="6205308" y="3819406"/>
            <a:ext cx="2894548"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rgbClr val="002060"/>
                </a:solidFill>
                <a:effectLst/>
                <a:latin typeface="Arial" panose="020B0604020202020204" pitchFamily="34" charset="0"/>
              </a:rPr>
              <a:t>Drug-Drug Interaction Checker &amp; Results</a:t>
            </a:r>
            <a:r>
              <a:rPr kumimoji="0" lang="en-US" altLang="en-US" sz="800" b="0" i="0" u="none" strike="noStrike" cap="none" normalizeH="0" baseline="0" dirty="0">
                <a:ln>
                  <a:noFill/>
                </a:ln>
                <a:solidFill>
                  <a:srgbClr val="002060"/>
                </a:solidFill>
                <a:effectLst/>
                <a:latin typeface="Arial" panose="020B0604020202020204" pitchFamily="34" charset="0"/>
              </a:rPr>
              <a:t> – The core logic of </a:t>
            </a:r>
            <a:r>
              <a:rPr kumimoji="0" lang="en-US" altLang="en-US" sz="800" b="0" i="0" u="none" strike="noStrike" cap="none" normalizeH="0" baseline="0" dirty="0" err="1">
                <a:ln>
                  <a:noFill/>
                </a:ln>
                <a:solidFill>
                  <a:srgbClr val="002060"/>
                </a:solidFill>
                <a:effectLst/>
                <a:latin typeface="Arial" panose="020B0604020202020204" pitchFamily="34" charset="0"/>
              </a:rPr>
              <a:t>MedWise</a:t>
            </a:r>
            <a:r>
              <a:rPr kumimoji="0" lang="en-US" altLang="en-US" sz="800" b="0" i="0" u="none" strike="noStrike" cap="none" normalizeH="0" baseline="0" dirty="0">
                <a:ln>
                  <a:noFill/>
                </a:ln>
                <a:solidFill>
                  <a:srgbClr val="002060"/>
                </a:solidFill>
                <a:effectLst/>
                <a:latin typeface="Arial" panose="020B0604020202020204" pitchFamily="34" charset="0"/>
              </a:rPr>
              <a:t> in action. It checks interactions between two medications (e.g., Aspirin &amp; Warfarin), detects a "Severe" risk, and provides an explanation of the medical danger (bleeding risk) along with actionable doctor recommendations.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9650005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a:extLst>
            <a:ext uri="{FF2B5EF4-FFF2-40B4-BE49-F238E27FC236}">
              <a16:creationId xmlns:a16="http://schemas.microsoft.com/office/drawing/2014/main" id="{735E5370-E060-D556-F966-9E05BFEF853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E69916A-FE1A-87D6-A805-70D573B92C47}"/>
              </a:ext>
            </a:extLst>
          </p:cNvPr>
          <p:cNvSpPr/>
          <p:nvPr/>
        </p:nvSpPr>
        <p:spPr>
          <a:xfrm>
            <a:off x="428625" y="489347"/>
            <a:ext cx="8286750" cy="0"/>
          </a:xfrm>
          <a:prstGeom prst="line">
            <a:avLst/>
          </a:prstGeom>
          <a:noFill/>
          <a:ln w="7144">
            <a:solidFill>
              <a:srgbClr val="D9D2BC"/>
            </a:solidFill>
            <a:prstDash val="solid"/>
          </a:ln>
        </p:spPr>
      </p:sp>
      <p:sp>
        <p:nvSpPr>
          <p:cNvPr id="3" name="Shape 1">
            <a:extLst>
              <a:ext uri="{FF2B5EF4-FFF2-40B4-BE49-F238E27FC236}">
                <a16:creationId xmlns:a16="http://schemas.microsoft.com/office/drawing/2014/main" id="{C6804F39-ED50-DFCE-2603-CC0C1DAFA326}"/>
              </a:ext>
            </a:extLst>
          </p:cNvPr>
          <p:cNvSpPr/>
          <p:nvPr/>
        </p:nvSpPr>
        <p:spPr>
          <a:xfrm>
            <a:off x="514350" y="4793456"/>
            <a:ext cx="8115300" cy="0"/>
          </a:xfrm>
          <a:prstGeom prst="line">
            <a:avLst/>
          </a:prstGeom>
          <a:noFill/>
          <a:ln w="7144">
            <a:solidFill>
              <a:srgbClr val="D9D2BC"/>
            </a:solidFill>
            <a:prstDash val="solid"/>
          </a:ln>
        </p:spPr>
      </p:sp>
      <p:sp>
        <p:nvSpPr>
          <p:cNvPr id="4" name="Text 2">
            <a:extLst>
              <a:ext uri="{FF2B5EF4-FFF2-40B4-BE49-F238E27FC236}">
                <a16:creationId xmlns:a16="http://schemas.microsoft.com/office/drawing/2014/main" id="{6764095A-82A2-CF92-7FD2-78F87FCC6EC8}"/>
              </a:ext>
            </a:extLst>
          </p:cNvPr>
          <p:cNvSpPr/>
          <p:nvPr/>
        </p:nvSpPr>
        <p:spPr>
          <a:xfrm>
            <a:off x="428625" y="257175"/>
            <a:ext cx="785109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07 · IMPLEMENTATION</a:t>
            </a:r>
            <a:endParaRPr lang="en-US" sz="800" dirty="0"/>
          </a:p>
        </p:txBody>
      </p:sp>
      <p:sp>
        <p:nvSpPr>
          <p:cNvPr id="5" name="Text 3">
            <a:extLst>
              <a:ext uri="{FF2B5EF4-FFF2-40B4-BE49-F238E27FC236}">
                <a16:creationId xmlns:a16="http://schemas.microsoft.com/office/drawing/2014/main" id="{70235BD6-60C6-0F4E-37E6-9574A25CC37A}"/>
              </a:ext>
            </a:extLst>
          </p:cNvPr>
          <p:cNvSpPr/>
          <p:nvPr/>
        </p:nvSpPr>
        <p:spPr>
          <a:xfrm>
            <a:off x="8294005" y="257175"/>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1</a:t>
            </a:r>
            <a:r>
              <a:rPr lang="ar-EG" sz="800" kern="0" spc="68" dirty="0">
                <a:solidFill>
                  <a:srgbClr val="7A8AA0"/>
                </a:solidFill>
                <a:latin typeface="Liberation Sans Narrow" pitchFamily="34" charset="0"/>
                <a:ea typeface="Liberation Sans Narrow" pitchFamily="34" charset="-122"/>
                <a:cs typeface="Liberation Sans Narrow" pitchFamily="34" charset="-120"/>
              </a:rPr>
              <a:t>4</a:t>
            </a:r>
            <a:r>
              <a:rPr lang="en-US" sz="800" kern="0" spc="68" dirty="0">
                <a:solidFill>
                  <a:srgbClr val="7A8AA0"/>
                </a:solidFill>
                <a:latin typeface="Liberation Sans Narrow" pitchFamily="34" charset="0"/>
                <a:ea typeface="Liberation Sans Narrow" pitchFamily="34" charset="-122"/>
                <a:cs typeface="Liberation Sans Narrow" pitchFamily="34" charset="-120"/>
              </a:rPr>
              <a:t> / </a:t>
            </a:r>
            <a:r>
              <a:rPr lang="ar-EG" sz="800" kern="0" spc="68" dirty="0">
                <a:solidFill>
                  <a:srgbClr val="7A8AA0"/>
                </a:solidFill>
                <a:latin typeface="Liberation Sans Narrow" pitchFamily="34" charset="0"/>
                <a:ea typeface="Liberation Sans Narrow" pitchFamily="34" charset="-122"/>
                <a:cs typeface="Liberation Sans Narrow" pitchFamily="34" charset="-120"/>
              </a:rPr>
              <a:t>21</a:t>
            </a:r>
            <a:endParaRPr lang="en-US" sz="800" dirty="0"/>
          </a:p>
        </p:txBody>
      </p:sp>
      <p:sp>
        <p:nvSpPr>
          <p:cNvPr id="44" name="Text 41">
            <a:extLst>
              <a:ext uri="{FF2B5EF4-FFF2-40B4-BE49-F238E27FC236}">
                <a16:creationId xmlns:a16="http://schemas.microsoft.com/office/drawing/2014/main" id="{C9B9D300-A2A6-068B-C51E-C2A9D6A85E37}"/>
              </a:ext>
            </a:extLst>
          </p:cNvPr>
          <p:cNvSpPr/>
          <p:nvPr/>
        </p:nvSpPr>
        <p:spPr>
          <a:xfrm>
            <a:off x="514350" y="4868466"/>
            <a:ext cx="7388982"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45" name="Text 42">
            <a:extLst>
              <a:ext uri="{FF2B5EF4-FFF2-40B4-BE49-F238E27FC236}">
                <a16:creationId xmlns:a16="http://schemas.microsoft.com/office/drawing/2014/main" id="{32F4473A-0923-D117-9DC4-911469E2199E}"/>
              </a:ext>
            </a:extLst>
          </p:cNvPr>
          <p:cNvSpPr/>
          <p:nvPr/>
        </p:nvSpPr>
        <p:spPr>
          <a:xfrm>
            <a:off x="7917619" y="4868466"/>
            <a:ext cx="712031"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Implementation</a:t>
            </a:r>
            <a:endParaRPr lang="en-US" sz="800" dirty="0"/>
          </a:p>
        </p:txBody>
      </p:sp>
      <p:pic>
        <p:nvPicPr>
          <p:cNvPr id="7" name="Picture 6">
            <a:extLst>
              <a:ext uri="{FF2B5EF4-FFF2-40B4-BE49-F238E27FC236}">
                <a16:creationId xmlns:a16="http://schemas.microsoft.com/office/drawing/2014/main" id="{9A248DE1-8600-1AD0-2F22-AE7728D72C04}"/>
              </a:ext>
            </a:extLst>
          </p:cNvPr>
          <p:cNvPicPr>
            <a:picLocks noChangeAspect="1"/>
          </p:cNvPicPr>
          <p:nvPr/>
        </p:nvPicPr>
        <p:blipFill>
          <a:blip r:embed="rId3"/>
          <a:stretch>
            <a:fillRect/>
          </a:stretch>
        </p:blipFill>
        <p:spPr>
          <a:xfrm>
            <a:off x="428625" y="649540"/>
            <a:ext cx="2320881" cy="3148741"/>
          </a:xfrm>
          <a:prstGeom prst="rect">
            <a:avLst/>
          </a:prstGeom>
        </p:spPr>
      </p:pic>
      <p:sp>
        <p:nvSpPr>
          <p:cNvPr id="9" name="TextBox 8">
            <a:extLst>
              <a:ext uri="{FF2B5EF4-FFF2-40B4-BE49-F238E27FC236}">
                <a16:creationId xmlns:a16="http://schemas.microsoft.com/office/drawing/2014/main" id="{7A397D9E-3976-9FAD-AA56-61541AEA2AFF}"/>
              </a:ext>
            </a:extLst>
          </p:cNvPr>
          <p:cNvSpPr txBox="1"/>
          <p:nvPr/>
        </p:nvSpPr>
        <p:spPr>
          <a:xfrm>
            <a:off x="318266" y="3818815"/>
            <a:ext cx="2727632" cy="954107"/>
          </a:xfrm>
          <a:prstGeom prst="rect">
            <a:avLst/>
          </a:prstGeom>
          <a:noFill/>
        </p:spPr>
        <p:txBody>
          <a:bodyPr wrap="square" rtlCol="0">
            <a:spAutoFit/>
          </a:bodyPr>
          <a:lstStyle/>
          <a:p>
            <a:r>
              <a:rPr lang="en-US" sz="800" b="1" dirty="0" err="1">
                <a:solidFill>
                  <a:srgbClr val="002060"/>
                </a:solidFill>
              </a:rPr>
              <a:t>MedWise</a:t>
            </a:r>
            <a:r>
              <a:rPr lang="en-US" sz="800" b="1" dirty="0">
                <a:solidFill>
                  <a:srgbClr val="002060"/>
                </a:solidFill>
              </a:rPr>
              <a:t> Assistant (AI Chatbot Interface)</a:t>
            </a:r>
            <a:r>
              <a:rPr lang="en-US" sz="800" dirty="0">
                <a:solidFill>
                  <a:srgbClr val="002060"/>
                </a:solidFill>
              </a:rPr>
              <a:t> – An interactive, multilingual AI chatbot designed to simplify complex medical data for patients and caregivers. It provides immediate, easy-to-understand answers regarding missed doses, medication side effects, and drug interactions. The UI features suggested quick-question chips, a chat clearing option, and a localized Arabic translation for enhanced accessibility for elderly users. </a:t>
            </a:r>
          </a:p>
        </p:txBody>
      </p:sp>
      <p:pic>
        <p:nvPicPr>
          <p:cNvPr id="13" name="Picture 12">
            <a:extLst>
              <a:ext uri="{FF2B5EF4-FFF2-40B4-BE49-F238E27FC236}">
                <a16:creationId xmlns:a16="http://schemas.microsoft.com/office/drawing/2014/main" id="{6356B640-10AF-B8A9-E6CA-96D879E0F84C}"/>
              </a:ext>
            </a:extLst>
          </p:cNvPr>
          <p:cNvPicPr>
            <a:picLocks noChangeAspect="1"/>
          </p:cNvPicPr>
          <p:nvPr/>
        </p:nvPicPr>
        <p:blipFill>
          <a:blip r:embed="rId4"/>
          <a:stretch>
            <a:fillRect/>
          </a:stretch>
        </p:blipFill>
        <p:spPr>
          <a:xfrm>
            <a:off x="3045898" y="649540"/>
            <a:ext cx="3247696" cy="2282846"/>
          </a:xfrm>
          <a:prstGeom prst="rect">
            <a:avLst/>
          </a:prstGeom>
        </p:spPr>
      </p:pic>
      <p:sp>
        <p:nvSpPr>
          <p:cNvPr id="16" name="Rectangle 1">
            <a:extLst>
              <a:ext uri="{FF2B5EF4-FFF2-40B4-BE49-F238E27FC236}">
                <a16:creationId xmlns:a16="http://schemas.microsoft.com/office/drawing/2014/main" id="{DAF39290-5D47-41D9-8C95-32E3F31955F7}"/>
              </a:ext>
            </a:extLst>
          </p:cNvPr>
          <p:cNvSpPr>
            <a:spLocks noChangeArrowheads="1"/>
          </p:cNvSpPr>
          <p:nvPr/>
        </p:nvSpPr>
        <p:spPr bwMode="auto">
          <a:xfrm>
            <a:off x="2998602" y="2970506"/>
            <a:ext cx="3342288"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rgbClr val="002060"/>
                </a:solidFill>
                <a:effectLst/>
                <a:latin typeface="Arial" panose="020B0604020202020204" pitchFamily="34" charset="0"/>
              </a:rPr>
              <a:t>Caregiver Dashboard (Successful Patient Linking)</a:t>
            </a:r>
            <a:r>
              <a:rPr kumimoji="0" lang="en-US" altLang="en-US" sz="800" b="0" i="0" u="none" strike="noStrike" cap="none" normalizeH="0" baseline="0" dirty="0">
                <a:ln>
                  <a:noFill/>
                </a:ln>
                <a:solidFill>
                  <a:srgbClr val="002060"/>
                </a:solidFill>
                <a:effectLst/>
                <a:latin typeface="Arial" panose="020B0604020202020204" pitchFamily="34" charset="0"/>
              </a:rPr>
              <a:t> – The primary management interface for caregivers (e.g., </a:t>
            </a:r>
            <a:r>
              <a:rPr kumimoji="0" lang="en-US" altLang="en-US" sz="800" b="0" i="0" u="none" strike="noStrike" cap="none" normalizeH="0" baseline="0" dirty="0" err="1">
                <a:ln>
                  <a:noFill/>
                </a:ln>
                <a:solidFill>
                  <a:srgbClr val="002060"/>
                </a:solidFill>
                <a:effectLst/>
                <a:latin typeface="Arial" panose="020B0604020202020204" pitchFamily="34" charset="0"/>
              </a:rPr>
              <a:t>Kerollos</a:t>
            </a:r>
            <a:r>
              <a:rPr kumimoji="0" lang="en-US" altLang="en-US" sz="800" b="0" i="0" u="none" strike="noStrike" cap="none" normalizeH="0" baseline="0" dirty="0">
                <a:ln>
                  <a:noFill/>
                </a:ln>
                <a:solidFill>
                  <a:srgbClr val="002060"/>
                </a:solidFill>
                <a:effectLst/>
                <a:latin typeface="Arial" panose="020B0604020202020204" pitchFamily="34" charset="0"/>
              </a:rPr>
              <a:t> Yasser) showing a success notification ("Patient Mina Ayman linked successfully"). This view displays a summary card for each linked patient, offering a "View Details" button to access depth analytics, and an option to link multiple patients seamlessly.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 name="Picture 19">
            <a:extLst>
              <a:ext uri="{FF2B5EF4-FFF2-40B4-BE49-F238E27FC236}">
                <a16:creationId xmlns:a16="http://schemas.microsoft.com/office/drawing/2014/main" id="{52A7E2D4-217B-F5EC-E7B3-8EC7DA702E1B}"/>
              </a:ext>
            </a:extLst>
          </p:cNvPr>
          <p:cNvPicPr>
            <a:picLocks noChangeAspect="1"/>
          </p:cNvPicPr>
          <p:nvPr/>
        </p:nvPicPr>
        <p:blipFill>
          <a:blip r:embed="rId5"/>
          <a:stretch>
            <a:fillRect/>
          </a:stretch>
        </p:blipFill>
        <p:spPr>
          <a:xfrm>
            <a:off x="6498546" y="649540"/>
            <a:ext cx="2538249" cy="2093660"/>
          </a:xfrm>
          <a:prstGeom prst="rect">
            <a:avLst/>
          </a:prstGeom>
        </p:spPr>
      </p:pic>
      <p:sp>
        <p:nvSpPr>
          <p:cNvPr id="21" name="TextBox 20">
            <a:extLst>
              <a:ext uri="{FF2B5EF4-FFF2-40B4-BE49-F238E27FC236}">
                <a16:creationId xmlns:a16="http://schemas.microsoft.com/office/drawing/2014/main" id="{09E42887-9C23-2B74-8BAA-698B94FC2CFE}"/>
              </a:ext>
            </a:extLst>
          </p:cNvPr>
          <p:cNvSpPr txBox="1"/>
          <p:nvPr/>
        </p:nvSpPr>
        <p:spPr>
          <a:xfrm>
            <a:off x="6498546" y="2932386"/>
            <a:ext cx="2396359" cy="1077218"/>
          </a:xfrm>
          <a:prstGeom prst="rect">
            <a:avLst/>
          </a:prstGeom>
          <a:noFill/>
        </p:spPr>
        <p:txBody>
          <a:bodyPr wrap="square" rtlCol="0">
            <a:spAutoFit/>
          </a:bodyPr>
          <a:lstStyle/>
          <a:p>
            <a:r>
              <a:rPr lang="en-US" sz="800" b="1" dirty="0">
                <a:solidFill>
                  <a:srgbClr val="002060"/>
                </a:solidFill>
              </a:rPr>
              <a:t>Remote Patient Insights &amp; Health Analytics</a:t>
            </a:r>
            <a:r>
              <a:rPr lang="en-US" sz="800" dirty="0">
                <a:solidFill>
                  <a:srgbClr val="002060"/>
                </a:solidFill>
              </a:rPr>
              <a:t> – A detailed monitoring panel for caregivers to track the patient's real-time health data. It features critical color-coded metrics: </a:t>
            </a:r>
            <a:r>
              <a:rPr lang="en-US" sz="800" b="1" dirty="0">
                <a:solidFill>
                  <a:srgbClr val="002060"/>
                </a:solidFill>
              </a:rPr>
              <a:t>Adherence Rate</a:t>
            </a:r>
            <a:r>
              <a:rPr lang="en-US" sz="800" dirty="0">
                <a:solidFill>
                  <a:srgbClr val="002060"/>
                </a:solidFill>
              </a:rPr>
              <a:t> (tracking medication compliance), </a:t>
            </a:r>
            <a:r>
              <a:rPr lang="en-US" sz="800" b="1" dirty="0">
                <a:solidFill>
                  <a:srgbClr val="002060"/>
                </a:solidFill>
              </a:rPr>
              <a:t>Emergencies counter</a:t>
            </a:r>
            <a:r>
              <a:rPr lang="en-US" sz="800" dirty="0">
                <a:solidFill>
                  <a:srgbClr val="002060"/>
                </a:solidFill>
              </a:rPr>
              <a:t> (logging panic button triggers), and </a:t>
            </a:r>
            <a:r>
              <a:rPr lang="en-US" sz="800" b="1" dirty="0">
                <a:solidFill>
                  <a:srgbClr val="002060"/>
                </a:solidFill>
              </a:rPr>
              <a:t>Active Meds</a:t>
            </a:r>
            <a:r>
              <a:rPr lang="en-US" sz="800" dirty="0">
                <a:solidFill>
                  <a:srgbClr val="002060"/>
                </a:solidFill>
              </a:rPr>
              <a:t>. It also synchronizes the patient's complete prescription table and pending reminders for the day.</a:t>
            </a:r>
          </a:p>
        </p:txBody>
      </p:sp>
    </p:spTree>
    <p:extLst>
      <p:ext uri="{BB962C8B-B14F-4D97-AF65-F5344CB8AC3E}">
        <p14:creationId xmlns:p14="http://schemas.microsoft.com/office/powerpoint/2010/main" val="26240793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428625" y="489347"/>
            <a:ext cx="8286750" cy="0"/>
          </a:xfrm>
          <a:prstGeom prst="line">
            <a:avLst/>
          </a:prstGeom>
          <a:noFill/>
          <a:ln w="7144">
            <a:solidFill>
              <a:srgbClr val="D9D2BC"/>
            </a:solidFill>
            <a:prstDash val="solid"/>
          </a:ln>
        </p:spPr>
      </p:sp>
      <p:sp>
        <p:nvSpPr>
          <p:cNvPr id="11" name="Shape 9"/>
          <p:cNvSpPr/>
          <p:nvPr/>
        </p:nvSpPr>
        <p:spPr>
          <a:xfrm>
            <a:off x="514350" y="4793456"/>
            <a:ext cx="8115300" cy="0"/>
          </a:xfrm>
          <a:prstGeom prst="line">
            <a:avLst/>
          </a:prstGeom>
          <a:noFill/>
          <a:ln w="7144">
            <a:solidFill>
              <a:srgbClr val="D9D2BC"/>
            </a:solidFill>
            <a:prstDash val="solid"/>
          </a:ln>
        </p:spPr>
      </p:sp>
      <p:sp>
        <p:nvSpPr>
          <p:cNvPr id="12" name="Text 10"/>
          <p:cNvSpPr/>
          <p:nvPr/>
        </p:nvSpPr>
        <p:spPr>
          <a:xfrm>
            <a:off x="428625" y="257175"/>
            <a:ext cx="785109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07 · DATABASE DESIGN</a:t>
            </a:r>
            <a:endParaRPr lang="en-US" sz="800" dirty="0"/>
          </a:p>
        </p:txBody>
      </p:sp>
      <p:sp>
        <p:nvSpPr>
          <p:cNvPr id="13" name="Text 11"/>
          <p:cNvSpPr/>
          <p:nvPr/>
        </p:nvSpPr>
        <p:spPr>
          <a:xfrm>
            <a:off x="8294005" y="257175"/>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15 / 21</a:t>
            </a:r>
            <a:endParaRPr lang="en-US" sz="800" dirty="0"/>
          </a:p>
        </p:txBody>
      </p:sp>
      <p:sp>
        <p:nvSpPr>
          <p:cNvPr id="14" name="Text 12"/>
          <p:cNvSpPr/>
          <p:nvPr/>
        </p:nvSpPr>
        <p:spPr>
          <a:xfrm>
            <a:off x="428625" y="564357"/>
            <a:ext cx="1984211" cy="230614"/>
          </a:xfrm>
          <a:prstGeom prst="rect">
            <a:avLst/>
          </a:prstGeom>
          <a:noFill/>
          <a:ln/>
        </p:spPr>
        <p:txBody>
          <a:bodyPr wrap="square" lIns="0" tIns="0" rIns="0" bIns="0" rtlCol="0" anchor="t"/>
          <a:lstStyle/>
          <a:p>
            <a:pPr>
              <a:lnSpc>
                <a:spcPts val="1682"/>
              </a:lnSpc>
            </a:pPr>
            <a:r>
              <a:rPr lang="en-US" sz="1600" dirty="0">
                <a:solidFill>
                  <a:srgbClr val="002060"/>
                </a:solidFill>
              </a:rPr>
              <a:t>Database Design (ERD)</a:t>
            </a:r>
            <a:endParaRPr lang="en-US" sz="1463" dirty="0">
              <a:solidFill>
                <a:srgbClr val="002060"/>
              </a:solidFill>
            </a:endParaRPr>
          </a:p>
        </p:txBody>
      </p:sp>
      <p:sp>
        <p:nvSpPr>
          <p:cNvPr id="128" name="Text 126"/>
          <p:cNvSpPr/>
          <p:nvPr/>
        </p:nvSpPr>
        <p:spPr>
          <a:xfrm>
            <a:off x="514350" y="4868466"/>
            <a:ext cx="7335403"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129" name="Text 127"/>
          <p:cNvSpPr/>
          <p:nvPr/>
        </p:nvSpPr>
        <p:spPr>
          <a:xfrm>
            <a:off x="7864041" y="4868466"/>
            <a:ext cx="765609"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Database Design</a:t>
            </a:r>
            <a:endParaRPr lang="en-US" sz="800" dirty="0"/>
          </a:p>
        </p:txBody>
      </p:sp>
      <p:pic>
        <p:nvPicPr>
          <p:cNvPr id="131" name="Picture 130">
            <a:extLst>
              <a:ext uri="{FF2B5EF4-FFF2-40B4-BE49-F238E27FC236}">
                <a16:creationId xmlns:a16="http://schemas.microsoft.com/office/drawing/2014/main" id="{537628AB-0A81-04E7-3584-A7A92BDC20E5}"/>
              </a:ext>
            </a:extLst>
          </p:cNvPr>
          <p:cNvPicPr>
            <a:picLocks noChangeAspect="1"/>
          </p:cNvPicPr>
          <p:nvPr/>
        </p:nvPicPr>
        <p:blipFill>
          <a:blip r:embed="rId3"/>
          <a:stretch>
            <a:fillRect/>
          </a:stretch>
        </p:blipFill>
        <p:spPr>
          <a:xfrm>
            <a:off x="428625" y="794971"/>
            <a:ext cx="8201025" cy="3471402"/>
          </a:xfrm>
          <a:prstGeom prst="rect">
            <a:avLst/>
          </a:prstGeom>
        </p:spPr>
      </p:pic>
      <p:sp>
        <p:nvSpPr>
          <p:cNvPr id="133" name="TextBox 132">
            <a:extLst>
              <a:ext uri="{FF2B5EF4-FFF2-40B4-BE49-F238E27FC236}">
                <a16:creationId xmlns:a16="http://schemas.microsoft.com/office/drawing/2014/main" id="{16CF4ED2-4C09-CE7D-12FC-887907B98935}"/>
              </a:ext>
            </a:extLst>
          </p:cNvPr>
          <p:cNvSpPr txBox="1"/>
          <p:nvPr/>
        </p:nvSpPr>
        <p:spPr>
          <a:xfrm>
            <a:off x="385762" y="4178870"/>
            <a:ext cx="8243888" cy="553998"/>
          </a:xfrm>
          <a:prstGeom prst="rect">
            <a:avLst/>
          </a:prstGeom>
          <a:noFill/>
        </p:spPr>
        <p:txBody>
          <a:bodyPr wrap="square" rtlCol="0">
            <a:spAutoFit/>
          </a:bodyPr>
          <a:lstStyle/>
          <a:p>
            <a:br>
              <a:rPr lang="en-US" sz="1000" b="1" dirty="0">
                <a:solidFill>
                  <a:srgbClr val="002060"/>
                </a:solidFill>
              </a:rPr>
            </a:br>
            <a:r>
              <a:rPr lang="en-US" sz="1000" b="1" dirty="0">
                <a:solidFill>
                  <a:srgbClr val="002060"/>
                </a:solidFill>
              </a:rPr>
              <a:t>"The ERD represents the core database design of </a:t>
            </a:r>
            <a:r>
              <a:rPr lang="en-US" sz="1000" b="1" dirty="0" err="1">
                <a:solidFill>
                  <a:srgbClr val="002060"/>
                </a:solidFill>
              </a:rPr>
              <a:t>MedWise</a:t>
            </a:r>
            <a:r>
              <a:rPr lang="en-US" sz="1000" b="1" dirty="0">
                <a:solidFill>
                  <a:srgbClr val="002060"/>
                </a:solidFill>
              </a:rPr>
              <a:t>, highlighting how different system components interact to manage medications, reminders, patient care, and AI-assisted communication."</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428625" y="489347"/>
            <a:ext cx="8286750" cy="0"/>
          </a:xfrm>
          <a:prstGeom prst="line">
            <a:avLst/>
          </a:prstGeom>
          <a:noFill/>
          <a:ln w="7144">
            <a:solidFill>
              <a:srgbClr val="D9D2BC"/>
            </a:solidFill>
            <a:prstDash val="solid"/>
          </a:ln>
        </p:spPr>
      </p:sp>
      <p:sp>
        <p:nvSpPr>
          <p:cNvPr id="3" name="Shape 1"/>
          <p:cNvSpPr/>
          <p:nvPr/>
        </p:nvSpPr>
        <p:spPr>
          <a:xfrm>
            <a:off x="550069" y="2669642"/>
            <a:ext cx="3857625" cy="0"/>
          </a:xfrm>
          <a:prstGeom prst="line">
            <a:avLst/>
          </a:prstGeom>
          <a:noFill/>
          <a:ln w="7144">
            <a:solidFill>
              <a:srgbClr val="D9D2BC"/>
            </a:solidFill>
            <a:prstDash val="solid"/>
          </a:ln>
        </p:spPr>
      </p:sp>
      <p:sp>
        <p:nvSpPr>
          <p:cNvPr id="4" name="Shape 2"/>
          <p:cNvSpPr/>
          <p:nvPr/>
        </p:nvSpPr>
        <p:spPr>
          <a:xfrm>
            <a:off x="550069" y="2926817"/>
            <a:ext cx="3857625" cy="0"/>
          </a:xfrm>
          <a:prstGeom prst="line">
            <a:avLst/>
          </a:prstGeom>
          <a:noFill/>
          <a:ln w="7144">
            <a:solidFill>
              <a:srgbClr val="D9D2BC"/>
            </a:solidFill>
            <a:prstDash val="dash"/>
          </a:ln>
        </p:spPr>
      </p:sp>
      <p:sp>
        <p:nvSpPr>
          <p:cNvPr id="5" name="Shape 3"/>
          <p:cNvSpPr/>
          <p:nvPr/>
        </p:nvSpPr>
        <p:spPr>
          <a:xfrm>
            <a:off x="550069" y="3126842"/>
            <a:ext cx="3857625" cy="0"/>
          </a:xfrm>
          <a:prstGeom prst="line">
            <a:avLst/>
          </a:prstGeom>
          <a:noFill/>
          <a:ln w="7144">
            <a:solidFill>
              <a:srgbClr val="D9D2BC"/>
            </a:solidFill>
            <a:prstDash val="dash"/>
          </a:ln>
        </p:spPr>
      </p:sp>
      <p:sp>
        <p:nvSpPr>
          <p:cNvPr id="6" name="Shape 4"/>
          <p:cNvSpPr/>
          <p:nvPr/>
        </p:nvSpPr>
        <p:spPr>
          <a:xfrm>
            <a:off x="550069" y="3326867"/>
            <a:ext cx="3857625" cy="0"/>
          </a:xfrm>
          <a:prstGeom prst="line">
            <a:avLst/>
          </a:prstGeom>
          <a:noFill/>
          <a:ln w="7144">
            <a:solidFill>
              <a:srgbClr val="D9D2BC"/>
            </a:solidFill>
            <a:prstDash val="dash"/>
          </a:ln>
        </p:spPr>
      </p:sp>
      <p:sp>
        <p:nvSpPr>
          <p:cNvPr id="7" name="Shape 5"/>
          <p:cNvSpPr/>
          <p:nvPr/>
        </p:nvSpPr>
        <p:spPr>
          <a:xfrm>
            <a:off x="4736306" y="2669642"/>
            <a:ext cx="3857625" cy="0"/>
          </a:xfrm>
          <a:prstGeom prst="line">
            <a:avLst/>
          </a:prstGeom>
          <a:noFill/>
          <a:ln w="7144">
            <a:solidFill>
              <a:srgbClr val="D9D2BC"/>
            </a:solidFill>
            <a:prstDash val="solid"/>
          </a:ln>
        </p:spPr>
      </p:sp>
      <p:sp>
        <p:nvSpPr>
          <p:cNvPr id="8" name="Shape 6"/>
          <p:cNvSpPr/>
          <p:nvPr/>
        </p:nvSpPr>
        <p:spPr>
          <a:xfrm>
            <a:off x="4736306" y="2926817"/>
            <a:ext cx="3857625" cy="0"/>
          </a:xfrm>
          <a:prstGeom prst="line">
            <a:avLst/>
          </a:prstGeom>
          <a:noFill/>
          <a:ln w="7144">
            <a:solidFill>
              <a:srgbClr val="D9D2BC"/>
            </a:solidFill>
            <a:prstDash val="dash"/>
          </a:ln>
        </p:spPr>
      </p:sp>
      <p:sp>
        <p:nvSpPr>
          <p:cNvPr id="9" name="Shape 7"/>
          <p:cNvSpPr/>
          <p:nvPr/>
        </p:nvSpPr>
        <p:spPr>
          <a:xfrm>
            <a:off x="4736306" y="3126842"/>
            <a:ext cx="3857625" cy="0"/>
          </a:xfrm>
          <a:prstGeom prst="line">
            <a:avLst/>
          </a:prstGeom>
          <a:noFill/>
          <a:ln w="7144">
            <a:solidFill>
              <a:srgbClr val="D9D2BC"/>
            </a:solidFill>
            <a:prstDash val="dash"/>
          </a:ln>
        </p:spPr>
      </p:sp>
      <p:sp>
        <p:nvSpPr>
          <p:cNvPr id="10" name="Shape 8"/>
          <p:cNvSpPr/>
          <p:nvPr/>
        </p:nvSpPr>
        <p:spPr>
          <a:xfrm>
            <a:off x="4736306" y="3326867"/>
            <a:ext cx="3857625" cy="0"/>
          </a:xfrm>
          <a:prstGeom prst="line">
            <a:avLst/>
          </a:prstGeom>
          <a:noFill/>
          <a:ln w="7144">
            <a:solidFill>
              <a:srgbClr val="D9D2BC"/>
            </a:solidFill>
            <a:prstDash val="dash"/>
          </a:ln>
        </p:spPr>
      </p:sp>
      <p:sp>
        <p:nvSpPr>
          <p:cNvPr id="11" name="Shape 9"/>
          <p:cNvSpPr/>
          <p:nvPr/>
        </p:nvSpPr>
        <p:spPr>
          <a:xfrm>
            <a:off x="514350" y="4793456"/>
            <a:ext cx="8115300" cy="0"/>
          </a:xfrm>
          <a:prstGeom prst="line">
            <a:avLst/>
          </a:prstGeom>
          <a:noFill/>
          <a:ln w="7144">
            <a:solidFill>
              <a:srgbClr val="D9D2BC"/>
            </a:solidFill>
            <a:prstDash val="solid"/>
          </a:ln>
        </p:spPr>
      </p:sp>
      <p:sp>
        <p:nvSpPr>
          <p:cNvPr id="12" name="Text 10"/>
          <p:cNvSpPr/>
          <p:nvPr/>
        </p:nvSpPr>
        <p:spPr>
          <a:xfrm>
            <a:off x="428625" y="257175"/>
            <a:ext cx="785109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08 · RESULTS</a:t>
            </a:r>
            <a:endParaRPr lang="en-US" sz="800" dirty="0"/>
          </a:p>
        </p:txBody>
      </p:sp>
      <p:sp>
        <p:nvSpPr>
          <p:cNvPr id="13" name="Text 11"/>
          <p:cNvSpPr/>
          <p:nvPr/>
        </p:nvSpPr>
        <p:spPr>
          <a:xfrm>
            <a:off x="8294005" y="257175"/>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16 / 21</a:t>
            </a:r>
            <a:endParaRPr lang="en-US" sz="800" dirty="0"/>
          </a:p>
        </p:txBody>
      </p:sp>
      <p:sp>
        <p:nvSpPr>
          <p:cNvPr id="14" name="Text 12"/>
          <p:cNvSpPr/>
          <p:nvPr/>
        </p:nvSpPr>
        <p:spPr>
          <a:xfrm>
            <a:off x="428625" y="692944"/>
            <a:ext cx="8286750" cy="254844"/>
          </a:xfrm>
          <a:prstGeom prst="rect">
            <a:avLst/>
          </a:prstGeom>
          <a:noFill/>
          <a:ln/>
        </p:spPr>
        <p:txBody>
          <a:bodyPr wrap="square" lIns="0" tIns="0" rIns="0" bIns="0" rtlCol="0" anchor="t"/>
          <a:lstStyle/>
          <a:p>
            <a:pPr marL="0" indent="0" algn="l">
              <a:lnSpc>
                <a:spcPts val="1859"/>
              </a:lnSpc>
              <a:buNone/>
            </a:pPr>
            <a:r>
              <a:rPr lang="en-US" sz="1575" b="1" kern="0" spc="-16" dirty="0">
                <a:solidFill>
                  <a:srgbClr val="0F2A4A"/>
                </a:solidFill>
                <a:latin typeface="Tinos" pitchFamily="34" charset="0"/>
                <a:ea typeface="Tinos" pitchFamily="34" charset="-122"/>
                <a:cs typeface="Tinos" pitchFamily="34" charset="-120"/>
              </a:rPr>
              <a:t>Results — every functional requirement met, deployed live.</a:t>
            </a:r>
            <a:endParaRPr lang="en-US" sz="1575" dirty="0"/>
          </a:p>
        </p:txBody>
      </p:sp>
      <p:sp>
        <p:nvSpPr>
          <p:cNvPr id="15" name="Text 13"/>
          <p:cNvSpPr/>
          <p:nvPr/>
        </p:nvSpPr>
        <p:spPr>
          <a:xfrm>
            <a:off x="428625" y="986061"/>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16" name="Text 14"/>
          <p:cNvSpPr/>
          <p:nvPr/>
        </p:nvSpPr>
        <p:spPr>
          <a:xfrm>
            <a:off x="428625" y="1064642"/>
            <a:ext cx="7715250" cy="339999"/>
          </a:xfrm>
          <a:prstGeom prst="rect">
            <a:avLst/>
          </a:prstGeom>
          <a:noFill/>
          <a:ln/>
        </p:spPr>
        <p:txBody>
          <a:bodyPr wrap="square" lIns="0" tIns="0" rIns="0" bIns="0" rtlCol="0" anchor="t"/>
          <a:lstStyle/>
          <a:p>
            <a:pPr marL="0" indent="0" algn="l">
              <a:lnSpc>
                <a:spcPts val="1133"/>
              </a:lnSpc>
              <a:buNone/>
            </a:pPr>
            <a:r>
              <a:rPr lang="en-US" sz="800" dirty="0">
                <a:solidFill>
                  <a:srgbClr val="4A5A75"/>
                </a:solidFill>
                <a:latin typeface="Carlito" pitchFamily="34" charset="0"/>
                <a:ea typeface="Carlito" pitchFamily="34" charset="-122"/>
                <a:cs typeface="Carlito" pitchFamily="34" charset="-120"/>
              </a:rPr>
              <a:t>MedWise was acceptance-tested against all 29 functional requirements from the requirements document. Every requirement passed; the system is live at medwise.runasp.net.</a:t>
            </a:r>
            <a:endParaRPr lang="en-US" sz="800" dirty="0"/>
          </a:p>
        </p:txBody>
      </p:sp>
      <p:sp>
        <p:nvSpPr>
          <p:cNvPr id="17" name="Text 15"/>
          <p:cNvSpPr/>
          <p:nvPr/>
        </p:nvSpPr>
        <p:spPr>
          <a:xfrm>
            <a:off x="432197" y="1455986"/>
            <a:ext cx="2000250" cy="820750"/>
          </a:xfrm>
          <a:prstGeom prst="roundRect">
            <a:avLst>
              <a:gd name="adj" fmla="val 9284"/>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18" name="Text 16"/>
          <p:cNvSpPr/>
          <p:nvPr/>
        </p:nvSpPr>
        <p:spPr>
          <a:xfrm>
            <a:off x="564356" y="1573857"/>
            <a:ext cx="1735931" cy="308610"/>
          </a:xfrm>
          <a:prstGeom prst="rect">
            <a:avLst/>
          </a:prstGeom>
          <a:noFill/>
          <a:ln/>
        </p:spPr>
        <p:txBody>
          <a:bodyPr wrap="none" lIns="0" tIns="0" rIns="0" bIns="0" rtlCol="0" anchor="t"/>
          <a:lstStyle/>
          <a:p>
            <a:pPr marL="0" indent="0" algn="l">
              <a:lnSpc>
                <a:spcPts val="2250"/>
              </a:lnSpc>
              <a:buNone/>
            </a:pPr>
            <a:r>
              <a:rPr lang="en-US" sz="2250" b="1" kern="0" spc="-23" dirty="0">
                <a:solidFill>
                  <a:srgbClr val="0F2A4A"/>
                </a:solidFill>
                <a:latin typeface="Liberation Sans Narrow" pitchFamily="34" charset="0"/>
                <a:ea typeface="Liberation Sans Narrow" pitchFamily="34" charset="-122"/>
                <a:cs typeface="Liberation Sans Narrow" pitchFamily="34" charset="-120"/>
              </a:rPr>
              <a:t>29 / 29</a:t>
            </a:r>
            <a:endParaRPr lang="en-US" sz="2250" dirty="0"/>
          </a:p>
        </p:txBody>
      </p:sp>
      <p:sp>
        <p:nvSpPr>
          <p:cNvPr id="19" name="Text 17"/>
          <p:cNvSpPr/>
          <p:nvPr/>
        </p:nvSpPr>
        <p:spPr>
          <a:xfrm>
            <a:off x="564356" y="1931045"/>
            <a:ext cx="1840087" cy="112541"/>
          </a:xfrm>
          <a:prstGeom prst="rect">
            <a:avLst/>
          </a:prstGeom>
          <a:noFill/>
          <a:ln/>
        </p:spPr>
        <p:txBody>
          <a:bodyPr wrap="square" lIns="0" tIns="0" rIns="0" bIns="0" rtlCol="0" anchor="t">
            <a:normAutofit fontScale="92500"/>
          </a:bodyPr>
          <a:lstStyle/>
          <a:p>
            <a:pPr marL="0" indent="0" algn="l">
              <a:lnSpc>
                <a:spcPts val="877"/>
              </a:lnSpc>
              <a:buNone/>
            </a:pPr>
            <a:r>
              <a:rPr lang="en-US" sz="800" b="1" kern="0" spc="14" dirty="0">
                <a:solidFill>
                  <a:srgbClr val="0F2A4A"/>
                </a:solidFill>
                <a:latin typeface="Carlito" pitchFamily="34" charset="0"/>
                <a:ea typeface="Carlito" pitchFamily="34" charset="-122"/>
                <a:cs typeface="Carlito" pitchFamily="34" charset="-120"/>
              </a:rPr>
              <a:t>Functional requirements passed</a:t>
            </a:r>
            <a:endParaRPr lang="en-US" sz="800" dirty="0"/>
          </a:p>
        </p:txBody>
      </p:sp>
      <p:sp>
        <p:nvSpPr>
          <p:cNvPr id="20" name="Text 18"/>
          <p:cNvSpPr/>
          <p:nvPr/>
        </p:nvSpPr>
        <p:spPr>
          <a:xfrm>
            <a:off x="564356" y="2071018"/>
            <a:ext cx="1735931" cy="102133"/>
          </a:xfrm>
          <a:prstGeom prst="rect">
            <a:avLst/>
          </a:prstGeom>
          <a:noFill/>
          <a:ln/>
        </p:spPr>
        <p:txBody>
          <a:bodyPr wrap="none" lIns="0" tIns="0" rIns="0" bIns="0" rtlCol="0" anchor="t"/>
          <a:lstStyle/>
          <a:p>
            <a:pPr marL="0" indent="0" algn="l">
              <a:lnSpc>
                <a:spcPts val="804"/>
              </a:lnSpc>
              <a:buNone/>
            </a:pPr>
            <a:r>
              <a:rPr lang="en-US" sz="800" kern="0" spc="12" dirty="0">
                <a:solidFill>
                  <a:srgbClr val="7A8AA0"/>
                </a:solidFill>
                <a:latin typeface="Liberation Sans Narrow" pitchFamily="34" charset="0"/>
                <a:ea typeface="Liberation Sans Narrow" pitchFamily="34" charset="-122"/>
                <a:cs typeface="Liberation Sans Narrow" pitchFamily="34" charset="-120"/>
              </a:rPr>
              <a:t>100% acceptance coverage</a:t>
            </a:r>
            <a:endParaRPr lang="en-US" sz="800" dirty="0"/>
          </a:p>
        </p:txBody>
      </p:sp>
      <p:sp>
        <p:nvSpPr>
          <p:cNvPr id="21" name="Text 19"/>
          <p:cNvSpPr/>
          <p:nvPr/>
        </p:nvSpPr>
        <p:spPr>
          <a:xfrm>
            <a:off x="2525316" y="1455986"/>
            <a:ext cx="2000250" cy="820750"/>
          </a:xfrm>
          <a:prstGeom prst="roundRect">
            <a:avLst>
              <a:gd name="adj" fmla="val 9284"/>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22" name="Text 20"/>
          <p:cNvSpPr/>
          <p:nvPr/>
        </p:nvSpPr>
        <p:spPr>
          <a:xfrm>
            <a:off x="2657475" y="1573857"/>
            <a:ext cx="1735931" cy="308610"/>
          </a:xfrm>
          <a:prstGeom prst="rect">
            <a:avLst/>
          </a:prstGeom>
          <a:noFill/>
          <a:ln/>
        </p:spPr>
        <p:txBody>
          <a:bodyPr wrap="none" lIns="0" tIns="0" rIns="0" bIns="0" rtlCol="0" anchor="t"/>
          <a:lstStyle/>
          <a:p>
            <a:pPr marL="0" indent="0" algn="l">
              <a:lnSpc>
                <a:spcPts val="2250"/>
              </a:lnSpc>
              <a:buNone/>
            </a:pPr>
            <a:r>
              <a:rPr lang="en-US" sz="2250" b="1" kern="0" spc="-23" dirty="0">
                <a:solidFill>
                  <a:srgbClr val="0F2A4A"/>
                </a:solidFill>
                <a:latin typeface="Liberation Sans Narrow" pitchFamily="34" charset="0"/>
                <a:ea typeface="Liberation Sans Narrow" pitchFamily="34" charset="-122"/>
                <a:cs typeface="Liberation Sans Narrow" pitchFamily="34" charset="-120"/>
              </a:rPr>
              <a:t>6 / 6</a:t>
            </a:r>
            <a:endParaRPr lang="en-US" sz="2250" dirty="0"/>
          </a:p>
        </p:txBody>
      </p:sp>
      <p:sp>
        <p:nvSpPr>
          <p:cNvPr id="23" name="Text 21"/>
          <p:cNvSpPr/>
          <p:nvPr/>
        </p:nvSpPr>
        <p:spPr>
          <a:xfrm>
            <a:off x="2657475" y="1931045"/>
            <a:ext cx="1735931" cy="112541"/>
          </a:xfrm>
          <a:prstGeom prst="rect">
            <a:avLst/>
          </a:prstGeom>
          <a:noFill/>
          <a:ln/>
        </p:spPr>
        <p:txBody>
          <a:bodyPr wrap="none" lIns="0" tIns="0" rIns="0" bIns="0" rtlCol="0" anchor="t">
            <a:normAutofit fontScale="92500"/>
          </a:bodyPr>
          <a:lstStyle/>
          <a:p>
            <a:pPr marL="0" indent="0" algn="l">
              <a:lnSpc>
                <a:spcPts val="877"/>
              </a:lnSpc>
              <a:buNone/>
            </a:pPr>
            <a:r>
              <a:rPr lang="en-US" sz="800" b="1" kern="0" spc="14" dirty="0">
                <a:solidFill>
                  <a:srgbClr val="0F2A4A"/>
                </a:solidFill>
                <a:latin typeface="Carlito" pitchFamily="34" charset="0"/>
                <a:ea typeface="Carlito" pitchFamily="34" charset="-122"/>
                <a:cs typeface="Carlito" pitchFamily="34" charset="-120"/>
              </a:rPr>
              <a:t>Core modules shipped</a:t>
            </a:r>
            <a:endParaRPr lang="en-US" sz="800" dirty="0"/>
          </a:p>
        </p:txBody>
      </p:sp>
      <p:sp>
        <p:nvSpPr>
          <p:cNvPr id="24" name="Text 22"/>
          <p:cNvSpPr/>
          <p:nvPr/>
        </p:nvSpPr>
        <p:spPr>
          <a:xfrm>
            <a:off x="2657475" y="2071018"/>
            <a:ext cx="1735931" cy="102133"/>
          </a:xfrm>
          <a:prstGeom prst="rect">
            <a:avLst/>
          </a:prstGeom>
          <a:noFill/>
          <a:ln/>
        </p:spPr>
        <p:txBody>
          <a:bodyPr wrap="none" lIns="0" tIns="0" rIns="0" bIns="0" rtlCol="0" anchor="t"/>
          <a:lstStyle/>
          <a:p>
            <a:pPr marL="0" indent="0" algn="l">
              <a:lnSpc>
                <a:spcPts val="804"/>
              </a:lnSpc>
              <a:buNone/>
            </a:pPr>
            <a:r>
              <a:rPr lang="en-US" sz="800" kern="0" spc="12" dirty="0">
                <a:solidFill>
                  <a:srgbClr val="7A8AA0"/>
                </a:solidFill>
                <a:latin typeface="Liberation Sans Narrow" pitchFamily="34" charset="0"/>
                <a:ea typeface="Liberation Sans Narrow" pitchFamily="34" charset="-122"/>
                <a:cs typeface="Liberation Sans Narrow" pitchFamily="34" charset="-120"/>
              </a:rPr>
              <a:t>All objectives met in v1.0</a:t>
            </a:r>
            <a:endParaRPr lang="en-US" sz="800" dirty="0"/>
          </a:p>
        </p:txBody>
      </p:sp>
      <p:sp>
        <p:nvSpPr>
          <p:cNvPr id="25" name="Text 23"/>
          <p:cNvSpPr/>
          <p:nvPr/>
        </p:nvSpPr>
        <p:spPr>
          <a:xfrm>
            <a:off x="4618434" y="1455986"/>
            <a:ext cx="2000250" cy="820750"/>
          </a:xfrm>
          <a:prstGeom prst="roundRect">
            <a:avLst>
              <a:gd name="adj" fmla="val 9284"/>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26" name="Text 24"/>
          <p:cNvSpPr/>
          <p:nvPr/>
        </p:nvSpPr>
        <p:spPr>
          <a:xfrm>
            <a:off x="4750594" y="1573857"/>
            <a:ext cx="1735931" cy="308610"/>
          </a:xfrm>
          <a:prstGeom prst="rect">
            <a:avLst/>
          </a:prstGeom>
          <a:noFill/>
          <a:ln/>
        </p:spPr>
        <p:txBody>
          <a:bodyPr wrap="none" lIns="0" tIns="0" rIns="0" bIns="0" rtlCol="0" anchor="t"/>
          <a:lstStyle/>
          <a:p>
            <a:pPr marL="0" indent="0" algn="l">
              <a:lnSpc>
                <a:spcPts val="2250"/>
              </a:lnSpc>
              <a:buNone/>
            </a:pPr>
            <a:r>
              <a:rPr lang="en-US" sz="2250" b="1" kern="0" spc="-23" dirty="0">
                <a:solidFill>
                  <a:srgbClr val="0F2A4A"/>
                </a:solidFill>
                <a:latin typeface="Liberation Sans Narrow" pitchFamily="34" charset="0"/>
                <a:ea typeface="Liberation Sans Narrow" pitchFamily="34" charset="-122"/>
                <a:cs typeface="Liberation Sans Narrow" pitchFamily="34" charset="-120"/>
              </a:rPr>
              <a:t>&lt; 2s</a:t>
            </a:r>
            <a:endParaRPr lang="en-US" sz="2250" dirty="0"/>
          </a:p>
        </p:txBody>
      </p:sp>
      <p:sp>
        <p:nvSpPr>
          <p:cNvPr id="27" name="Text 25"/>
          <p:cNvSpPr/>
          <p:nvPr/>
        </p:nvSpPr>
        <p:spPr>
          <a:xfrm>
            <a:off x="4750594" y="1931045"/>
            <a:ext cx="1840087" cy="112541"/>
          </a:xfrm>
          <a:prstGeom prst="rect">
            <a:avLst/>
          </a:prstGeom>
          <a:noFill/>
          <a:ln/>
        </p:spPr>
        <p:txBody>
          <a:bodyPr wrap="square" lIns="0" tIns="0" rIns="0" bIns="0" rtlCol="0" anchor="t">
            <a:normAutofit fontScale="92500"/>
          </a:bodyPr>
          <a:lstStyle/>
          <a:p>
            <a:pPr marL="0" indent="0" algn="l">
              <a:lnSpc>
                <a:spcPts val="877"/>
              </a:lnSpc>
              <a:buNone/>
            </a:pPr>
            <a:r>
              <a:rPr lang="en-US" sz="800" b="1" kern="0" spc="14" dirty="0">
                <a:solidFill>
                  <a:srgbClr val="0F2A4A"/>
                </a:solidFill>
                <a:latin typeface="Carlito" pitchFamily="34" charset="0"/>
                <a:ea typeface="Carlito" pitchFamily="34" charset="-122"/>
                <a:cs typeface="Carlito" pitchFamily="34" charset="-120"/>
              </a:rPr>
              <a:t>Avg. interaction-check latency</a:t>
            </a:r>
            <a:endParaRPr lang="en-US" sz="800" dirty="0"/>
          </a:p>
        </p:txBody>
      </p:sp>
      <p:sp>
        <p:nvSpPr>
          <p:cNvPr id="28" name="Text 26"/>
          <p:cNvSpPr/>
          <p:nvPr/>
        </p:nvSpPr>
        <p:spPr>
          <a:xfrm>
            <a:off x="4750594" y="2071018"/>
            <a:ext cx="1735931" cy="102133"/>
          </a:xfrm>
          <a:prstGeom prst="rect">
            <a:avLst/>
          </a:prstGeom>
          <a:noFill/>
          <a:ln/>
        </p:spPr>
        <p:txBody>
          <a:bodyPr wrap="none" lIns="0" tIns="0" rIns="0" bIns="0" rtlCol="0" anchor="t"/>
          <a:lstStyle/>
          <a:p>
            <a:pPr marL="0" indent="0" algn="l">
              <a:lnSpc>
                <a:spcPts val="804"/>
              </a:lnSpc>
              <a:buNone/>
            </a:pPr>
            <a:r>
              <a:rPr lang="en-US" sz="800" kern="0" spc="12" dirty="0">
                <a:solidFill>
                  <a:srgbClr val="7A8AA0"/>
                </a:solidFill>
                <a:latin typeface="Liberation Sans Narrow" pitchFamily="34" charset="0"/>
                <a:ea typeface="Liberation Sans Narrow" pitchFamily="34" charset="-122"/>
                <a:cs typeface="Liberation Sans Narrow" pitchFamily="34" charset="-120"/>
              </a:rPr>
              <a:t>NFR3 — no noticeable delay</a:t>
            </a:r>
            <a:endParaRPr lang="en-US" sz="800" dirty="0"/>
          </a:p>
        </p:txBody>
      </p:sp>
      <p:sp>
        <p:nvSpPr>
          <p:cNvPr id="29" name="Text 27"/>
          <p:cNvSpPr/>
          <p:nvPr/>
        </p:nvSpPr>
        <p:spPr>
          <a:xfrm>
            <a:off x="6711553" y="1455986"/>
            <a:ext cx="2000250" cy="820750"/>
          </a:xfrm>
          <a:prstGeom prst="roundRect">
            <a:avLst>
              <a:gd name="adj" fmla="val 9284"/>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30" name="Text 28"/>
          <p:cNvSpPr/>
          <p:nvPr/>
        </p:nvSpPr>
        <p:spPr>
          <a:xfrm>
            <a:off x="6843713" y="1573857"/>
            <a:ext cx="1735931" cy="308610"/>
          </a:xfrm>
          <a:prstGeom prst="rect">
            <a:avLst/>
          </a:prstGeom>
          <a:noFill/>
          <a:ln/>
        </p:spPr>
        <p:txBody>
          <a:bodyPr wrap="none" lIns="0" tIns="0" rIns="0" bIns="0" rtlCol="0" anchor="t"/>
          <a:lstStyle/>
          <a:p>
            <a:pPr marL="0" indent="0" algn="l">
              <a:lnSpc>
                <a:spcPts val="2250"/>
              </a:lnSpc>
              <a:buNone/>
            </a:pPr>
            <a:r>
              <a:rPr lang="en-US" sz="2250" b="1" kern="0" spc="-23" dirty="0">
                <a:solidFill>
                  <a:srgbClr val="0F2A4A"/>
                </a:solidFill>
                <a:latin typeface="Liberation Sans Narrow" pitchFamily="34" charset="0"/>
                <a:ea typeface="Liberation Sans Narrow" pitchFamily="34" charset="-122"/>
                <a:cs typeface="Liberation Sans Narrow" pitchFamily="34" charset="-120"/>
              </a:rPr>
              <a:t>100%</a:t>
            </a:r>
            <a:endParaRPr lang="en-US" sz="2250" dirty="0"/>
          </a:p>
        </p:txBody>
      </p:sp>
      <p:sp>
        <p:nvSpPr>
          <p:cNvPr id="31" name="Text 29"/>
          <p:cNvSpPr/>
          <p:nvPr/>
        </p:nvSpPr>
        <p:spPr>
          <a:xfrm>
            <a:off x="6843713" y="1931045"/>
            <a:ext cx="1735931" cy="112541"/>
          </a:xfrm>
          <a:prstGeom prst="rect">
            <a:avLst/>
          </a:prstGeom>
          <a:noFill/>
          <a:ln/>
        </p:spPr>
        <p:txBody>
          <a:bodyPr wrap="none" lIns="0" tIns="0" rIns="0" bIns="0" rtlCol="0" anchor="t">
            <a:normAutofit fontScale="92500"/>
          </a:bodyPr>
          <a:lstStyle/>
          <a:p>
            <a:pPr marL="0" indent="0" algn="l">
              <a:lnSpc>
                <a:spcPts val="877"/>
              </a:lnSpc>
              <a:buNone/>
            </a:pPr>
            <a:r>
              <a:rPr lang="en-US" sz="800" b="1" kern="0" spc="14" dirty="0">
                <a:solidFill>
                  <a:srgbClr val="0F2A4A"/>
                </a:solidFill>
                <a:latin typeface="Carlito" pitchFamily="34" charset="0"/>
                <a:ea typeface="Carlito" pitchFamily="34" charset="-122"/>
                <a:cs typeface="Carlito" pitchFamily="34" charset="-120"/>
              </a:rPr>
              <a:t>Responsive coverage</a:t>
            </a:r>
            <a:endParaRPr lang="en-US" sz="800" dirty="0"/>
          </a:p>
        </p:txBody>
      </p:sp>
      <p:sp>
        <p:nvSpPr>
          <p:cNvPr id="32" name="Text 30"/>
          <p:cNvSpPr/>
          <p:nvPr/>
        </p:nvSpPr>
        <p:spPr>
          <a:xfrm>
            <a:off x="6843713" y="2071018"/>
            <a:ext cx="1735931" cy="102133"/>
          </a:xfrm>
          <a:prstGeom prst="rect">
            <a:avLst/>
          </a:prstGeom>
          <a:noFill/>
          <a:ln/>
        </p:spPr>
        <p:txBody>
          <a:bodyPr wrap="none" lIns="0" tIns="0" rIns="0" bIns="0" rtlCol="0" anchor="t"/>
          <a:lstStyle/>
          <a:p>
            <a:pPr marL="0" indent="0" algn="l">
              <a:lnSpc>
                <a:spcPts val="804"/>
              </a:lnSpc>
              <a:buNone/>
            </a:pPr>
            <a:r>
              <a:rPr lang="en-US" sz="800" kern="0" spc="12" dirty="0">
                <a:solidFill>
                  <a:srgbClr val="7A8AA0"/>
                </a:solidFill>
                <a:latin typeface="Carlito" pitchFamily="34" charset="0"/>
                <a:ea typeface="Carlito" pitchFamily="34" charset="-122"/>
                <a:cs typeface="Carlito" pitchFamily="34" charset="-120"/>
              </a:rPr>
              <a:t>Mobile · tablet · desktop</a:t>
            </a:r>
            <a:endParaRPr lang="en-US" sz="800" dirty="0"/>
          </a:p>
        </p:txBody>
      </p:sp>
      <p:sp>
        <p:nvSpPr>
          <p:cNvPr id="33" name="Text 31"/>
          <p:cNvSpPr/>
          <p:nvPr/>
        </p:nvSpPr>
        <p:spPr>
          <a:xfrm>
            <a:off x="432197" y="2369604"/>
            <a:ext cx="4093369" cy="1243013"/>
          </a:xfrm>
          <a:prstGeom prst="roundRect">
            <a:avLst>
              <a:gd name="adj" fmla="val 6130"/>
            </a:avLst>
          </a:prstGeom>
          <a:solidFill>
            <a:srgbClr val="F2EEE3"/>
          </a:solidFill>
          <a:ln w="7144">
            <a:solidFill>
              <a:srgbClr val="D9D2BC"/>
            </a:solidFill>
            <a:prstDash val="solid"/>
          </a:ln>
        </p:spPr>
        <p:txBody>
          <a:bodyPr wrap="square" rtlCol="0" anchor="ctr"/>
          <a:lstStyle/>
          <a:p>
            <a:pPr marL="0" indent="0">
              <a:buNone/>
            </a:pPr>
            <a:endParaRPr lang="en-US" dirty="0"/>
          </a:p>
        </p:txBody>
      </p:sp>
      <p:sp>
        <p:nvSpPr>
          <p:cNvPr id="34" name="Text 32"/>
          <p:cNvSpPr/>
          <p:nvPr/>
        </p:nvSpPr>
        <p:spPr>
          <a:xfrm>
            <a:off x="550069" y="2479439"/>
            <a:ext cx="3272172" cy="129480"/>
          </a:xfrm>
          <a:prstGeom prst="rect">
            <a:avLst/>
          </a:prstGeom>
          <a:noFill/>
          <a:ln/>
        </p:spPr>
        <p:txBody>
          <a:bodyPr wrap="none" lIns="0" tIns="0" rIns="0" bIns="0" rtlCol="0" anchor="t"/>
          <a:lstStyle/>
          <a:p>
            <a:pPr marL="0" indent="0" algn="l">
              <a:lnSpc>
                <a:spcPts val="970"/>
              </a:lnSpc>
              <a:buNone/>
            </a:pPr>
            <a:r>
              <a:rPr lang="en-US" sz="800" b="1" kern="0" spc="91" dirty="0">
                <a:solidFill>
                  <a:srgbClr val="0F2A4A"/>
                </a:solidFill>
                <a:latin typeface="Carlito" pitchFamily="34" charset="0"/>
                <a:ea typeface="Carlito" pitchFamily="34" charset="-122"/>
                <a:cs typeface="Carlito" pitchFamily="34" charset="-120"/>
              </a:rPr>
              <a:t>AUTHENTICATION &amp; MEDICATION</a:t>
            </a:r>
            <a:endParaRPr lang="en-US" sz="800" dirty="0"/>
          </a:p>
        </p:txBody>
      </p:sp>
      <p:sp>
        <p:nvSpPr>
          <p:cNvPr id="35" name="Text 33"/>
          <p:cNvSpPr/>
          <p:nvPr/>
        </p:nvSpPr>
        <p:spPr>
          <a:xfrm>
            <a:off x="3813682" y="2465045"/>
            <a:ext cx="616858" cy="152019"/>
          </a:xfrm>
          <a:prstGeom prst="roundRect">
            <a:avLst>
              <a:gd name="adj" fmla="val 6259398"/>
            </a:avLst>
          </a:prstGeom>
          <a:solidFill>
            <a:srgbClr val="C9A227">
              <a:alpha val="14000"/>
            </a:srgbClr>
          </a:solidFill>
          <a:ln/>
        </p:spPr>
        <p:txBody>
          <a:bodyPr wrap="square" rtlCol="0" anchor="ctr"/>
          <a:lstStyle/>
          <a:p>
            <a:pPr marL="0" indent="0">
              <a:buNone/>
            </a:pPr>
            <a:endParaRPr lang="en-US" dirty="0"/>
          </a:p>
        </p:txBody>
      </p:sp>
      <p:sp>
        <p:nvSpPr>
          <p:cNvPr id="36" name="Text 34"/>
          <p:cNvSpPr/>
          <p:nvPr/>
        </p:nvSpPr>
        <p:spPr>
          <a:xfrm>
            <a:off x="3836529" y="2473189"/>
            <a:ext cx="571165" cy="135731"/>
          </a:xfrm>
          <a:prstGeom prst="rect">
            <a:avLst/>
          </a:prstGeom>
          <a:noFill/>
          <a:ln/>
        </p:spPr>
        <p:txBody>
          <a:bodyPr wrap="none" lIns="0" tIns="0" rIns="0" bIns="0" rtlCol="0" anchor="ctr"/>
          <a:lstStyle/>
          <a:p>
            <a:pPr marL="0" indent="0" algn="ctr">
              <a:lnSpc>
                <a:spcPts val="844"/>
              </a:lnSpc>
              <a:buNone/>
            </a:pPr>
            <a:r>
              <a:rPr lang="en-US" sz="800" b="1" kern="0" spc="56" dirty="0">
                <a:solidFill>
                  <a:srgbClr val="8C6F12"/>
                </a:solidFill>
                <a:latin typeface="Liberation Sans Narrow" pitchFamily="34" charset="0"/>
                <a:ea typeface="Liberation Sans Narrow" pitchFamily="34" charset="-122"/>
                <a:cs typeface="Liberation Sans Narrow" pitchFamily="34" charset="-120"/>
              </a:rPr>
              <a:t>FR1 – FR4</a:t>
            </a:r>
            <a:endParaRPr lang="en-US" sz="800" dirty="0"/>
          </a:p>
        </p:txBody>
      </p:sp>
      <p:sp>
        <p:nvSpPr>
          <p:cNvPr id="37" name="Text 35"/>
          <p:cNvSpPr/>
          <p:nvPr/>
        </p:nvSpPr>
        <p:spPr>
          <a:xfrm>
            <a:off x="550069" y="2773226"/>
            <a:ext cx="114300" cy="114300"/>
          </a:xfrm>
          <a:prstGeom prst="rect">
            <a:avLst/>
          </a:prstGeom>
          <a:noFill/>
          <a:ln/>
        </p:spPr>
        <p:txBody>
          <a:bodyPr wrap="none" lIns="0" tIns="0" rIns="0" bIns="0" rtlCol="0" anchor="ctr"/>
          <a:lstStyle/>
          <a:p>
            <a:pPr marL="0" indent="0" algn="ctr">
              <a:buNone/>
            </a:pPr>
            <a:r>
              <a:rPr lang="en-US" sz="1125" dirty="0">
                <a:solidFill>
                  <a:srgbClr val="2F5D3A"/>
                </a:solidFill>
                <a:latin typeface="Segoe UI Symbol" pitchFamily="34" charset="0"/>
                <a:ea typeface="Segoe UI Symbol" pitchFamily="34" charset="-122"/>
                <a:cs typeface="Segoe UI Symbol" pitchFamily="34" charset="-120"/>
              </a:rPr>
              <a:t>✓</a:t>
            </a:r>
            <a:endParaRPr lang="en-US" sz="1125" dirty="0"/>
          </a:p>
        </p:txBody>
      </p:sp>
      <p:sp>
        <p:nvSpPr>
          <p:cNvPr id="38" name="Text 36"/>
          <p:cNvSpPr/>
          <p:nvPr/>
        </p:nvSpPr>
        <p:spPr>
          <a:xfrm>
            <a:off x="728663" y="2766082"/>
            <a:ext cx="3679031" cy="153560"/>
          </a:xfrm>
          <a:prstGeom prst="rect">
            <a:avLst/>
          </a:prstGeom>
          <a:noFill/>
          <a:ln/>
        </p:spPr>
        <p:txBody>
          <a:bodyPr wrap="square" lIns="0" tIns="0" rIns="0" bIns="0" rtlCol="0" anchor="t"/>
          <a:lstStyle/>
          <a:p>
            <a:pPr marL="0" indent="0" algn="l">
              <a:lnSpc>
                <a:spcPts val="906"/>
              </a:lnSpc>
              <a:buNone/>
            </a:pPr>
            <a:r>
              <a:rPr lang="en-US" sz="800" b="1" dirty="0">
                <a:solidFill>
                  <a:srgbClr val="0F2A4A"/>
                </a:solidFill>
                <a:latin typeface="Liberation Sans Narrow" pitchFamily="34" charset="0"/>
                <a:ea typeface="Liberation Sans Narrow" pitchFamily="34" charset="-122"/>
                <a:cs typeface="Liberation Sans Narrow" pitchFamily="34" charset="-120"/>
              </a:rPr>
              <a:t>FR1 — Sign-up:</a:t>
            </a:r>
            <a:r>
              <a:rPr lang="en-US" sz="800" dirty="0">
                <a:solidFill>
                  <a:srgbClr val="4A5A75"/>
                </a:solidFill>
                <a:latin typeface="Carlito" pitchFamily="34" charset="0"/>
                <a:ea typeface="Carlito" pitchFamily="34" charset="-122"/>
                <a:cs typeface="Carlito" pitchFamily="34" charset="-120"/>
              </a:rPr>
              <a:t> username/email/phone/password validation, role selection</a:t>
            </a:r>
            <a:endParaRPr lang="en-US" sz="800" dirty="0"/>
          </a:p>
        </p:txBody>
      </p:sp>
      <p:sp>
        <p:nvSpPr>
          <p:cNvPr id="39" name="Text 37"/>
          <p:cNvSpPr/>
          <p:nvPr/>
        </p:nvSpPr>
        <p:spPr>
          <a:xfrm>
            <a:off x="550069" y="2973251"/>
            <a:ext cx="114300" cy="114300"/>
          </a:xfrm>
          <a:prstGeom prst="rect">
            <a:avLst/>
          </a:prstGeom>
          <a:noFill/>
          <a:ln/>
        </p:spPr>
        <p:txBody>
          <a:bodyPr wrap="none" lIns="0" tIns="0" rIns="0" bIns="0" rtlCol="0" anchor="ctr"/>
          <a:lstStyle/>
          <a:p>
            <a:pPr marL="0" indent="0" algn="ctr">
              <a:buNone/>
            </a:pPr>
            <a:r>
              <a:rPr lang="en-US" sz="1125" dirty="0">
                <a:solidFill>
                  <a:srgbClr val="2F5D3A"/>
                </a:solidFill>
                <a:latin typeface="Segoe UI Symbol" pitchFamily="34" charset="0"/>
                <a:ea typeface="Segoe UI Symbol" pitchFamily="34" charset="-122"/>
                <a:cs typeface="Segoe UI Symbol" pitchFamily="34" charset="-120"/>
              </a:rPr>
              <a:t>✓</a:t>
            </a:r>
            <a:endParaRPr lang="en-US" sz="1125" dirty="0"/>
          </a:p>
        </p:txBody>
      </p:sp>
      <p:sp>
        <p:nvSpPr>
          <p:cNvPr id="40" name="Text 38"/>
          <p:cNvSpPr/>
          <p:nvPr/>
        </p:nvSpPr>
        <p:spPr>
          <a:xfrm>
            <a:off x="728663" y="2966107"/>
            <a:ext cx="3679031" cy="121444"/>
          </a:xfrm>
          <a:prstGeom prst="rect">
            <a:avLst/>
          </a:prstGeom>
          <a:noFill/>
          <a:ln/>
        </p:spPr>
        <p:txBody>
          <a:bodyPr wrap="square" lIns="0" tIns="0" rIns="0" bIns="0" rtlCol="0" anchor="t"/>
          <a:lstStyle/>
          <a:p>
            <a:pPr marL="0" indent="0" algn="l">
              <a:lnSpc>
                <a:spcPts val="906"/>
              </a:lnSpc>
              <a:buNone/>
            </a:pPr>
            <a:r>
              <a:rPr lang="en-US" sz="800" b="1" dirty="0">
                <a:solidFill>
                  <a:srgbClr val="0F2A4A"/>
                </a:solidFill>
                <a:latin typeface="Liberation Sans Narrow" pitchFamily="34" charset="0"/>
                <a:ea typeface="Liberation Sans Narrow" pitchFamily="34" charset="-122"/>
                <a:cs typeface="Liberation Sans Narrow" pitchFamily="34" charset="-120"/>
              </a:rPr>
              <a:t>FR2 — Login:</a:t>
            </a:r>
            <a:r>
              <a:rPr lang="en-US" sz="800" dirty="0">
                <a:solidFill>
                  <a:srgbClr val="4A5A75"/>
                </a:solidFill>
                <a:latin typeface="Carlito" pitchFamily="34" charset="0"/>
                <a:ea typeface="Carlito" pitchFamily="34" charset="-122"/>
                <a:cs typeface="Carlito" pitchFamily="34" charset="-120"/>
              </a:rPr>
              <a:t> email-or-phone + password authentication</a:t>
            </a:r>
            <a:endParaRPr lang="en-US" sz="800" dirty="0"/>
          </a:p>
        </p:txBody>
      </p:sp>
      <p:sp>
        <p:nvSpPr>
          <p:cNvPr id="41" name="Text 39"/>
          <p:cNvSpPr/>
          <p:nvPr/>
        </p:nvSpPr>
        <p:spPr>
          <a:xfrm>
            <a:off x="550069" y="3173276"/>
            <a:ext cx="114300" cy="114300"/>
          </a:xfrm>
          <a:prstGeom prst="rect">
            <a:avLst/>
          </a:prstGeom>
          <a:noFill/>
          <a:ln/>
        </p:spPr>
        <p:txBody>
          <a:bodyPr wrap="none" lIns="0" tIns="0" rIns="0" bIns="0" rtlCol="0" anchor="ctr"/>
          <a:lstStyle/>
          <a:p>
            <a:pPr marL="0" indent="0" algn="ctr">
              <a:buNone/>
            </a:pPr>
            <a:r>
              <a:rPr lang="en-US" sz="1125" dirty="0">
                <a:solidFill>
                  <a:srgbClr val="2F5D3A"/>
                </a:solidFill>
                <a:latin typeface="Segoe UI Symbol" pitchFamily="34" charset="0"/>
                <a:ea typeface="Segoe UI Symbol" pitchFamily="34" charset="-122"/>
                <a:cs typeface="Segoe UI Symbol" pitchFamily="34" charset="-120"/>
              </a:rPr>
              <a:t>✓</a:t>
            </a:r>
            <a:endParaRPr lang="en-US" sz="1125" dirty="0"/>
          </a:p>
        </p:txBody>
      </p:sp>
      <p:sp>
        <p:nvSpPr>
          <p:cNvPr id="42" name="Text 40"/>
          <p:cNvSpPr/>
          <p:nvPr/>
        </p:nvSpPr>
        <p:spPr>
          <a:xfrm>
            <a:off x="728663" y="3166132"/>
            <a:ext cx="3679031" cy="121444"/>
          </a:xfrm>
          <a:prstGeom prst="rect">
            <a:avLst/>
          </a:prstGeom>
          <a:noFill/>
          <a:ln/>
        </p:spPr>
        <p:txBody>
          <a:bodyPr wrap="square" lIns="0" tIns="0" rIns="0" bIns="0" rtlCol="0" anchor="t"/>
          <a:lstStyle/>
          <a:p>
            <a:pPr marL="0" indent="0" algn="l">
              <a:lnSpc>
                <a:spcPts val="906"/>
              </a:lnSpc>
              <a:buNone/>
            </a:pPr>
            <a:r>
              <a:rPr lang="en-US" sz="800" b="1" dirty="0">
                <a:solidFill>
                  <a:srgbClr val="0F2A4A"/>
                </a:solidFill>
                <a:latin typeface="Liberation Sans Narrow" pitchFamily="34" charset="0"/>
                <a:ea typeface="Liberation Sans Narrow" pitchFamily="34" charset="-122"/>
                <a:cs typeface="Liberation Sans Narrow" pitchFamily="34" charset="-120"/>
              </a:rPr>
              <a:t>FR3 — Add Medication:</a:t>
            </a:r>
            <a:r>
              <a:rPr lang="en-US" sz="800" dirty="0">
                <a:solidFill>
                  <a:srgbClr val="4A5A75"/>
                </a:solidFill>
                <a:latin typeface="Carlito" pitchFamily="34" charset="0"/>
                <a:ea typeface="Carlito" pitchFamily="34" charset="-122"/>
                <a:cs typeface="Carlito" pitchFamily="34" charset="-120"/>
              </a:rPr>
              <a:t> name, time, frequency, save to profile</a:t>
            </a:r>
            <a:endParaRPr lang="en-US" sz="800" dirty="0"/>
          </a:p>
        </p:txBody>
      </p:sp>
      <p:sp>
        <p:nvSpPr>
          <p:cNvPr id="43" name="Text 41"/>
          <p:cNvSpPr/>
          <p:nvPr/>
        </p:nvSpPr>
        <p:spPr>
          <a:xfrm>
            <a:off x="550069" y="3373301"/>
            <a:ext cx="114300" cy="114300"/>
          </a:xfrm>
          <a:prstGeom prst="rect">
            <a:avLst/>
          </a:prstGeom>
          <a:noFill/>
          <a:ln/>
        </p:spPr>
        <p:txBody>
          <a:bodyPr wrap="none" lIns="0" tIns="0" rIns="0" bIns="0" rtlCol="0" anchor="ctr"/>
          <a:lstStyle/>
          <a:p>
            <a:pPr marL="0" indent="0" algn="ctr">
              <a:buNone/>
            </a:pPr>
            <a:r>
              <a:rPr lang="en-US" sz="1125" dirty="0">
                <a:solidFill>
                  <a:srgbClr val="2F5D3A"/>
                </a:solidFill>
                <a:latin typeface="Segoe UI Symbol" pitchFamily="34" charset="0"/>
                <a:ea typeface="Segoe UI Symbol" pitchFamily="34" charset="-122"/>
                <a:cs typeface="Segoe UI Symbol" pitchFamily="34" charset="-120"/>
              </a:rPr>
              <a:t>✓</a:t>
            </a:r>
            <a:endParaRPr lang="en-US" sz="1125" dirty="0"/>
          </a:p>
        </p:txBody>
      </p:sp>
      <p:sp>
        <p:nvSpPr>
          <p:cNvPr id="44" name="Text 42"/>
          <p:cNvSpPr/>
          <p:nvPr/>
        </p:nvSpPr>
        <p:spPr>
          <a:xfrm>
            <a:off x="728663" y="3366157"/>
            <a:ext cx="3679031" cy="121444"/>
          </a:xfrm>
          <a:prstGeom prst="rect">
            <a:avLst/>
          </a:prstGeom>
          <a:noFill/>
          <a:ln/>
        </p:spPr>
        <p:txBody>
          <a:bodyPr wrap="square" lIns="0" tIns="0" rIns="0" bIns="0" rtlCol="0" anchor="t"/>
          <a:lstStyle/>
          <a:p>
            <a:pPr marL="0" indent="0" algn="l">
              <a:lnSpc>
                <a:spcPts val="906"/>
              </a:lnSpc>
              <a:buNone/>
            </a:pPr>
            <a:r>
              <a:rPr lang="en-US" sz="800" b="1" dirty="0">
                <a:solidFill>
                  <a:srgbClr val="0F2A4A"/>
                </a:solidFill>
                <a:latin typeface="Liberation Sans Narrow" pitchFamily="34" charset="0"/>
                <a:ea typeface="Liberation Sans Narrow" pitchFamily="34" charset="-122"/>
                <a:cs typeface="Liberation Sans Narrow" pitchFamily="34" charset="-120"/>
              </a:rPr>
              <a:t>FR4 — Interaction Check:</a:t>
            </a:r>
            <a:r>
              <a:rPr lang="en-US" sz="800" dirty="0">
                <a:solidFill>
                  <a:srgbClr val="4A5A75"/>
                </a:solidFill>
                <a:latin typeface="Carlito" pitchFamily="34" charset="0"/>
                <a:ea typeface="Carlito" pitchFamily="34" charset="-122"/>
                <a:cs typeface="Carlito" pitchFamily="34" charset="-120"/>
              </a:rPr>
              <a:t> ingredient retrieval + database comparison</a:t>
            </a:r>
            <a:endParaRPr lang="en-US" sz="800" dirty="0"/>
          </a:p>
        </p:txBody>
      </p:sp>
      <p:sp>
        <p:nvSpPr>
          <p:cNvPr id="45" name="Text 43"/>
          <p:cNvSpPr/>
          <p:nvPr/>
        </p:nvSpPr>
        <p:spPr>
          <a:xfrm>
            <a:off x="4618434" y="2369604"/>
            <a:ext cx="4093369" cy="1243013"/>
          </a:xfrm>
          <a:prstGeom prst="roundRect">
            <a:avLst>
              <a:gd name="adj" fmla="val 6130"/>
            </a:avLst>
          </a:prstGeom>
          <a:solidFill>
            <a:srgbClr val="F2EEE3"/>
          </a:solidFill>
          <a:ln w="7144">
            <a:solidFill>
              <a:srgbClr val="D9D2BC"/>
            </a:solidFill>
            <a:prstDash val="solid"/>
          </a:ln>
        </p:spPr>
        <p:txBody>
          <a:bodyPr wrap="square" rtlCol="0" anchor="ctr"/>
          <a:lstStyle/>
          <a:p>
            <a:pPr marL="0" indent="0">
              <a:buNone/>
            </a:pPr>
            <a:endParaRPr lang="en-US" dirty="0"/>
          </a:p>
        </p:txBody>
      </p:sp>
      <p:sp>
        <p:nvSpPr>
          <p:cNvPr id="46" name="Text 44"/>
          <p:cNvSpPr/>
          <p:nvPr/>
        </p:nvSpPr>
        <p:spPr>
          <a:xfrm>
            <a:off x="4736306" y="2479439"/>
            <a:ext cx="3272172" cy="129480"/>
          </a:xfrm>
          <a:prstGeom prst="rect">
            <a:avLst/>
          </a:prstGeom>
          <a:noFill/>
          <a:ln/>
        </p:spPr>
        <p:txBody>
          <a:bodyPr wrap="none" lIns="0" tIns="0" rIns="0" bIns="0" rtlCol="0" anchor="t"/>
          <a:lstStyle/>
          <a:p>
            <a:pPr marL="0" indent="0" algn="l">
              <a:lnSpc>
                <a:spcPts val="970"/>
              </a:lnSpc>
              <a:buNone/>
            </a:pPr>
            <a:r>
              <a:rPr lang="en-US" sz="800" b="1" kern="0" spc="91" dirty="0">
                <a:solidFill>
                  <a:srgbClr val="0F2A4A"/>
                </a:solidFill>
                <a:latin typeface="Carlito" pitchFamily="34" charset="0"/>
                <a:ea typeface="Carlito" pitchFamily="34" charset="-122"/>
                <a:cs typeface="Carlito" pitchFamily="34" charset="-120"/>
              </a:rPr>
              <a:t>CARE, SAFETY, AI</a:t>
            </a:r>
            <a:endParaRPr lang="en-US" sz="800" dirty="0"/>
          </a:p>
        </p:txBody>
      </p:sp>
      <p:sp>
        <p:nvSpPr>
          <p:cNvPr id="47" name="Text 45"/>
          <p:cNvSpPr/>
          <p:nvPr/>
        </p:nvSpPr>
        <p:spPr>
          <a:xfrm>
            <a:off x="7999920" y="2465045"/>
            <a:ext cx="616858" cy="152019"/>
          </a:xfrm>
          <a:prstGeom prst="roundRect">
            <a:avLst>
              <a:gd name="adj" fmla="val 6259398"/>
            </a:avLst>
          </a:prstGeom>
          <a:solidFill>
            <a:srgbClr val="C9A227">
              <a:alpha val="14000"/>
            </a:srgbClr>
          </a:solidFill>
          <a:ln/>
        </p:spPr>
        <p:txBody>
          <a:bodyPr wrap="square" rtlCol="0" anchor="ctr"/>
          <a:lstStyle/>
          <a:p>
            <a:pPr marL="0" indent="0">
              <a:buNone/>
            </a:pPr>
            <a:endParaRPr lang="en-US" dirty="0"/>
          </a:p>
        </p:txBody>
      </p:sp>
      <p:sp>
        <p:nvSpPr>
          <p:cNvPr id="48" name="Text 46"/>
          <p:cNvSpPr/>
          <p:nvPr/>
        </p:nvSpPr>
        <p:spPr>
          <a:xfrm>
            <a:off x="8022766" y="2473189"/>
            <a:ext cx="571165" cy="135731"/>
          </a:xfrm>
          <a:prstGeom prst="rect">
            <a:avLst/>
          </a:prstGeom>
          <a:noFill/>
          <a:ln/>
        </p:spPr>
        <p:txBody>
          <a:bodyPr wrap="none" lIns="0" tIns="0" rIns="0" bIns="0" rtlCol="0" anchor="ctr"/>
          <a:lstStyle/>
          <a:p>
            <a:pPr marL="0" indent="0" algn="ctr">
              <a:lnSpc>
                <a:spcPts val="844"/>
              </a:lnSpc>
              <a:buNone/>
            </a:pPr>
            <a:r>
              <a:rPr lang="en-US" sz="800" b="1" kern="0" spc="56" dirty="0">
                <a:solidFill>
                  <a:srgbClr val="8C6F12"/>
                </a:solidFill>
                <a:latin typeface="Liberation Sans Narrow" pitchFamily="34" charset="0"/>
                <a:ea typeface="Liberation Sans Narrow" pitchFamily="34" charset="-122"/>
                <a:cs typeface="Liberation Sans Narrow" pitchFamily="34" charset="-120"/>
              </a:rPr>
              <a:t>FR5 – FR8</a:t>
            </a:r>
            <a:endParaRPr lang="en-US" sz="800" dirty="0"/>
          </a:p>
        </p:txBody>
      </p:sp>
      <p:sp>
        <p:nvSpPr>
          <p:cNvPr id="49" name="Text 47"/>
          <p:cNvSpPr/>
          <p:nvPr/>
        </p:nvSpPr>
        <p:spPr>
          <a:xfrm>
            <a:off x="4736306" y="2773226"/>
            <a:ext cx="114300" cy="114300"/>
          </a:xfrm>
          <a:prstGeom prst="rect">
            <a:avLst/>
          </a:prstGeom>
          <a:noFill/>
          <a:ln/>
        </p:spPr>
        <p:txBody>
          <a:bodyPr wrap="none" lIns="0" tIns="0" rIns="0" bIns="0" rtlCol="0" anchor="ctr"/>
          <a:lstStyle/>
          <a:p>
            <a:pPr marL="0" indent="0" algn="ctr">
              <a:buNone/>
            </a:pPr>
            <a:r>
              <a:rPr lang="en-US" sz="1125" dirty="0">
                <a:solidFill>
                  <a:srgbClr val="2F5D3A"/>
                </a:solidFill>
                <a:latin typeface="Segoe UI Symbol" pitchFamily="34" charset="0"/>
                <a:ea typeface="Segoe UI Symbol" pitchFamily="34" charset="-122"/>
                <a:cs typeface="Segoe UI Symbol" pitchFamily="34" charset="-120"/>
              </a:rPr>
              <a:t>✓</a:t>
            </a:r>
            <a:endParaRPr lang="en-US" sz="1125" dirty="0"/>
          </a:p>
        </p:txBody>
      </p:sp>
      <p:sp>
        <p:nvSpPr>
          <p:cNvPr id="50" name="Text 48"/>
          <p:cNvSpPr/>
          <p:nvPr/>
        </p:nvSpPr>
        <p:spPr>
          <a:xfrm>
            <a:off x="4914900" y="2766082"/>
            <a:ext cx="3679031" cy="153560"/>
          </a:xfrm>
          <a:prstGeom prst="rect">
            <a:avLst/>
          </a:prstGeom>
          <a:noFill/>
          <a:ln/>
        </p:spPr>
        <p:txBody>
          <a:bodyPr wrap="square" lIns="0" tIns="0" rIns="0" bIns="0" rtlCol="0" anchor="t"/>
          <a:lstStyle/>
          <a:p>
            <a:pPr marL="0" indent="0" algn="l">
              <a:lnSpc>
                <a:spcPts val="906"/>
              </a:lnSpc>
              <a:buNone/>
            </a:pPr>
            <a:r>
              <a:rPr lang="en-US" sz="800" b="1" dirty="0">
                <a:solidFill>
                  <a:srgbClr val="0F2A4A"/>
                </a:solidFill>
                <a:latin typeface="Liberation Sans Narrow" pitchFamily="34" charset="0"/>
                <a:ea typeface="Liberation Sans Narrow" pitchFamily="34" charset="-122"/>
                <a:cs typeface="Liberation Sans Narrow" pitchFamily="34" charset="-120"/>
              </a:rPr>
              <a:t>FR5 — Chatbot:</a:t>
            </a:r>
            <a:r>
              <a:rPr lang="en-US" sz="800" dirty="0">
                <a:solidFill>
                  <a:srgbClr val="4A5A75"/>
                </a:solidFill>
                <a:latin typeface="Carlito" pitchFamily="34" charset="0"/>
                <a:ea typeface="Carlito" pitchFamily="34" charset="-122"/>
                <a:cs typeface="Carlito" pitchFamily="34" charset="-120"/>
              </a:rPr>
              <a:t> question analysis, plain-language responses, follow-up</a:t>
            </a:r>
            <a:endParaRPr lang="en-US" sz="800" dirty="0"/>
          </a:p>
        </p:txBody>
      </p:sp>
      <p:sp>
        <p:nvSpPr>
          <p:cNvPr id="51" name="Text 49"/>
          <p:cNvSpPr/>
          <p:nvPr/>
        </p:nvSpPr>
        <p:spPr>
          <a:xfrm>
            <a:off x="4736306" y="2973251"/>
            <a:ext cx="114300" cy="114300"/>
          </a:xfrm>
          <a:prstGeom prst="rect">
            <a:avLst/>
          </a:prstGeom>
          <a:noFill/>
          <a:ln/>
        </p:spPr>
        <p:txBody>
          <a:bodyPr wrap="none" lIns="0" tIns="0" rIns="0" bIns="0" rtlCol="0" anchor="ctr"/>
          <a:lstStyle/>
          <a:p>
            <a:pPr marL="0" indent="0" algn="ctr">
              <a:buNone/>
            </a:pPr>
            <a:r>
              <a:rPr lang="en-US" sz="1125" dirty="0">
                <a:solidFill>
                  <a:srgbClr val="2F5D3A"/>
                </a:solidFill>
                <a:latin typeface="Segoe UI Symbol" pitchFamily="34" charset="0"/>
                <a:ea typeface="Segoe UI Symbol" pitchFamily="34" charset="-122"/>
                <a:cs typeface="Segoe UI Symbol" pitchFamily="34" charset="-120"/>
              </a:rPr>
              <a:t>✓</a:t>
            </a:r>
            <a:endParaRPr lang="en-US" sz="1125" dirty="0"/>
          </a:p>
        </p:txBody>
      </p:sp>
      <p:sp>
        <p:nvSpPr>
          <p:cNvPr id="52" name="Text 50"/>
          <p:cNvSpPr/>
          <p:nvPr/>
        </p:nvSpPr>
        <p:spPr>
          <a:xfrm>
            <a:off x="4914900" y="2966107"/>
            <a:ext cx="3679031" cy="121444"/>
          </a:xfrm>
          <a:prstGeom prst="rect">
            <a:avLst/>
          </a:prstGeom>
          <a:noFill/>
          <a:ln/>
        </p:spPr>
        <p:txBody>
          <a:bodyPr wrap="square" lIns="0" tIns="0" rIns="0" bIns="0" rtlCol="0" anchor="t"/>
          <a:lstStyle/>
          <a:p>
            <a:pPr marL="0" indent="0" algn="l">
              <a:lnSpc>
                <a:spcPts val="906"/>
              </a:lnSpc>
              <a:buNone/>
            </a:pPr>
            <a:r>
              <a:rPr lang="en-US" sz="800" b="1" dirty="0">
                <a:solidFill>
                  <a:srgbClr val="0F2A4A"/>
                </a:solidFill>
                <a:latin typeface="Liberation Sans Narrow" pitchFamily="34" charset="0"/>
                <a:ea typeface="Liberation Sans Narrow" pitchFamily="34" charset="-122"/>
                <a:cs typeface="Liberation Sans Narrow" pitchFamily="34" charset="-120"/>
              </a:rPr>
              <a:t>FR6 — Reminders:</a:t>
            </a:r>
            <a:r>
              <a:rPr lang="en-US" sz="800" dirty="0">
                <a:solidFill>
                  <a:srgbClr val="4A5A75"/>
                </a:solidFill>
                <a:latin typeface="Carlito" pitchFamily="34" charset="0"/>
                <a:ea typeface="Carlito" pitchFamily="34" charset="-122"/>
                <a:cs typeface="Carlito" pitchFamily="34" charset="-120"/>
              </a:rPr>
              <a:t> schedule, notify, confirm intake, log adherence</a:t>
            </a:r>
            <a:endParaRPr lang="en-US" sz="800" dirty="0"/>
          </a:p>
        </p:txBody>
      </p:sp>
      <p:sp>
        <p:nvSpPr>
          <p:cNvPr id="53" name="Text 51"/>
          <p:cNvSpPr/>
          <p:nvPr/>
        </p:nvSpPr>
        <p:spPr>
          <a:xfrm>
            <a:off x="4736306" y="3173276"/>
            <a:ext cx="114300" cy="114300"/>
          </a:xfrm>
          <a:prstGeom prst="rect">
            <a:avLst/>
          </a:prstGeom>
          <a:noFill/>
          <a:ln/>
        </p:spPr>
        <p:txBody>
          <a:bodyPr wrap="none" lIns="0" tIns="0" rIns="0" bIns="0" rtlCol="0" anchor="ctr"/>
          <a:lstStyle/>
          <a:p>
            <a:pPr marL="0" indent="0" algn="ctr">
              <a:buNone/>
            </a:pPr>
            <a:r>
              <a:rPr lang="en-US" sz="1125" dirty="0">
                <a:solidFill>
                  <a:srgbClr val="2F5D3A"/>
                </a:solidFill>
                <a:latin typeface="Segoe UI Symbol" pitchFamily="34" charset="0"/>
                <a:ea typeface="Segoe UI Symbol" pitchFamily="34" charset="-122"/>
                <a:cs typeface="Segoe UI Symbol" pitchFamily="34" charset="-120"/>
              </a:rPr>
              <a:t>✓</a:t>
            </a:r>
            <a:endParaRPr lang="en-US" sz="1125" dirty="0"/>
          </a:p>
        </p:txBody>
      </p:sp>
      <p:sp>
        <p:nvSpPr>
          <p:cNvPr id="54" name="Text 52"/>
          <p:cNvSpPr/>
          <p:nvPr/>
        </p:nvSpPr>
        <p:spPr>
          <a:xfrm>
            <a:off x="4914900" y="3166132"/>
            <a:ext cx="3679031" cy="121444"/>
          </a:xfrm>
          <a:prstGeom prst="rect">
            <a:avLst/>
          </a:prstGeom>
          <a:noFill/>
          <a:ln/>
        </p:spPr>
        <p:txBody>
          <a:bodyPr wrap="square" lIns="0" tIns="0" rIns="0" bIns="0" rtlCol="0" anchor="t"/>
          <a:lstStyle/>
          <a:p>
            <a:pPr marL="0" indent="0" algn="l">
              <a:lnSpc>
                <a:spcPts val="906"/>
              </a:lnSpc>
              <a:buNone/>
            </a:pPr>
            <a:r>
              <a:rPr lang="en-US" sz="800" b="1" dirty="0">
                <a:solidFill>
                  <a:srgbClr val="0F2A4A"/>
                </a:solidFill>
                <a:latin typeface="Liberation Sans Narrow" pitchFamily="34" charset="0"/>
                <a:ea typeface="Liberation Sans Narrow" pitchFamily="34" charset="-122"/>
                <a:cs typeface="Liberation Sans Narrow" pitchFamily="34" charset="-120"/>
              </a:rPr>
              <a:t>FR7 — Caregiver Monitoring:</a:t>
            </a:r>
            <a:r>
              <a:rPr lang="en-US" sz="800" dirty="0">
                <a:solidFill>
                  <a:srgbClr val="4A5A75"/>
                </a:solidFill>
                <a:latin typeface="Carlito" pitchFamily="34" charset="0"/>
                <a:ea typeface="Carlito" pitchFamily="34" charset="-122"/>
                <a:cs typeface="Carlito" pitchFamily="34" charset="-120"/>
              </a:rPr>
              <a:t> link accounts, view schedules &amp; adherence</a:t>
            </a:r>
            <a:endParaRPr lang="en-US" sz="800" dirty="0"/>
          </a:p>
        </p:txBody>
      </p:sp>
      <p:sp>
        <p:nvSpPr>
          <p:cNvPr id="55" name="Text 53"/>
          <p:cNvSpPr/>
          <p:nvPr/>
        </p:nvSpPr>
        <p:spPr>
          <a:xfrm>
            <a:off x="4736306" y="3373301"/>
            <a:ext cx="114300" cy="114300"/>
          </a:xfrm>
          <a:prstGeom prst="rect">
            <a:avLst/>
          </a:prstGeom>
          <a:noFill/>
          <a:ln/>
        </p:spPr>
        <p:txBody>
          <a:bodyPr wrap="none" lIns="0" tIns="0" rIns="0" bIns="0" rtlCol="0" anchor="ctr"/>
          <a:lstStyle/>
          <a:p>
            <a:pPr marL="0" indent="0" algn="ctr">
              <a:buNone/>
            </a:pPr>
            <a:r>
              <a:rPr lang="en-US" sz="1125" dirty="0">
                <a:solidFill>
                  <a:srgbClr val="2F5D3A"/>
                </a:solidFill>
                <a:latin typeface="Segoe UI Symbol" pitchFamily="34" charset="0"/>
                <a:ea typeface="Segoe UI Symbol" pitchFamily="34" charset="-122"/>
                <a:cs typeface="Segoe UI Symbol" pitchFamily="34" charset="-120"/>
              </a:rPr>
              <a:t>✓</a:t>
            </a:r>
            <a:endParaRPr lang="en-US" sz="1125" dirty="0"/>
          </a:p>
        </p:txBody>
      </p:sp>
      <p:sp>
        <p:nvSpPr>
          <p:cNvPr id="56" name="Text 54"/>
          <p:cNvSpPr/>
          <p:nvPr/>
        </p:nvSpPr>
        <p:spPr>
          <a:xfrm>
            <a:off x="4914900" y="3366157"/>
            <a:ext cx="3679031" cy="121444"/>
          </a:xfrm>
          <a:prstGeom prst="rect">
            <a:avLst/>
          </a:prstGeom>
          <a:noFill/>
          <a:ln/>
        </p:spPr>
        <p:txBody>
          <a:bodyPr wrap="square" lIns="0" tIns="0" rIns="0" bIns="0" rtlCol="0" anchor="t"/>
          <a:lstStyle/>
          <a:p>
            <a:pPr marL="0" indent="0" algn="l">
              <a:lnSpc>
                <a:spcPts val="906"/>
              </a:lnSpc>
              <a:buNone/>
            </a:pPr>
            <a:r>
              <a:rPr lang="en-US" sz="800" b="1" dirty="0">
                <a:solidFill>
                  <a:srgbClr val="0F2A4A"/>
                </a:solidFill>
                <a:latin typeface="Liberation Sans Narrow" pitchFamily="34" charset="0"/>
                <a:ea typeface="Liberation Sans Narrow" pitchFamily="34" charset="-122"/>
                <a:cs typeface="Liberation Sans Narrow" pitchFamily="34" charset="-120"/>
              </a:rPr>
              <a:t>FR8 — Emergency Button:</a:t>
            </a:r>
            <a:r>
              <a:rPr lang="en-US" sz="800" dirty="0">
                <a:solidFill>
                  <a:srgbClr val="4A5A75"/>
                </a:solidFill>
                <a:latin typeface="Carlito" pitchFamily="34" charset="0"/>
                <a:ea typeface="Carlito" pitchFamily="34" charset="-122"/>
                <a:cs typeface="Carlito" pitchFamily="34" charset="-120"/>
              </a:rPr>
              <a:t> one-tap alert to all linked caregivers</a:t>
            </a:r>
            <a:endParaRPr lang="en-US" sz="800" dirty="0"/>
          </a:p>
        </p:txBody>
      </p:sp>
      <p:sp>
        <p:nvSpPr>
          <p:cNvPr id="57" name="Text 55"/>
          <p:cNvSpPr/>
          <p:nvPr/>
        </p:nvSpPr>
        <p:spPr>
          <a:xfrm>
            <a:off x="428625" y="3701914"/>
            <a:ext cx="8286750" cy="337096"/>
          </a:xfrm>
          <a:prstGeom prst="roundRect">
            <a:avLst>
              <a:gd name="adj" fmla="val 16954"/>
            </a:avLst>
          </a:prstGeom>
          <a:solidFill>
            <a:srgbClr val="0F2A4A"/>
          </a:solidFill>
          <a:ln/>
        </p:spPr>
        <p:txBody>
          <a:bodyPr wrap="square" rtlCol="0" anchor="ctr"/>
          <a:lstStyle/>
          <a:p>
            <a:pPr marL="0" indent="0">
              <a:buNone/>
            </a:pPr>
            <a:endParaRPr lang="en-US" dirty="0"/>
          </a:p>
        </p:txBody>
      </p:sp>
      <p:sp>
        <p:nvSpPr>
          <p:cNvPr id="58" name="Text 56"/>
          <p:cNvSpPr/>
          <p:nvPr/>
        </p:nvSpPr>
        <p:spPr>
          <a:xfrm>
            <a:off x="428625" y="3701914"/>
            <a:ext cx="8286750" cy="364063"/>
          </a:xfrm>
          <a:prstGeom prst="rect">
            <a:avLst/>
          </a:prstGeom>
          <a:noFill/>
          <a:ln/>
        </p:spPr>
        <p:txBody>
          <a:bodyPr wrap="square" lIns="157163" tIns="85725" rIns="157163" bIns="85725" rtlCol="0" anchor="t"/>
          <a:lstStyle/>
          <a:p>
            <a:pPr marL="0" indent="0" algn="ctr">
              <a:lnSpc>
                <a:spcPts val="1305"/>
              </a:lnSpc>
              <a:buNone/>
            </a:pPr>
            <a:r>
              <a:rPr lang="en-US" sz="900" i="1" kern="0" spc="5" dirty="0">
                <a:solidFill>
                  <a:srgbClr val="FFFFFF"/>
                </a:solidFill>
                <a:latin typeface="Tinos" pitchFamily="34" charset="0"/>
                <a:ea typeface="Tinos" pitchFamily="34" charset="-122"/>
                <a:cs typeface="Tinos" pitchFamily="34" charset="-120"/>
              </a:rPr>
              <a:t>“Tested with an elderly user — completed the add-medication flow in under 90 seconds without assistance.”</a:t>
            </a:r>
            <a:endParaRPr lang="en-US" sz="900" dirty="0"/>
          </a:p>
        </p:txBody>
      </p:sp>
      <p:sp>
        <p:nvSpPr>
          <p:cNvPr id="59" name="Text 57"/>
          <p:cNvSpPr/>
          <p:nvPr/>
        </p:nvSpPr>
        <p:spPr>
          <a:xfrm>
            <a:off x="514350" y="4868466"/>
            <a:ext cx="7165628"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60" name="Text 58"/>
          <p:cNvSpPr/>
          <p:nvPr/>
        </p:nvSpPr>
        <p:spPr>
          <a:xfrm>
            <a:off x="7694265" y="4868466"/>
            <a:ext cx="935385"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Results &amp; Evaluation</a:t>
            </a:r>
            <a:endParaRPr lang="en-US" sz="8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428625" y="489347"/>
            <a:ext cx="8286750" cy="0"/>
          </a:xfrm>
          <a:prstGeom prst="line">
            <a:avLst/>
          </a:prstGeom>
          <a:noFill/>
          <a:ln w="7144">
            <a:solidFill>
              <a:srgbClr val="D9D2BC"/>
            </a:solidFill>
            <a:prstDash val="solid"/>
          </a:ln>
        </p:spPr>
      </p:sp>
      <p:sp>
        <p:nvSpPr>
          <p:cNvPr id="3" name="Shape 1"/>
          <p:cNvSpPr/>
          <p:nvPr/>
        </p:nvSpPr>
        <p:spPr>
          <a:xfrm>
            <a:off x="550069" y="2049028"/>
            <a:ext cx="3857625" cy="0"/>
          </a:xfrm>
          <a:prstGeom prst="line">
            <a:avLst/>
          </a:prstGeom>
          <a:noFill/>
          <a:ln w="7144">
            <a:solidFill>
              <a:srgbClr val="C9A227"/>
            </a:solidFill>
            <a:prstDash val="solid"/>
          </a:ln>
        </p:spPr>
      </p:sp>
      <p:sp>
        <p:nvSpPr>
          <p:cNvPr id="4" name="Shape 2"/>
          <p:cNvSpPr/>
          <p:nvPr/>
        </p:nvSpPr>
        <p:spPr>
          <a:xfrm>
            <a:off x="4404122" y="2045457"/>
            <a:ext cx="0" cy="492249"/>
          </a:xfrm>
          <a:prstGeom prst="line">
            <a:avLst/>
          </a:prstGeom>
          <a:noFill/>
          <a:ln w="7144">
            <a:solidFill>
              <a:srgbClr val="C9A227"/>
            </a:solidFill>
            <a:prstDash val="solid"/>
          </a:ln>
        </p:spPr>
      </p:sp>
      <p:sp>
        <p:nvSpPr>
          <p:cNvPr id="5" name="Shape 3"/>
          <p:cNvSpPr/>
          <p:nvPr/>
        </p:nvSpPr>
        <p:spPr>
          <a:xfrm>
            <a:off x="550069" y="2534134"/>
            <a:ext cx="3857625" cy="0"/>
          </a:xfrm>
          <a:prstGeom prst="line">
            <a:avLst/>
          </a:prstGeom>
          <a:noFill/>
          <a:ln w="7144">
            <a:solidFill>
              <a:srgbClr val="C9A227"/>
            </a:solidFill>
            <a:prstDash val="solid"/>
          </a:ln>
        </p:spPr>
      </p:sp>
      <p:sp>
        <p:nvSpPr>
          <p:cNvPr id="6" name="Shape 4"/>
          <p:cNvSpPr/>
          <p:nvPr/>
        </p:nvSpPr>
        <p:spPr>
          <a:xfrm>
            <a:off x="560784" y="2045457"/>
            <a:ext cx="0" cy="492249"/>
          </a:xfrm>
          <a:prstGeom prst="line">
            <a:avLst/>
          </a:prstGeom>
          <a:noFill/>
          <a:ln w="21431">
            <a:solidFill>
              <a:srgbClr val="C9A227"/>
            </a:solidFill>
            <a:prstDash val="solid"/>
          </a:ln>
        </p:spPr>
      </p:sp>
      <p:sp>
        <p:nvSpPr>
          <p:cNvPr id="7" name="Shape 5"/>
          <p:cNvSpPr/>
          <p:nvPr/>
        </p:nvSpPr>
        <p:spPr>
          <a:xfrm>
            <a:off x="4736306" y="2049028"/>
            <a:ext cx="3857625" cy="0"/>
          </a:xfrm>
          <a:prstGeom prst="line">
            <a:avLst/>
          </a:prstGeom>
          <a:noFill/>
          <a:ln w="7144">
            <a:solidFill>
              <a:srgbClr val="C9A227"/>
            </a:solidFill>
            <a:prstDash val="solid"/>
          </a:ln>
        </p:spPr>
      </p:sp>
      <p:sp>
        <p:nvSpPr>
          <p:cNvPr id="8" name="Shape 6"/>
          <p:cNvSpPr/>
          <p:nvPr/>
        </p:nvSpPr>
        <p:spPr>
          <a:xfrm>
            <a:off x="8590359" y="2045457"/>
            <a:ext cx="0" cy="492249"/>
          </a:xfrm>
          <a:prstGeom prst="line">
            <a:avLst/>
          </a:prstGeom>
          <a:noFill/>
          <a:ln w="7144">
            <a:solidFill>
              <a:srgbClr val="C9A227"/>
            </a:solidFill>
            <a:prstDash val="solid"/>
          </a:ln>
        </p:spPr>
      </p:sp>
      <p:sp>
        <p:nvSpPr>
          <p:cNvPr id="9" name="Shape 7"/>
          <p:cNvSpPr/>
          <p:nvPr/>
        </p:nvSpPr>
        <p:spPr>
          <a:xfrm>
            <a:off x="4736306" y="2534134"/>
            <a:ext cx="3857625" cy="0"/>
          </a:xfrm>
          <a:prstGeom prst="line">
            <a:avLst/>
          </a:prstGeom>
          <a:noFill/>
          <a:ln w="7144">
            <a:solidFill>
              <a:srgbClr val="C9A227"/>
            </a:solidFill>
            <a:prstDash val="solid"/>
          </a:ln>
        </p:spPr>
      </p:sp>
      <p:sp>
        <p:nvSpPr>
          <p:cNvPr id="10" name="Shape 8"/>
          <p:cNvSpPr/>
          <p:nvPr/>
        </p:nvSpPr>
        <p:spPr>
          <a:xfrm>
            <a:off x="4747022" y="2045457"/>
            <a:ext cx="0" cy="492249"/>
          </a:xfrm>
          <a:prstGeom prst="line">
            <a:avLst/>
          </a:prstGeom>
          <a:noFill/>
          <a:ln w="21431">
            <a:solidFill>
              <a:srgbClr val="C9A227"/>
            </a:solidFill>
            <a:prstDash val="solid"/>
          </a:ln>
        </p:spPr>
      </p:sp>
      <p:sp>
        <p:nvSpPr>
          <p:cNvPr id="11" name="Shape 9"/>
          <p:cNvSpPr/>
          <p:nvPr/>
        </p:nvSpPr>
        <p:spPr>
          <a:xfrm>
            <a:off x="550069" y="3456794"/>
            <a:ext cx="3857625" cy="0"/>
          </a:xfrm>
          <a:prstGeom prst="line">
            <a:avLst/>
          </a:prstGeom>
          <a:noFill/>
          <a:ln w="7144">
            <a:solidFill>
              <a:srgbClr val="C9A227"/>
            </a:solidFill>
            <a:prstDash val="solid"/>
          </a:ln>
        </p:spPr>
      </p:sp>
      <p:sp>
        <p:nvSpPr>
          <p:cNvPr id="12" name="Shape 10"/>
          <p:cNvSpPr/>
          <p:nvPr/>
        </p:nvSpPr>
        <p:spPr>
          <a:xfrm>
            <a:off x="4404122" y="3453222"/>
            <a:ext cx="0" cy="492249"/>
          </a:xfrm>
          <a:prstGeom prst="line">
            <a:avLst/>
          </a:prstGeom>
          <a:noFill/>
          <a:ln w="7144">
            <a:solidFill>
              <a:srgbClr val="C9A227"/>
            </a:solidFill>
            <a:prstDash val="solid"/>
          </a:ln>
        </p:spPr>
      </p:sp>
      <p:sp>
        <p:nvSpPr>
          <p:cNvPr id="13" name="Shape 11"/>
          <p:cNvSpPr/>
          <p:nvPr/>
        </p:nvSpPr>
        <p:spPr>
          <a:xfrm>
            <a:off x="550069" y="3941899"/>
            <a:ext cx="3857625" cy="0"/>
          </a:xfrm>
          <a:prstGeom prst="line">
            <a:avLst/>
          </a:prstGeom>
          <a:noFill/>
          <a:ln w="7144">
            <a:solidFill>
              <a:srgbClr val="C9A227"/>
            </a:solidFill>
            <a:prstDash val="solid"/>
          </a:ln>
        </p:spPr>
      </p:sp>
      <p:sp>
        <p:nvSpPr>
          <p:cNvPr id="14" name="Shape 12"/>
          <p:cNvSpPr/>
          <p:nvPr/>
        </p:nvSpPr>
        <p:spPr>
          <a:xfrm>
            <a:off x="560784" y="3453222"/>
            <a:ext cx="0" cy="492249"/>
          </a:xfrm>
          <a:prstGeom prst="line">
            <a:avLst/>
          </a:prstGeom>
          <a:noFill/>
          <a:ln w="21431">
            <a:solidFill>
              <a:srgbClr val="C9A227"/>
            </a:solidFill>
            <a:prstDash val="solid"/>
          </a:ln>
        </p:spPr>
      </p:sp>
      <p:sp>
        <p:nvSpPr>
          <p:cNvPr id="15" name="Shape 13"/>
          <p:cNvSpPr/>
          <p:nvPr/>
        </p:nvSpPr>
        <p:spPr>
          <a:xfrm>
            <a:off x="4736306" y="3456794"/>
            <a:ext cx="3857625" cy="0"/>
          </a:xfrm>
          <a:prstGeom prst="line">
            <a:avLst/>
          </a:prstGeom>
          <a:noFill/>
          <a:ln w="7144">
            <a:solidFill>
              <a:srgbClr val="C9A227"/>
            </a:solidFill>
            <a:prstDash val="solid"/>
          </a:ln>
        </p:spPr>
      </p:sp>
      <p:sp>
        <p:nvSpPr>
          <p:cNvPr id="16" name="Shape 14"/>
          <p:cNvSpPr/>
          <p:nvPr/>
        </p:nvSpPr>
        <p:spPr>
          <a:xfrm>
            <a:off x="8590359" y="3453222"/>
            <a:ext cx="0" cy="492249"/>
          </a:xfrm>
          <a:prstGeom prst="line">
            <a:avLst/>
          </a:prstGeom>
          <a:noFill/>
          <a:ln w="7144">
            <a:solidFill>
              <a:srgbClr val="C9A227"/>
            </a:solidFill>
            <a:prstDash val="solid"/>
          </a:ln>
        </p:spPr>
      </p:sp>
      <p:sp>
        <p:nvSpPr>
          <p:cNvPr id="17" name="Shape 15"/>
          <p:cNvSpPr/>
          <p:nvPr/>
        </p:nvSpPr>
        <p:spPr>
          <a:xfrm>
            <a:off x="4736306" y="3941899"/>
            <a:ext cx="3857625" cy="0"/>
          </a:xfrm>
          <a:prstGeom prst="line">
            <a:avLst/>
          </a:prstGeom>
          <a:noFill/>
          <a:ln w="7144">
            <a:solidFill>
              <a:srgbClr val="C9A227"/>
            </a:solidFill>
            <a:prstDash val="solid"/>
          </a:ln>
        </p:spPr>
      </p:sp>
      <p:sp>
        <p:nvSpPr>
          <p:cNvPr id="18" name="Shape 16"/>
          <p:cNvSpPr/>
          <p:nvPr/>
        </p:nvSpPr>
        <p:spPr>
          <a:xfrm>
            <a:off x="4747022" y="3453222"/>
            <a:ext cx="0" cy="492249"/>
          </a:xfrm>
          <a:prstGeom prst="line">
            <a:avLst/>
          </a:prstGeom>
          <a:noFill/>
          <a:ln w="21431">
            <a:solidFill>
              <a:srgbClr val="C9A227"/>
            </a:solidFill>
            <a:prstDash val="solid"/>
          </a:ln>
        </p:spPr>
      </p:sp>
      <p:sp>
        <p:nvSpPr>
          <p:cNvPr id="19" name="Shape 17"/>
          <p:cNvSpPr/>
          <p:nvPr/>
        </p:nvSpPr>
        <p:spPr>
          <a:xfrm>
            <a:off x="514350" y="4793456"/>
            <a:ext cx="8115300" cy="0"/>
          </a:xfrm>
          <a:prstGeom prst="line">
            <a:avLst/>
          </a:prstGeom>
          <a:noFill/>
          <a:ln w="7144">
            <a:solidFill>
              <a:srgbClr val="D9D2BC"/>
            </a:solidFill>
            <a:prstDash val="solid"/>
          </a:ln>
        </p:spPr>
      </p:sp>
      <p:sp>
        <p:nvSpPr>
          <p:cNvPr id="20" name="Text 18"/>
          <p:cNvSpPr/>
          <p:nvPr/>
        </p:nvSpPr>
        <p:spPr>
          <a:xfrm>
            <a:off x="428625" y="257175"/>
            <a:ext cx="785109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08 · CHALLENGES</a:t>
            </a:r>
            <a:endParaRPr lang="en-US" sz="800" dirty="0"/>
          </a:p>
        </p:txBody>
      </p:sp>
      <p:sp>
        <p:nvSpPr>
          <p:cNvPr id="21" name="Text 19"/>
          <p:cNvSpPr/>
          <p:nvPr/>
        </p:nvSpPr>
        <p:spPr>
          <a:xfrm>
            <a:off x="8294005" y="257175"/>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17 / 21</a:t>
            </a:r>
            <a:endParaRPr lang="en-US" sz="800" dirty="0"/>
          </a:p>
        </p:txBody>
      </p:sp>
      <p:sp>
        <p:nvSpPr>
          <p:cNvPr id="22" name="Text 20"/>
          <p:cNvSpPr/>
          <p:nvPr/>
        </p:nvSpPr>
        <p:spPr>
          <a:xfrm>
            <a:off x="428625" y="692944"/>
            <a:ext cx="8636000" cy="254844"/>
          </a:xfrm>
          <a:prstGeom prst="rect">
            <a:avLst/>
          </a:prstGeom>
          <a:noFill/>
          <a:ln/>
        </p:spPr>
        <p:txBody>
          <a:bodyPr wrap="square" lIns="0" tIns="0" rIns="0" bIns="0" rtlCol="0" anchor="t"/>
          <a:lstStyle/>
          <a:p>
            <a:pPr marL="0" indent="0" algn="l">
              <a:lnSpc>
                <a:spcPts val="1859"/>
              </a:lnSpc>
              <a:buNone/>
            </a:pPr>
            <a:r>
              <a:rPr lang="en-US" sz="1575" b="1" kern="0" spc="-16" dirty="0">
                <a:solidFill>
                  <a:srgbClr val="0F2A4A"/>
                </a:solidFill>
                <a:latin typeface="Tinos" pitchFamily="34" charset="0"/>
                <a:ea typeface="Tinos" pitchFamily="34" charset="-122"/>
                <a:cs typeface="Tinos" pitchFamily="34" charset="-120"/>
              </a:rPr>
              <a:t>Four challenges we had to solve</a:t>
            </a:r>
            <a:endParaRPr lang="en-US" sz="1575" dirty="0"/>
          </a:p>
        </p:txBody>
      </p:sp>
      <p:sp>
        <p:nvSpPr>
          <p:cNvPr id="23" name="Text 21"/>
          <p:cNvSpPr/>
          <p:nvPr/>
        </p:nvSpPr>
        <p:spPr>
          <a:xfrm>
            <a:off x="428625" y="986061"/>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24" name="Text 22"/>
          <p:cNvSpPr/>
          <p:nvPr/>
        </p:nvSpPr>
        <p:spPr>
          <a:xfrm>
            <a:off x="428625" y="1064642"/>
            <a:ext cx="7715250" cy="169999"/>
          </a:xfrm>
          <a:prstGeom prst="rect">
            <a:avLst/>
          </a:prstGeom>
          <a:noFill/>
          <a:ln/>
        </p:spPr>
        <p:txBody>
          <a:bodyPr wrap="square" lIns="0" tIns="0" rIns="0" bIns="0" rtlCol="0" anchor="t"/>
          <a:lstStyle/>
          <a:p>
            <a:pPr marL="0" indent="0" algn="l">
              <a:lnSpc>
                <a:spcPts val="1133"/>
              </a:lnSpc>
              <a:buNone/>
            </a:pPr>
            <a:r>
              <a:rPr lang="en-US" sz="800" dirty="0">
                <a:solidFill>
                  <a:srgbClr val="4A5A75"/>
                </a:solidFill>
                <a:latin typeface="Carlito" pitchFamily="34" charset="0"/>
                <a:ea typeface="Carlito" pitchFamily="34" charset="-122"/>
                <a:cs typeface="Carlito" pitchFamily="34" charset="-120"/>
              </a:rPr>
              <a:t>Each challenge forced a specific design or implementation decision — summarized below with the resolution we shipped.</a:t>
            </a:r>
            <a:endParaRPr lang="en-US" sz="800" dirty="0"/>
          </a:p>
        </p:txBody>
      </p:sp>
      <p:sp>
        <p:nvSpPr>
          <p:cNvPr id="25" name="Text 23"/>
          <p:cNvSpPr/>
          <p:nvPr/>
        </p:nvSpPr>
        <p:spPr>
          <a:xfrm>
            <a:off x="432197" y="1312106"/>
            <a:ext cx="4093369" cy="1314896"/>
          </a:xfrm>
          <a:prstGeom prst="roundRect">
            <a:avLst>
              <a:gd name="adj" fmla="val 5795"/>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26" name="Text 24"/>
          <p:cNvSpPr/>
          <p:nvPr/>
        </p:nvSpPr>
        <p:spPr>
          <a:xfrm>
            <a:off x="550069" y="1415690"/>
            <a:ext cx="228600" cy="228600"/>
          </a:xfrm>
          <a:prstGeom prst="roundRect">
            <a:avLst>
              <a:gd name="adj" fmla="val 25000"/>
            </a:avLst>
          </a:prstGeom>
          <a:solidFill>
            <a:srgbClr val="B6432A">
              <a:alpha val="8000"/>
            </a:srgbClr>
          </a:solidFill>
          <a:ln/>
        </p:spPr>
        <p:txBody>
          <a:bodyPr wrap="square" rtlCol="0" anchor="ctr"/>
          <a:lstStyle/>
          <a:p>
            <a:pPr marL="0" indent="0">
              <a:buNone/>
            </a:pPr>
            <a:endParaRPr lang="en-US" dirty="0"/>
          </a:p>
        </p:txBody>
      </p:sp>
      <p:sp>
        <p:nvSpPr>
          <p:cNvPr id="27" name="Text 25"/>
          <p:cNvSpPr/>
          <p:nvPr/>
        </p:nvSpPr>
        <p:spPr>
          <a:xfrm>
            <a:off x="565964" y="1431585"/>
            <a:ext cx="196810" cy="196810"/>
          </a:xfrm>
          <a:prstGeom prst="rect">
            <a:avLst/>
          </a:prstGeom>
          <a:noFill/>
          <a:ln/>
        </p:spPr>
        <p:txBody>
          <a:bodyPr wrap="none" lIns="0" tIns="0" rIns="0" bIns="0" rtlCol="0" anchor="ctr"/>
          <a:lstStyle/>
          <a:p>
            <a:pPr marL="0" indent="0" algn="ctr">
              <a:buNone/>
            </a:pPr>
            <a:r>
              <a:rPr lang="en-US" sz="1336" dirty="0">
                <a:solidFill>
                  <a:srgbClr val="B6432A"/>
                </a:solidFill>
                <a:latin typeface="Segoe UI Symbol" pitchFamily="34" charset="0"/>
                <a:ea typeface="Segoe UI Symbol" pitchFamily="34" charset="-122"/>
                <a:cs typeface="Segoe UI Symbol" pitchFamily="34" charset="-120"/>
              </a:rPr>
              <a:t>ⓘ</a:t>
            </a:r>
            <a:endParaRPr lang="en-US" sz="1336" dirty="0"/>
          </a:p>
        </p:txBody>
      </p:sp>
      <p:sp>
        <p:nvSpPr>
          <p:cNvPr id="28" name="Text 26"/>
          <p:cNvSpPr/>
          <p:nvPr/>
        </p:nvSpPr>
        <p:spPr>
          <a:xfrm>
            <a:off x="850106" y="1415690"/>
            <a:ext cx="3557588" cy="95798"/>
          </a:xfrm>
          <a:prstGeom prst="rect">
            <a:avLst/>
          </a:prstGeom>
          <a:noFill/>
          <a:ln/>
        </p:spPr>
        <p:txBody>
          <a:bodyPr wrap="none" lIns="0" tIns="0" rIns="0" bIns="0" rtlCol="0" anchor="t">
            <a:normAutofit fontScale="77500" lnSpcReduction="20000"/>
          </a:bodyPr>
          <a:lstStyle/>
          <a:p>
            <a:pPr marL="0" indent="0" algn="l">
              <a:lnSpc>
                <a:spcPts val="802"/>
              </a:lnSpc>
              <a:buNone/>
            </a:pPr>
            <a:r>
              <a:rPr lang="en-US" sz="800" b="1" kern="0" spc="96" dirty="0">
                <a:solidFill>
                  <a:srgbClr val="7A8AA0"/>
                </a:solidFill>
                <a:latin typeface="Liberation Sans Narrow" pitchFamily="34" charset="0"/>
                <a:ea typeface="Liberation Sans Narrow" pitchFamily="34" charset="-122"/>
                <a:cs typeface="Liberation Sans Narrow" pitchFamily="34" charset="-120"/>
              </a:rPr>
              <a:t>CHALLENGE 01</a:t>
            </a:r>
            <a:endParaRPr lang="en-US" sz="800" dirty="0"/>
          </a:p>
        </p:txBody>
      </p:sp>
      <p:sp>
        <p:nvSpPr>
          <p:cNvPr id="29" name="Text 27"/>
          <p:cNvSpPr/>
          <p:nvPr/>
        </p:nvSpPr>
        <p:spPr>
          <a:xfrm>
            <a:off x="850106" y="1538920"/>
            <a:ext cx="3667316" cy="139839"/>
          </a:xfrm>
          <a:prstGeom prst="rect">
            <a:avLst/>
          </a:prstGeom>
          <a:noFill/>
          <a:ln/>
        </p:spPr>
        <p:txBody>
          <a:bodyPr wrap="square" lIns="0" tIns="0" rIns="0" bIns="0" rtlCol="0" anchor="t"/>
          <a:lstStyle/>
          <a:p>
            <a:pPr marL="0" indent="0" algn="l">
              <a:lnSpc>
                <a:spcPts val="1020"/>
              </a:lnSpc>
              <a:buNone/>
            </a:pPr>
            <a:r>
              <a:rPr lang="en-US" sz="816" b="1" kern="0" spc="-4" dirty="0">
                <a:solidFill>
                  <a:srgbClr val="0F2A4A"/>
                </a:solidFill>
                <a:latin typeface="Carlito" pitchFamily="34" charset="0"/>
                <a:ea typeface="Carlito" pitchFamily="34" charset="-122"/>
                <a:cs typeface="Carlito" pitchFamily="34" charset="-120"/>
              </a:rPr>
              <a:t>Curating a reliable interaction dataset</a:t>
            </a:r>
            <a:endParaRPr lang="en-US" sz="816" dirty="0"/>
          </a:p>
        </p:txBody>
      </p:sp>
      <p:sp>
        <p:nvSpPr>
          <p:cNvPr id="30" name="Text 28"/>
          <p:cNvSpPr/>
          <p:nvPr/>
        </p:nvSpPr>
        <p:spPr>
          <a:xfrm>
            <a:off x="550069" y="1725550"/>
            <a:ext cx="3857625" cy="292474"/>
          </a:xfrm>
          <a:prstGeom prst="rect">
            <a:avLst/>
          </a:prstGeom>
          <a:noFill/>
          <a:ln/>
        </p:spPr>
        <p:txBody>
          <a:bodyPr wrap="square" lIns="0" tIns="0" rIns="0" bIns="0" rtlCol="0" anchor="t">
            <a:normAutofit/>
          </a:bodyPr>
          <a:lstStyle/>
          <a:p>
            <a:pPr marL="0" indent="0" algn="l">
              <a:lnSpc>
                <a:spcPts val="979"/>
              </a:lnSpc>
              <a:buNone/>
            </a:pPr>
            <a:r>
              <a:rPr lang="en-US" sz="800" dirty="0">
                <a:solidFill>
                  <a:srgbClr val="4A5A75"/>
                </a:solidFill>
                <a:latin typeface="Carlito" pitchFamily="34" charset="0"/>
                <a:ea typeface="Carlito" pitchFamily="34" charset="-122"/>
                <a:cs typeface="Carlito" pitchFamily="34" charset="-120"/>
              </a:rPr>
              <a:t>Public drug-interaction sources are inconsistent and rarely machine-readable. We needed a dataset that was trustworthy enough to drive automated warnings.</a:t>
            </a:r>
            <a:endParaRPr lang="en-US" sz="800" dirty="0"/>
          </a:p>
        </p:txBody>
      </p:sp>
      <p:sp>
        <p:nvSpPr>
          <p:cNvPr id="31" name="Text 29"/>
          <p:cNvSpPr/>
          <p:nvPr/>
        </p:nvSpPr>
        <p:spPr>
          <a:xfrm>
            <a:off x="550069" y="2045457"/>
            <a:ext cx="3857625" cy="492249"/>
          </a:xfrm>
          <a:prstGeom prst="roundRect">
            <a:avLst>
              <a:gd name="adj" fmla="val 7740"/>
            </a:avLst>
          </a:prstGeom>
          <a:solidFill>
            <a:srgbClr val="C9A227">
              <a:alpha val="8000"/>
            </a:srgbClr>
          </a:solidFill>
          <a:ln/>
        </p:spPr>
        <p:txBody>
          <a:bodyPr wrap="square" rtlCol="0" anchor="ctr"/>
          <a:lstStyle/>
          <a:p>
            <a:pPr marL="0" indent="0">
              <a:buNone/>
            </a:pPr>
            <a:endParaRPr lang="en-US" dirty="0"/>
          </a:p>
        </p:txBody>
      </p:sp>
      <p:sp>
        <p:nvSpPr>
          <p:cNvPr id="32" name="Text 30"/>
          <p:cNvSpPr/>
          <p:nvPr/>
        </p:nvSpPr>
        <p:spPr>
          <a:xfrm>
            <a:off x="764381" y="2116894"/>
            <a:ext cx="834938" cy="95798"/>
          </a:xfrm>
          <a:prstGeom prst="rect">
            <a:avLst/>
          </a:prstGeom>
          <a:noFill/>
          <a:ln/>
        </p:spPr>
        <p:txBody>
          <a:bodyPr wrap="none" lIns="0" tIns="0" rIns="0" bIns="0" rtlCol="0" anchor="t">
            <a:normAutofit fontScale="62500" lnSpcReduction="20000"/>
          </a:bodyPr>
          <a:lstStyle/>
          <a:p>
            <a:pPr marL="0" indent="0" algn="l">
              <a:lnSpc>
                <a:spcPts val="802"/>
              </a:lnSpc>
              <a:buNone/>
            </a:pPr>
            <a:r>
              <a:rPr lang="en-US" sz="800" b="1" kern="0" spc="96" dirty="0">
                <a:solidFill>
                  <a:srgbClr val="8C6F12"/>
                </a:solidFill>
                <a:latin typeface="Carlito" pitchFamily="34" charset="0"/>
                <a:ea typeface="Carlito" pitchFamily="34" charset="-122"/>
                <a:cs typeface="Carlito" pitchFamily="34" charset="-120"/>
              </a:rPr>
              <a:t>RESOLUTION</a:t>
            </a:r>
            <a:endParaRPr lang="en-US" sz="800" dirty="0"/>
          </a:p>
        </p:txBody>
      </p:sp>
      <p:sp>
        <p:nvSpPr>
          <p:cNvPr id="33" name="Text 31"/>
          <p:cNvSpPr/>
          <p:nvPr/>
        </p:nvSpPr>
        <p:spPr>
          <a:xfrm>
            <a:off x="642938" y="2117787"/>
            <a:ext cx="91440" cy="91440"/>
          </a:xfrm>
          <a:prstGeom prst="rect">
            <a:avLst/>
          </a:prstGeom>
          <a:noFill/>
          <a:ln/>
        </p:spPr>
        <p:txBody>
          <a:bodyPr wrap="none" lIns="0" tIns="0" rIns="0" bIns="0" rtlCol="0" anchor="ctr"/>
          <a:lstStyle/>
          <a:p>
            <a:pPr marL="0" indent="0" algn="ctr">
              <a:buNone/>
            </a:pPr>
            <a:r>
              <a:rPr lang="en-US" sz="844" dirty="0">
                <a:solidFill>
                  <a:srgbClr val="8C6F12"/>
                </a:solidFill>
                <a:latin typeface="Segoe UI Symbol" pitchFamily="34" charset="0"/>
                <a:ea typeface="Segoe UI Symbol" pitchFamily="34" charset="-122"/>
                <a:cs typeface="Segoe UI Symbol" pitchFamily="34" charset="-120"/>
              </a:rPr>
              <a:t>◆</a:t>
            </a:r>
            <a:endParaRPr lang="en-US" sz="844" dirty="0"/>
          </a:p>
        </p:txBody>
      </p:sp>
      <p:sp>
        <p:nvSpPr>
          <p:cNvPr id="34" name="Text 32"/>
          <p:cNvSpPr/>
          <p:nvPr/>
        </p:nvSpPr>
        <p:spPr>
          <a:xfrm>
            <a:off x="642938" y="2240124"/>
            <a:ext cx="3686175" cy="233288"/>
          </a:xfrm>
          <a:prstGeom prst="rect">
            <a:avLst/>
          </a:prstGeom>
          <a:noFill/>
          <a:ln/>
        </p:spPr>
        <p:txBody>
          <a:bodyPr wrap="square" lIns="0" tIns="0" rIns="0" bIns="0" rtlCol="0" anchor="t"/>
          <a:lstStyle/>
          <a:p>
            <a:pPr marL="0" indent="0" algn="l">
              <a:lnSpc>
                <a:spcPts val="919"/>
              </a:lnSpc>
              <a:buNone/>
            </a:pPr>
            <a:r>
              <a:rPr lang="en-US" sz="800" dirty="0">
                <a:solidFill>
                  <a:srgbClr val="0F2A4A"/>
                </a:solidFill>
                <a:latin typeface="Carlito" pitchFamily="34" charset="0"/>
                <a:ea typeface="Carlito" pitchFamily="34" charset="-122"/>
                <a:cs typeface="Carlito" pitchFamily="34" charset="-120"/>
              </a:rPr>
              <a:t>Compiled a curated ingredient-pair rule set, seeded via EF Core migrations. Conflict severity + recommended safe interval stored per pair.</a:t>
            </a:r>
            <a:endParaRPr lang="en-US" sz="800" dirty="0"/>
          </a:p>
        </p:txBody>
      </p:sp>
      <p:sp>
        <p:nvSpPr>
          <p:cNvPr id="35" name="Text 33"/>
          <p:cNvSpPr/>
          <p:nvPr/>
        </p:nvSpPr>
        <p:spPr>
          <a:xfrm>
            <a:off x="4618434" y="1312106"/>
            <a:ext cx="4093369" cy="1314896"/>
          </a:xfrm>
          <a:prstGeom prst="roundRect">
            <a:avLst>
              <a:gd name="adj" fmla="val 5795"/>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36" name="Text 34"/>
          <p:cNvSpPr/>
          <p:nvPr/>
        </p:nvSpPr>
        <p:spPr>
          <a:xfrm>
            <a:off x="4736306" y="1415690"/>
            <a:ext cx="228600" cy="228600"/>
          </a:xfrm>
          <a:prstGeom prst="roundRect">
            <a:avLst>
              <a:gd name="adj" fmla="val 25000"/>
            </a:avLst>
          </a:prstGeom>
          <a:solidFill>
            <a:srgbClr val="B6432A">
              <a:alpha val="8000"/>
            </a:srgbClr>
          </a:solidFill>
          <a:ln/>
        </p:spPr>
        <p:txBody>
          <a:bodyPr wrap="square" rtlCol="0" anchor="ctr"/>
          <a:lstStyle/>
          <a:p>
            <a:pPr marL="0" indent="0">
              <a:buNone/>
            </a:pPr>
            <a:endParaRPr lang="en-US" dirty="0"/>
          </a:p>
        </p:txBody>
      </p:sp>
      <p:sp>
        <p:nvSpPr>
          <p:cNvPr id="37" name="Text 35"/>
          <p:cNvSpPr/>
          <p:nvPr/>
        </p:nvSpPr>
        <p:spPr>
          <a:xfrm>
            <a:off x="4752201" y="1431585"/>
            <a:ext cx="196810" cy="196810"/>
          </a:xfrm>
          <a:prstGeom prst="rect">
            <a:avLst/>
          </a:prstGeom>
          <a:noFill/>
          <a:ln/>
        </p:spPr>
        <p:txBody>
          <a:bodyPr wrap="none" lIns="0" tIns="0" rIns="0" bIns="0" rtlCol="0" anchor="ctr"/>
          <a:lstStyle/>
          <a:p>
            <a:pPr marL="0" indent="0" algn="ctr">
              <a:buNone/>
            </a:pPr>
            <a:r>
              <a:rPr lang="en-US" sz="1336" dirty="0">
                <a:solidFill>
                  <a:srgbClr val="B6432A"/>
                </a:solidFill>
                <a:latin typeface="Segoe UI Symbol" pitchFamily="34" charset="0"/>
                <a:ea typeface="Segoe UI Symbol" pitchFamily="34" charset="-122"/>
                <a:cs typeface="Segoe UI Symbol" pitchFamily="34" charset="-120"/>
              </a:rPr>
              <a:t>✦</a:t>
            </a:r>
            <a:endParaRPr lang="en-US" sz="1336" dirty="0"/>
          </a:p>
        </p:txBody>
      </p:sp>
      <p:sp>
        <p:nvSpPr>
          <p:cNvPr id="38" name="Text 36"/>
          <p:cNvSpPr/>
          <p:nvPr/>
        </p:nvSpPr>
        <p:spPr>
          <a:xfrm>
            <a:off x="5036344" y="1415690"/>
            <a:ext cx="3557588" cy="95798"/>
          </a:xfrm>
          <a:prstGeom prst="rect">
            <a:avLst/>
          </a:prstGeom>
          <a:noFill/>
          <a:ln/>
        </p:spPr>
        <p:txBody>
          <a:bodyPr wrap="none" lIns="0" tIns="0" rIns="0" bIns="0" rtlCol="0" anchor="t">
            <a:normAutofit fontScale="77500" lnSpcReduction="20000"/>
          </a:bodyPr>
          <a:lstStyle/>
          <a:p>
            <a:pPr marL="0" indent="0" algn="l">
              <a:lnSpc>
                <a:spcPts val="802"/>
              </a:lnSpc>
              <a:buNone/>
            </a:pPr>
            <a:r>
              <a:rPr lang="en-US" sz="800" b="1" kern="0" spc="96" dirty="0">
                <a:solidFill>
                  <a:srgbClr val="7A8AA0"/>
                </a:solidFill>
                <a:latin typeface="Liberation Sans Narrow" pitchFamily="34" charset="0"/>
                <a:ea typeface="Liberation Sans Narrow" pitchFamily="34" charset="-122"/>
                <a:cs typeface="Liberation Sans Narrow" pitchFamily="34" charset="-120"/>
              </a:rPr>
              <a:t>CHALLENGE 02</a:t>
            </a:r>
            <a:endParaRPr lang="en-US" sz="800" dirty="0"/>
          </a:p>
        </p:txBody>
      </p:sp>
      <p:sp>
        <p:nvSpPr>
          <p:cNvPr id="39" name="Text 37"/>
          <p:cNvSpPr/>
          <p:nvPr/>
        </p:nvSpPr>
        <p:spPr>
          <a:xfrm>
            <a:off x="5036344" y="1538920"/>
            <a:ext cx="3557588" cy="139839"/>
          </a:xfrm>
          <a:prstGeom prst="rect">
            <a:avLst/>
          </a:prstGeom>
          <a:noFill/>
          <a:ln/>
        </p:spPr>
        <p:txBody>
          <a:bodyPr wrap="square" lIns="0" tIns="0" rIns="0" bIns="0" rtlCol="0" anchor="t"/>
          <a:lstStyle/>
          <a:p>
            <a:pPr marL="0" indent="0" algn="l">
              <a:lnSpc>
                <a:spcPts val="1020"/>
              </a:lnSpc>
              <a:buNone/>
            </a:pPr>
            <a:r>
              <a:rPr lang="en-US" sz="816" b="1" kern="0" spc="-4" dirty="0">
                <a:solidFill>
                  <a:srgbClr val="0F2A4A"/>
                </a:solidFill>
                <a:latin typeface="Carlito" pitchFamily="34" charset="0"/>
                <a:ea typeface="Carlito" pitchFamily="34" charset="-122"/>
                <a:cs typeface="Carlito" pitchFamily="34" charset="-120"/>
              </a:rPr>
              <a:t>Designing for elderly users without dumbing it down</a:t>
            </a:r>
            <a:endParaRPr lang="en-US" sz="816" dirty="0"/>
          </a:p>
        </p:txBody>
      </p:sp>
      <p:sp>
        <p:nvSpPr>
          <p:cNvPr id="40" name="Text 38"/>
          <p:cNvSpPr/>
          <p:nvPr/>
        </p:nvSpPr>
        <p:spPr>
          <a:xfrm>
            <a:off x="4736306" y="1725550"/>
            <a:ext cx="3857625" cy="292474"/>
          </a:xfrm>
          <a:prstGeom prst="rect">
            <a:avLst/>
          </a:prstGeom>
          <a:noFill/>
          <a:ln/>
        </p:spPr>
        <p:txBody>
          <a:bodyPr wrap="square" lIns="0" tIns="0" rIns="0" bIns="0" rtlCol="0" anchor="t">
            <a:normAutofit/>
          </a:bodyPr>
          <a:lstStyle/>
          <a:p>
            <a:pPr marL="0" indent="0" algn="l">
              <a:lnSpc>
                <a:spcPts val="979"/>
              </a:lnSpc>
              <a:buNone/>
            </a:pPr>
            <a:r>
              <a:rPr lang="en-US" sz="800" dirty="0">
                <a:solidFill>
                  <a:srgbClr val="4A5A75"/>
                </a:solidFill>
                <a:latin typeface="Carlito" pitchFamily="34" charset="0"/>
                <a:ea typeface="Carlito" pitchFamily="34" charset="-122"/>
                <a:cs typeface="Carlito" pitchFamily="34" charset="-120"/>
              </a:rPr>
              <a:t>Older adults struggle with small text, low contrast, and deep menus. Most medication apps fail this audience on first use.</a:t>
            </a:r>
            <a:endParaRPr lang="en-US" sz="800" dirty="0"/>
          </a:p>
        </p:txBody>
      </p:sp>
      <p:sp>
        <p:nvSpPr>
          <p:cNvPr id="41" name="Text 39"/>
          <p:cNvSpPr/>
          <p:nvPr/>
        </p:nvSpPr>
        <p:spPr>
          <a:xfrm>
            <a:off x="4736306" y="2045457"/>
            <a:ext cx="3857625" cy="492249"/>
          </a:xfrm>
          <a:prstGeom prst="roundRect">
            <a:avLst>
              <a:gd name="adj" fmla="val 7740"/>
            </a:avLst>
          </a:prstGeom>
          <a:solidFill>
            <a:srgbClr val="C9A227">
              <a:alpha val="8000"/>
            </a:srgbClr>
          </a:solidFill>
          <a:ln/>
        </p:spPr>
        <p:txBody>
          <a:bodyPr wrap="square" rtlCol="0" anchor="ctr"/>
          <a:lstStyle/>
          <a:p>
            <a:pPr marL="0" indent="0">
              <a:buNone/>
            </a:pPr>
            <a:endParaRPr lang="en-US" dirty="0"/>
          </a:p>
        </p:txBody>
      </p:sp>
      <p:sp>
        <p:nvSpPr>
          <p:cNvPr id="42" name="Text 40"/>
          <p:cNvSpPr/>
          <p:nvPr/>
        </p:nvSpPr>
        <p:spPr>
          <a:xfrm>
            <a:off x="4950619" y="2116894"/>
            <a:ext cx="834938" cy="95798"/>
          </a:xfrm>
          <a:prstGeom prst="rect">
            <a:avLst/>
          </a:prstGeom>
          <a:noFill/>
          <a:ln/>
        </p:spPr>
        <p:txBody>
          <a:bodyPr wrap="none" lIns="0" tIns="0" rIns="0" bIns="0" rtlCol="0" anchor="t">
            <a:normAutofit fontScale="62500" lnSpcReduction="20000"/>
          </a:bodyPr>
          <a:lstStyle/>
          <a:p>
            <a:pPr marL="0" indent="0" algn="l">
              <a:lnSpc>
                <a:spcPts val="802"/>
              </a:lnSpc>
              <a:buNone/>
            </a:pPr>
            <a:r>
              <a:rPr lang="en-US" sz="800" b="1" kern="0" spc="96" dirty="0">
                <a:solidFill>
                  <a:srgbClr val="8C6F12"/>
                </a:solidFill>
                <a:latin typeface="Carlito" pitchFamily="34" charset="0"/>
                <a:ea typeface="Carlito" pitchFamily="34" charset="-122"/>
                <a:cs typeface="Carlito" pitchFamily="34" charset="-120"/>
              </a:rPr>
              <a:t>RESOLUTION</a:t>
            </a:r>
            <a:endParaRPr lang="en-US" sz="800" dirty="0"/>
          </a:p>
        </p:txBody>
      </p:sp>
      <p:sp>
        <p:nvSpPr>
          <p:cNvPr id="43" name="Text 41"/>
          <p:cNvSpPr/>
          <p:nvPr/>
        </p:nvSpPr>
        <p:spPr>
          <a:xfrm>
            <a:off x="4829175" y="2117787"/>
            <a:ext cx="91440" cy="91440"/>
          </a:xfrm>
          <a:prstGeom prst="rect">
            <a:avLst/>
          </a:prstGeom>
          <a:noFill/>
          <a:ln/>
        </p:spPr>
        <p:txBody>
          <a:bodyPr wrap="none" lIns="0" tIns="0" rIns="0" bIns="0" rtlCol="0" anchor="ctr"/>
          <a:lstStyle/>
          <a:p>
            <a:pPr marL="0" indent="0" algn="ctr">
              <a:buNone/>
            </a:pPr>
            <a:r>
              <a:rPr lang="en-US" sz="844" dirty="0">
                <a:solidFill>
                  <a:srgbClr val="8C6F12"/>
                </a:solidFill>
                <a:latin typeface="Segoe UI Symbol" pitchFamily="34" charset="0"/>
                <a:ea typeface="Segoe UI Symbol" pitchFamily="34" charset="-122"/>
                <a:cs typeface="Segoe UI Symbol" pitchFamily="34" charset="-120"/>
              </a:rPr>
              <a:t>◆</a:t>
            </a:r>
            <a:endParaRPr lang="en-US" sz="844" dirty="0"/>
          </a:p>
        </p:txBody>
      </p:sp>
      <p:sp>
        <p:nvSpPr>
          <p:cNvPr id="44" name="Text 42"/>
          <p:cNvSpPr/>
          <p:nvPr/>
        </p:nvSpPr>
        <p:spPr>
          <a:xfrm>
            <a:off x="4829175" y="2240124"/>
            <a:ext cx="3686175" cy="233288"/>
          </a:xfrm>
          <a:prstGeom prst="rect">
            <a:avLst/>
          </a:prstGeom>
          <a:noFill/>
          <a:ln/>
        </p:spPr>
        <p:txBody>
          <a:bodyPr wrap="square" lIns="0" tIns="0" rIns="0" bIns="0" rtlCol="0" anchor="t"/>
          <a:lstStyle/>
          <a:p>
            <a:pPr marL="0" indent="0" algn="l">
              <a:lnSpc>
                <a:spcPts val="919"/>
              </a:lnSpc>
              <a:buNone/>
            </a:pPr>
            <a:r>
              <a:rPr lang="en-US" sz="800" dirty="0">
                <a:solidFill>
                  <a:srgbClr val="0F2A4A"/>
                </a:solidFill>
                <a:latin typeface="Carlito" pitchFamily="34" charset="0"/>
                <a:ea typeface="Carlito" pitchFamily="34" charset="-122"/>
                <a:cs typeface="Carlito" pitchFamily="34" charset="-120"/>
              </a:rPr>
              <a:t>Elderly-first design tokens — large base font, high-contrast navy/ivory palette, single-action screens, persistent emergency button in the navbar.</a:t>
            </a:r>
            <a:endParaRPr lang="en-US" sz="800" dirty="0"/>
          </a:p>
        </p:txBody>
      </p:sp>
      <p:sp>
        <p:nvSpPr>
          <p:cNvPr id="45" name="Text 43"/>
          <p:cNvSpPr/>
          <p:nvPr/>
        </p:nvSpPr>
        <p:spPr>
          <a:xfrm>
            <a:off x="432197" y="2719871"/>
            <a:ext cx="4093369" cy="1314896"/>
          </a:xfrm>
          <a:prstGeom prst="roundRect">
            <a:avLst>
              <a:gd name="adj" fmla="val 5795"/>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46" name="Text 44"/>
          <p:cNvSpPr/>
          <p:nvPr/>
        </p:nvSpPr>
        <p:spPr>
          <a:xfrm>
            <a:off x="550069" y="2823456"/>
            <a:ext cx="228600" cy="228600"/>
          </a:xfrm>
          <a:prstGeom prst="roundRect">
            <a:avLst>
              <a:gd name="adj" fmla="val 25000"/>
            </a:avLst>
          </a:prstGeom>
          <a:solidFill>
            <a:srgbClr val="B6432A">
              <a:alpha val="8000"/>
            </a:srgbClr>
          </a:solidFill>
          <a:ln/>
        </p:spPr>
        <p:txBody>
          <a:bodyPr wrap="square" rtlCol="0" anchor="ctr"/>
          <a:lstStyle/>
          <a:p>
            <a:pPr marL="0" indent="0">
              <a:buNone/>
            </a:pPr>
            <a:endParaRPr lang="en-US" dirty="0"/>
          </a:p>
        </p:txBody>
      </p:sp>
      <p:sp>
        <p:nvSpPr>
          <p:cNvPr id="47" name="Text 45"/>
          <p:cNvSpPr/>
          <p:nvPr/>
        </p:nvSpPr>
        <p:spPr>
          <a:xfrm>
            <a:off x="565964" y="2839350"/>
            <a:ext cx="196810" cy="196810"/>
          </a:xfrm>
          <a:prstGeom prst="rect">
            <a:avLst/>
          </a:prstGeom>
          <a:noFill/>
          <a:ln/>
        </p:spPr>
        <p:txBody>
          <a:bodyPr wrap="none" lIns="0" tIns="0" rIns="0" bIns="0" rtlCol="0" anchor="ctr"/>
          <a:lstStyle/>
          <a:p>
            <a:pPr marL="0" indent="0" algn="ctr">
              <a:buNone/>
            </a:pPr>
            <a:r>
              <a:rPr lang="en-US" sz="1336" dirty="0">
                <a:solidFill>
                  <a:srgbClr val="B6432A"/>
                </a:solidFill>
                <a:latin typeface="Segoe UI Symbol" pitchFamily="34" charset="0"/>
                <a:ea typeface="Segoe UI Symbol" pitchFamily="34" charset="-122"/>
                <a:cs typeface="Segoe UI Symbol" pitchFamily="34" charset="-120"/>
              </a:rPr>
              <a:t>◔</a:t>
            </a:r>
            <a:endParaRPr lang="en-US" sz="1336" dirty="0"/>
          </a:p>
        </p:txBody>
      </p:sp>
      <p:sp>
        <p:nvSpPr>
          <p:cNvPr id="48" name="Text 46"/>
          <p:cNvSpPr/>
          <p:nvPr/>
        </p:nvSpPr>
        <p:spPr>
          <a:xfrm>
            <a:off x="850106" y="2823456"/>
            <a:ext cx="3557588" cy="95798"/>
          </a:xfrm>
          <a:prstGeom prst="rect">
            <a:avLst/>
          </a:prstGeom>
          <a:noFill/>
          <a:ln/>
        </p:spPr>
        <p:txBody>
          <a:bodyPr wrap="none" lIns="0" tIns="0" rIns="0" bIns="0" rtlCol="0" anchor="t">
            <a:normAutofit fontScale="77500" lnSpcReduction="20000"/>
          </a:bodyPr>
          <a:lstStyle/>
          <a:p>
            <a:pPr marL="0" indent="0" algn="l">
              <a:lnSpc>
                <a:spcPts val="802"/>
              </a:lnSpc>
              <a:buNone/>
            </a:pPr>
            <a:r>
              <a:rPr lang="en-US" sz="800" b="1" kern="0" spc="96" dirty="0">
                <a:solidFill>
                  <a:srgbClr val="7A8AA0"/>
                </a:solidFill>
                <a:latin typeface="Liberation Sans Narrow" pitchFamily="34" charset="0"/>
                <a:ea typeface="Liberation Sans Narrow" pitchFamily="34" charset="-122"/>
                <a:cs typeface="Liberation Sans Narrow" pitchFamily="34" charset="-120"/>
              </a:rPr>
              <a:t>CHALLENGE 03</a:t>
            </a:r>
            <a:endParaRPr lang="en-US" sz="800" dirty="0"/>
          </a:p>
        </p:txBody>
      </p:sp>
      <p:sp>
        <p:nvSpPr>
          <p:cNvPr id="49" name="Text 47"/>
          <p:cNvSpPr/>
          <p:nvPr/>
        </p:nvSpPr>
        <p:spPr>
          <a:xfrm>
            <a:off x="850106" y="2946685"/>
            <a:ext cx="3667316" cy="139839"/>
          </a:xfrm>
          <a:prstGeom prst="rect">
            <a:avLst/>
          </a:prstGeom>
          <a:noFill/>
          <a:ln/>
        </p:spPr>
        <p:txBody>
          <a:bodyPr wrap="square" lIns="0" tIns="0" rIns="0" bIns="0" rtlCol="0" anchor="t"/>
          <a:lstStyle/>
          <a:p>
            <a:pPr marL="0" indent="0" algn="l">
              <a:lnSpc>
                <a:spcPts val="1020"/>
              </a:lnSpc>
              <a:buNone/>
            </a:pPr>
            <a:r>
              <a:rPr lang="en-US" sz="816" b="1" kern="0" spc="-4" dirty="0">
                <a:solidFill>
                  <a:srgbClr val="0F2A4A"/>
                </a:solidFill>
                <a:latin typeface="Carlito" pitchFamily="34" charset="0"/>
                <a:ea typeface="Carlito" pitchFamily="34" charset="-122"/>
                <a:cs typeface="Carlito" pitchFamily="34" charset="-120"/>
              </a:rPr>
              <a:t>Reliable reminder &amp; alert delivery</a:t>
            </a:r>
            <a:endParaRPr lang="en-US" sz="816" dirty="0"/>
          </a:p>
        </p:txBody>
      </p:sp>
      <p:sp>
        <p:nvSpPr>
          <p:cNvPr id="50" name="Text 48"/>
          <p:cNvSpPr/>
          <p:nvPr/>
        </p:nvSpPr>
        <p:spPr>
          <a:xfrm>
            <a:off x="550069" y="3133316"/>
            <a:ext cx="3857625" cy="292474"/>
          </a:xfrm>
          <a:prstGeom prst="rect">
            <a:avLst/>
          </a:prstGeom>
          <a:noFill/>
          <a:ln/>
        </p:spPr>
        <p:txBody>
          <a:bodyPr wrap="square" lIns="0" tIns="0" rIns="0" bIns="0" rtlCol="0" anchor="t">
            <a:normAutofit/>
          </a:bodyPr>
          <a:lstStyle/>
          <a:p>
            <a:pPr marL="0" indent="0" algn="l">
              <a:lnSpc>
                <a:spcPts val="979"/>
              </a:lnSpc>
              <a:buNone/>
            </a:pPr>
            <a:r>
              <a:rPr lang="en-US" sz="800" dirty="0">
                <a:solidFill>
                  <a:srgbClr val="4A5A75"/>
                </a:solidFill>
                <a:latin typeface="Carlito" pitchFamily="34" charset="0"/>
                <a:ea typeface="Carlito" pitchFamily="34" charset="-122"/>
                <a:cs typeface="Carlito" pitchFamily="34" charset="-120"/>
              </a:rPr>
              <a:t>Notifications must fire on time across mobile and desktop, and emergency alerts must reach every linked caregiver instantly.</a:t>
            </a:r>
            <a:endParaRPr lang="en-US" sz="800" dirty="0"/>
          </a:p>
        </p:txBody>
      </p:sp>
      <p:sp>
        <p:nvSpPr>
          <p:cNvPr id="51" name="Text 49"/>
          <p:cNvSpPr/>
          <p:nvPr/>
        </p:nvSpPr>
        <p:spPr>
          <a:xfrm>
            <a:off x="550069" y="3453222"/>
            <a:ext cx="3857625" cy="492249"/>
          </a:xfrm>
          <a:prstGeom prst="roundRect">
            <a:avLst>
              <a:gd name="adj" fmla="val 7740"/>
            </a:avLst>
          </a:prstGeom>
          <a:solidFill>
            <a:srgbClr val="C9A227">
              <a:alpha val="8000"/>
            </a:srgbClr>
          </a:solidFill>
          <a:ln/>
        </p:spPr>
        <p:txBody>
          <a:bodyPr wrap="square" rtlCol="0" anchor="ctr"/>
          <a:lstStyle/>
          <a:p>
            <a:pPr marL="0" indent="0">
              <a:buNone/>
            </a:pPr>
            <a:endParaRPr lang="en-US" dirty="0"/>
          </a:p>
        </p:txBody>
      </p:sp>
      <p:sp>
        <p:nvSpPr>
          <p:cNvPr id="52" name="Text 50"/>
          <p:cNvSpPr/>
          <p:nvPr/>
        </p:nvSpPr>
        <p:spPr>
          <a:xfrm>
            <a:off x="764381" y="3524659"/>
            <a:ext cx="834938" cy="95798"/>
          </a:xfrm>
          <a:prstGeom prst="rect">
            <a:avLst/>
          </a:prstGeom>
          <a:noFill/>
          <a:ln/>
        </p:spPr>
        <p:txBody>
          <a:bodyPr wrap="none" lIns="0" tIns="0" rIns="0" bIns="0" rtlCol="0" anchor="t">
            <a:normAutofit fontScale="62500" lnSpcReduction="20000"/>
          </a:bodyPr>
          <a:lstStyle/>
          <a:p>
            <a:pPr marL="0" indent="0" algn="l">
              <a:lnSpc>
                <a:spcPts val="802"/>
              </a:lnSpc>
              <a:buNone/>
            </a:pPr>
            <a:r>
              <a:rPr lang="en-US" sz="800" b="1" kern="0" spc="96" dirty="0">
                <a:solidFill>
                  <a:srgbClr val="8C6F12"/>
                </a:solidFill>
                <a:latin typeface="Carlito" pitchFamily="34" charset="0"/>
                <a:ea typeface="Carlito" pitchFamily="34" charset="-122"/>
                <a:cs typeface="Carlito" pitchFamily="34" charset="-120"/>
              </a:rPr>
              <a:t>RESOLUTION</a:t>
            </a:r>
            <a:endParaRPr lang="en-US" sz="800" dirty="0"/>
          </a:p>
        </p:txBody>
      </p:sp>
      <p:sp>
        <p:nvSpPr>
          <p:cNvPr id="53" name="Text 51"/>
          <p:cNvSpPr/>
          <p:nvPr/>
        </p:nvSpPr>
        <p:spPr>
          <a:xfrm>
            <a:off x="642938" y="3525552"/>
            <a:ext cx="91440" cy="91440"/>
          </a:xfrm>
          <a:prstGeom prst="rect">
            <a:avLst/>
          </a:prstGeom>
          <a:noFill/>
          <a:ln/>
        </p:spPr>
        <p:txBody>
          <a:bodyPr wrap="none" lIns="0" tIns="0" rIns="0" bIns="0" rtlCol="0" anchor="ctr"/>
          <a:lstStyle/>
          <a:p>
            <a:pPr marL="0" indent="0" algn="ctr">
              <a:buNone/>
            </a:pPr>
            <a:r>
              <a:rPr lang="en-US" sz="844" dirty="0">
                <a:solidFill>
                  <a:srgbClr val="8C6F12"/>
                </a:solidFill>
                <a:latin typeface="Segoe UI Symbol" pitchFamily="34" charset="0"/>
                <a:ea typeface="Segoe UI Symbol" pitchFamily="34" charset="-122"/>
                <a:cs typeface="Segoe UI Symbol" pitchFamily="34" charset="-120"/>
              </a:rPr>
              <a:t>◆</a:t>
            </a:r>
            <a:endParaRPr lang="en-US" sz="844" dirty="0"/>
          </a:p>
        </p:txBody>
      </p:sp>
      <p:sp>
        <p:nvSpPr>
          <p:cNvPr id="54" name="Text 52"/>
          <p:cNvSpPr/>
          <p:nvPr/>
        </p:nvSpPr>
        <p:spPr>
          <a:xfrm>
            <a:off x="642938" y="3647889"/>
            <a:ext cx="3686175" cy="233288"/>
          </a:xfrm>
          <a:prstGeom prst="rect">
            <a:avLst/>
          </a:prstGeom>
          <a:noFill/>
          <a:ln/>
        </p:spPr>
        <p:txBody>
          <a:bodyPr wrap="square" lIns="0" tIns="0" rIns="0" bIns="0" rtlCol="0" anchor="t"/>
          <a:lstStyle/>
          <a:p>
            <a:pPr marL="0" indent="0" algn="l">
              <a:lnSpc>
                <a:spcPts val="919"/>
              </a:lnSpc>
              <a:buNone/>
            </a:pPr>
            <a:r>
              <a:rPr lang="en-US" sz="800" dirty="0">
                <a:solidFill>
                  <a:srgbClr val="0F2A4A"/>
                </a:solidFill>
                <a:latin typeface="Carlito" pitchFamily="34" charset="0"/>
                <a:ea typeface="Carlito" pitchFamily="34" charset="-122"/>
                <a:cs typeface="Carlito" pitchFamily="34" charset="-120"/>
              </a:rPr>
              <a:t>Server-side scheduler for reminders; emergency dispatcher fans out parallel alerts via email + in-app, with caregiver acknowledgment tracking.</a:t>
            </a:r>
            <a:endParaRPr lang="en-US" sz="800" dirty="0"/>
          </a:p>
        </p:txBody>
      </p:sp>
      <p:sp>
        <p:nvSpPr>
          <p:cNvPr id="55" name="Text 53"/>
          <p:cNvSpPr/>
          <p:nvPr/>
        </p:nvSpPr>
        <p:spPr>
          <a:xfrm>
            <a:off x="4618434" y="2719871"/>
            <a:ext cx="4093369" cy="1314896"/>
          </a:xfrm>
          <a:prstGeom prst="roundRect">
            <a:avLst>
              <a:gd name="adj" fmla="val 5795"/>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56" name="Text 54"/>
          <p:cNvSpPr/>
          <p:nvPr/>
        </p:nvSpPr>
        <p:spPr>
          <a:xfrm>
            <a:off x="4736306" y="2823456"/>
            <a:ext cx="228600" cy="228600"/>
          </a:xfrm>
          <a:prstGeom prst="roundRect">
            <a:avLst>
              <a:gd name="adj" fmla="val 25000"/>
            </a:avLst>
          </a:prstGeom>
          <a:solidFill>
            <a:srgbClr val="B6432A">
              <a:alpha val="8000"/>
            </a:srgbClr>
          </a:solidFill>
          <a:ln/>
        </p:spPr>
        <p:txBody>
          <a:bodyPr wrap="square" rtlCol="0" anchor="ctr"/>
          <a:lstStyle/>
          <a:p>
            <a:pPr marL="0" indent="0">
              <a:buNone/>
            </a:pPr>
            <a:endParaRPr lang="en-US" dirty="0"/>
          </a:p>
        </p:txBody>
      </p:sp>
      <p:sp>
        <p:nvSpPr>
          <p:cNvPr id="57" name="Text 55"/>
          <p:cNvSpPr/>
          <p:nvPr/>
        </p:nvSpPr>
        <p:spPr>
          <a:xfrm>
            <a:off x="4752201" y="2839350"/>
            <a:ext cx="196810" cy="196810"/>
          </a:xfrm>
          <a:prstGeom prst="rect">
            <a:avLst/>
          </a:prstGeom>
          <a:noFill/>
          <a:ln/>
        </p:spPr>
        <p:txBody>
          <a:bodyPr wrap="none" lIns="0" tIns="0" rIns="0" bIns="0" rtlCol="0" anchor="ctr"/>
          <a:lstStyle/>
          <a:p>
            <a:pPr marL="0" indent="0" algn="ctr">
              <a:buNone/>
            </a:pPr>
            <a:r>
              <a:rPr lang="en-US" sz="1336" dirty="0">
                <a:solidFill>
                  <a:srgbClr val="B6432A"/>
                </a:solidFill>
                <a:latin typeface="Segoe UI Symbol" pitchFamily="34" charset="0"/>
                <a:ea typeface="Segoe UI Symbol" pitchFamily="34" charset="-122"/>
                <a:cs typeface="Segoe UI Symbol" pitchFamily="34" charset="-120"/>
              </a:rPr>
              <a:t>✦</a:t>
            </a:r>
            <a:endParaRPr lang="en-US" sz="1336" dirty="0"/>
          </a:p>
        </p:txBody>
      </p:sp>
      <p:sp>
        <p:nvSpPr>
          <p:cNvPr id="58" name="Text 56"/>
          <p:cNvSpPr/>
          <p:nvPr/>
        </p:nvSpPr>
        <p:spPr>
          <a:xfrm>
            <a:off x="5036344" y="2823456"/>
            <a:ext cx="3557588" cy="95798"/>
          </a:xfrm>
          <a:prstGeom prst="rect">
            <a:avLst/>
          </a:prstGeom>
          <a:noFill/>
          <a:ln/>
        </p:spPr>
        <p:txBody>
          <a:bodyPr wrap="none" lIns="0" tIns="0" rIns="0" bIns="0" rtlCol="0" anchor="t">
            <a:normAutofit fontScale="77500" lnSpcReduction="20000"/>
          </a:bodyPr>
          <a:lstStyle/>
          <a:p>
            <a:pPr marL="0" indent="0" algn="l">
              <a:lnSpc>
                <a:spcPts val="802"/>
              </a:lnSpc>
              <a:buNone/>
            </a:pPr>
            <a:r>
              <a:rPr lang="en-US" sz="800" b="1" kern="0" spc="96" dirty="0">
                <a:solidFill>
                  <a:srgbClr val="7A8AA0"/>
                </a:solidFill>
                <a:latin typeface="Liberation Sans Narrow" pitchFamily="34" charset="0"/>
                <a:ea typeface="Liberation Sans Narrow" pitchFamily="34" charset="-122"/>
                <a:cs typeface="Liberation Sans Narrow" pitchFamily="34" charset="-120"/>
              </a:rPr>
              <a:t>CHALLENGE 04</a:t>
            </a:r>
            <a:endParaRPr lang="en-US" sz="800" dirty="0"/>
          </a:p>
        </p:txBody>
      </p:sp>
      <p:sp>
        <p:nvSpPr>
          <p:cNvPr id="59" name="Text 57"/>
          <p:cNvSpPr/>
          <p:nvPr/>
        </p:nvSpPr>
        <p:spPr>
          <a:xfrm>
            <a:off x="5036344" y="2946685"/>
            <a:ext cx="3667315" cy="139839"/>
          </a:xfrm>
          <a:prstGeom prst="rect">
            <a:avLst/>
          </a:prstGeom>
          <a:noFill/>
          <a:ln/>
        </p:spPr>
        <p:txBody>
          <a:bodyPr wrap="square" lIns="0" tIns="0" rIns="0" bIns="0" rtlCol="0" anchor="t"/>
          <a:lstStyle/>
          <a:p>
            <a:pPr marL="0" indent="0" algn="l">
              <a:lnSpc>
                <a:spcPts val="1020"/>
              </a:lnSpc>
              <a:buNone/>
            </a:pPr>
            <a:r>
              <a:rPr lang="en-US" sz="816" b="1" kern="0" spc="-4" dirty="0">
                <a:solidFill>
                  <a:srgbClr val="0F2A4A"/>
                </a:solidFill>
                <a:latin typeface="Carlito" pitchFamily="34" charset="0"/>
                <a:ea typeface="Carlito" pitchFamily="34" charset="-122"/>
                <a:cs typeface="Carlito" pitchFamily="34" charset="-120"/>
              </a:rPr>
              <a:t>Integrating the AI chatbot safely</a:t>
            </a:r>
            <a:endParaRPr lang="en-US" sz="816" dirty="0"/>
          </a:p>
        </p:txBody>
      </p:sp>
      <p:sp>
        <p:nvSpPr>
          <p:cNvPr id="60" name="Text 58"/>
          <p:cNvSpPr/>
          <p:nvPr/>
        </p:nvSpPr>
        <p:spPr>
          <a:xfrm>
            <a:off x="4736306" y="3133316"/>
            <a:ext cx="3857625" cy="292474"/>
          </a:xfrm>
          <a:prstGeom prst="rect">
            <a:avLst/>
          </a:prstGeom>
          <a:noFill/>
          <a:ln/>
        </p:spPr>
        <p:txBody>
          <a:bodyPr wrap="square" lIns="0" tIns="0" rIns="0" bIns="0" rtlCol="0" anchor="t">
            <a:normAutofit/>
          </a:bodyPr>
          <a:lstStyle/>
          <a:p>
            <a:pPr marL="0" indent="0" algn="l">
              <a:lnSpc>
                <a:spcPts val="979"/>
              </a:lnSpc>
              <a:buNone/>
            </a:pPr>
            <a:r>
              <a:rPr lang="en-US" sz="800" dirty="0">
                <a:solidFill>
                  <a:srgbClr val="4A5A75"/>
                </a:solidFill>
                <a:latin typeface="Carlito" pitchFamily="34" charset="0"/>
                <a:ea typeface="Carlito" pitchFamily="34" charset="-122"/>
                <a:cs typeface="Carlito" pitchFamily="34" charset="-120"/>
              </a:rPr>
              <a:t>An LLM can hallucinate medical advice. We needed plain-language answers without exposing the user to made-up drug facts.</a:t>
            </a:r>
            <a:endParaRPr lang="en-US" sz="800" dirty="0"/>
          </a:p>
        </p:txBody>
      </p:sp>
      <p:sp>
        <p:nvSpPr>
          <p:cNvPr id="61" name="Text 59"/>
          <p:cNvSpPr/>
          <p:nvPr/>
        </p:nvSpPr>
        <p:spPr>
          <a:xfrm>
            <a:off x="4736306" y="3453222"/>
            <a:ext cx="3857625" cy="492249"/>
          </a:xfrm>
          <a:prstGeom prst="roundRect">
            <a:avLst>
              <a:gd name="adj" fmla="val 7740"/>
            </a:avLst>
          </a:prstGeom>
          <a:solidFill>
            <a:srgbClr val="C9A227">
              <a:alpha val="8000"/>
            </a:srgbClr>
          </a:solidFill>
          <a:ln/>
        </p:spPr>
        <p:txBody>
          <a:bodyPr wrap="square" rtlCol="0" anchor="ctr"/>
          <a:lstStyle/>
          <a:p>
            <a:pPr marL="0" indent="0">
              <a:buNone/>
            </a:pPr>
            <a:endParaRPr lang="en-US" dirty="0"/>
          </a:p>
        </p:txBody>
      </p:sp>
      <p:sp>
        <p:nvSpPr>
          <p:cNvPr id="62" name="Text 60"/>
          <p:cNvSpPr/>
          <p:nvPr/>
        </p:nvSpPr>
        <p:spPr>
          <a:xfrm>
            <a:off x="4950619" y="3524659"/>
            <a:ext cx="834938" cy="95798"/>
          </a:xfrm>
          <a:prstGeom prst="rect">
            <a:avLst/>
          </a:prstGeom>
          <a:noFill/>
          <a:ln/>
        </p:spPr>
        <p:txBody>
          <a:bodyPr wrap="none" lIns="0" tIns="0" rIns="0" bIns="0" rtlCol="0" anchor="t">
            <a:normAutofit fontScale="62500" lnSpcReduction="20000"/>
          </a:bodyPr>
          <a:lstStyle/>
          <a:p>
            <a:pPr marL="0" indent="0" algn="l">
              <a:lnSpc>
                <a:spcPts val="802"/>
              </a:lnSpc>
              <a:buNone/>
            </a:pPr>
            <a:r>
              <a:rPr lang="en-US" sz="800" b="1" kern="0" spc="96" dirty="0">
                <a:solidFill>
                  <a:srgbClr val="8C6F12"/>
                </a:solidFill>
                <a:latin typeface="Carlito" pitchFamily="34" charset="0"/>
                <a:ea typeface="Carlito" pitchFamily="34" charset="-122"/>
                <a:cs typeface="Carlito" pitchFamily="34" charset="-120"/>
              </a:rPr>
              <a:t>RESOLUTION</a:t>
            </a:r>
            <a:endParaRPr lang="en-US" sz="800" dirty="0"/>
          </a:p>
        </p:txBody>
      </p:sp>
      <p:sp>
        <p:nvSpPr>
          <p:cNvPr id="63" name="Text 61"/>
          <p:cNvSpPr/>
          <p:nvPr/>
        </p:nvSpPr>
        <p:spPr>
          <a:xfrm>
            <a:off x="4829175" y="3525552"/>
            <a:ext cx="91440" cy="91440"/>
          </a:xfrm>
          <a:prstGeom prst="rect">
            <a:avLst/>
          </a:prstGeom>
          <a:noFill/>
          <a:ln/>
        </p:spPr>
        <p:txBody>
          <a:bodyPr wrap="none" lIns="0" tIns="0" rIns="0" bIns="0" rtlCol="0" anchor="ctr"/>
          <a:lstStyle/>
          <a:p>
            <a:pPr marL="0" indent="0" algn="ctr">
              <a:buNone/>
            </a:pPr>
            <a:r>
              <a:rPr lang="en-US" sz="844" dirty="0">
                <a:solidFill>
                  <a:srgbClr val="8C6F12"/>
                </a:solidFill>
                <a:latin typeface="Segoe UI Symbol" pitchFamily="34" charset="0"/>
                <a:ea typeface="Segoe UI Symbol" pitchFamily="34" charset="-122"/>
                <a:cs typeface="Segoe UI Symbol" pitchFamily="34" charset="-120"/>
              </a:rPr>
              <a:t>◆</a:t>
            </a:r>
            <a:endParaRPr lang="en-US" sz="844" dirty="0"/>
          </a:p>
        </p:txBody>
      </p:sp>
      <p:sp>
        <p:nvSpPr>
          <p:cNvPr id="64" name="Text 62"/>
          <p:cNvSpPr/>
          <p:nvPr/>
        </p:nvSpPr>
        <p:spPr>
          <a:xfrm>
            <a:off x="4829175" y="3647889"/>
            <a:ext cx="3686175" cy="233288"/>
          </a:xfrm>
          <a:prstGeom prst="rect">
            <a:avLst/>
          </a:prstGeom>
          <a:noFill/>
          <a:ln/>
        </p:spPr>
        <p:txBody>
          <a:bodyPr wrap="square" lIns="0" tIns="0" rIns="0" bIns="0" rtlCol="0" anchor="t"/>
          <a:lstStyle/>
          <a:p>
            <a:pPr marL="0" indent="0" algn="l">
              <a:lnSpc>
                <a:spcPts val="919"/>
              </a:lnSpc>
              <a:buNone/>
            </a:pPr>
            <a:r>
              <a:rPr lang="en-US" sz="800" dirty="0">
                <a:solidFill>
                  <a:srgbClr val="0F2A4A"/>
                </a:solidFill>
                <a:latin typeface="Carlito" pitchFamily="34" charset="0"/>
                <a:ea typeface="Carlito" pitchFamily="34" charset="-122"/>
                <a:cs typeface="Carlito" pitchFamily="34" charset="-120"/>
              </a:rPr>
              <a:t>Constrained prompts with a strict system instruction: answer only about medications &amp; interactions, in plain language, and surface a disclaimer for anything outside scope.</a:t>
            </a:r>
            <a:endParaRPr lang="en-US" sz="800" dirty="0"/>
          </a:p>
        </p:txBody>
      </p:sp>
      <p:sp>
        <p:nvSpPr>
          <p:cNvPr id="65" name="Text 63"/>
          <p:cNvSpPr/>
          <p:nvPr/>
        </p:nvSpPr>
        <p:spPr>
          <a:xfrm>
            <a:off x="428625" y="4138352"/>
            <a:ext cx="8286750" cy="307181"/>
          </a:xfrm>
          <a:prstGeom prst="roundRect">
            <a:avLst>
              <a:gd name="adj" fmla="val 18605"/>
            </a:avLst>
          </a:prstGeom>
          <a:solidFill>
            <a:srgbClr val="0F2A4A"/>
          </a:solidFill>
          <a:ln/>
        </p:spPr>
        <p:txBody>
          <a:bodyPr wrap="square" rtlCol="0" anchor="ctr"/>
          <a:lstStyle/>
          <a:p>
            <a:pPr marL="0" indent="0">
              <a:buNone/>
            </a:pPr>
            <a:endParaRPr lang="en-US" dirty="0"/>
          </a:p>
        </p:txBody>
      </p:sp>
      <p:sp>
        <p:nvSpPr>
          <p:cNvPr id="66" name="Text 64"/>
          <p:cNvSpPr/>
          <p:nvPr/>
        </p:nvSpPr>
        <p:spPr>
          <a:xfrm>
            <a:off x="428625" y="4138352"/>
            <a:ext cx="8286750" cy="331756"/>
          </a:xfrm>
          <a:prstGeom prst="rect">
            <a:avLst/>
          </a:prstGeom>
          <a:noFill/>
          <a:ln/>
        </p:spPr>
        <p:txBody>
          <a:bodyPr wrap="square" lIns="128588" tIns="78581" rIns="128588" bIns="78581" rtlCol="0" anchor="t"/>
          <a:lstStyle/>
          <a:p>
            <a:pPr marL="0" indent="0" algn="ctr">
              <a:lnSpc>
                <a:spcPts val="1181"/>
              </a:lnSpc>
              <a:buNone/>
            </a:pPr>
            <a:r>
              <a:rPr lang="en-US" sz="844" i="1" kern="0" spc="4" dirty="0">
                <a:solidFill>
                  <a:srgbClr val="E6C75A"/>
                </a:solidFill>
                <a:latin typeface="Segoe UI Symbol" pitchFamily="34" charset="0"/>
                <a:ea typeface="Segoe UI Symbol" pitchFamily="34" charset="-122"/>
                <a:cs typeface="Segoe UI Symbol" pitchFamily="34" charset="-120"/>
              </a:rPr>
              <a:t>→</a:t>
            </a:r>
            <a:r>
              <a:rPr lang="en-US" sz="844" i="1" kern="0" spc="4" dirty="0">
                <a:solidFill>
                  <a:srgbClr val="FFFFFF"/>
                </a:solidFill>
                <a:latin typeface="Tinos" pitchFamily="34" charset="0"/>
                <a:ea typeface="Tinos" pitchFamily="34" charset="-122"/>
                <a:cs typeface="Tinos" pitchFamily="34" charset="-120"/>
              </a:rPr>
              <a:t>Every challenge became a design rule that survives in v1.0.</a:t>
            </a:r>
            <a:endParaRPr lang="en-US" sz="844" dirty="0"/>
          </a:p>
        </p:txBody>
      </p:sp>
      <p:sp>
        <p:nvSpPr>
          <p:cNvPr id="67" name="Text 65"/>
          <p:cNvSpPr/>
          <p:nvPr/>
        </p:nvSpPr>
        <p:spPr>
          <a:xfrm>
            <a:off x="514350" y="4868466"/>
            <a:ext cx="7604299"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68" name="Text 66"/>
          <p:cNvSpPr/>
          <p:nvPr/>
        </p:nvSpPr>
        <p:spPr>
          <a:xfrm>
            <a:off x="8132936" y="4868466"/>
            <a:ext cx="496714"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Challenges</a:t>
            </a:r>
            <a:endParaRPr lang="en-US" sz="8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428625" y="489347"/>
            <a:ext cx="8286750" cy="0"/>
          </a:xfrm>
          <a:prstGeom prst="line">
            <a:avLst/>
          </a:prstGeom>
          <a:noFill/>
          <a:ln w="7144">
            <a:solidFill>
              <a:srgbClr val="D9D2BC"/>
            </a:solidFill>
            <a:prstDash val="solid"/>
          </a:ln>
        </p:spPr>
      </p:sp>
      <p:sp>
        <p:nvSpPr>
          <p:cNvPr id="3" name="Shape 1"/>
          <p:cNvSpPr/>
          <p:nvPr/>
        </p:nvSpPr>
        <p:spPr>
          <a:xfrm>
            <a:off x="428625" y="692944"/>
            <a:ext cx="100013" cy="0"/>
          </a:xfrm>
          <a:prstGeom prst="line">
            <a:avLst/>
          </a:prstGeom>
          <a:noFill/>
          <a:ln w="14288">
            <a:solidFill>
              <a:srgbClr val="C9A227"/>
            </a:solidFill>
            <a:prstDash val="solid"/>
          </a:ln>
        </p:spPr>
      </p:sp>
      <p:sp>
        <p:nvSpPr>
          <p:cNvPr id="4" name="Shape 2"/>
          <p:cNvSpPr/>
          <p:nvPr/>
        </p:nvSpPr>
        <p:spPr>
          <a:xfrm>
            <a:off x="435769" y="685800"/>
            <a:ext cx="0" cy="100013"/>
          </a:xfrm>
          <a:prstGeom prst="line">
            <a:avLst/>
          </a:prstGeom>
          <a:noFill/>
          <a:ln w="14288">
            <a:solidFill>
              <a:srgbClr val="C9A227"/>
            </a:solidFill>
            <a:prstDash val="solid"/>
          </a:ln>
        </p:spPr>
      </p:sp>
      <p:sp>
        <p:nvSpPr>
          <p:cNvPr id="5" name="Shape 3"/>
          <p:cNvSpPr/>
          <p:nvPr/>
        </p:nvSpPr>
        <p:spPr>
          <a:xfrm>
            <a:off x="8615363" y="692944"/>
            <a:ext cx="100013" cy="0"/>
          </a:xfrm>
          <a:prstGeom prst="line">
            <a:avLst/>
          </a:prstGeom>
          <a:noFill/>
          <a:ln w="14288">
            <a:solidFill>
              <a:srgbClr val="C9A227"/>
            </a:solidFill>
            <a:prstDash val="solid"/>
          </a:ln>
        </p:spPr>
      </p:sp>
      <p:sp>
        <p:nvSpPr>
          <p:cNvPr id="6" name="Shape 4"/>
          <p:cNvSpPr/>
          <p:nvPr/>
        </p:nvSpPr>
        <p:spPr>
          <a:xfrm>
            <a:off x="8708231" y="685800"/>
            <a:ext cx="0" cy="100013"/>
          </a:xfrm>
          <a:prstGeom prst="line">
            <a:avLst/>
          </a:prstGeom>
          <a:noFill/>
          <a:ln w="14288">
            <a:solidFill>
              <a:srgbClr val="C9A227"/>
            </a:solidFill>
            <a:prstDash val="solid"/>
          </a:ln>
        </p:spPr>
      </p:sp>
      <p:sp>
        <p:nvSpPr>
          <p:cNvPr id="7" name="Shape 5"/>
          <p:cNvSpPr/>
          <p:nvPr/>
        </p:nvSpPr>
        <p:spPr>
          <a:xfrm>
            <a:off x="514350" y="4793456"/>
            <a:ext cx="8115300" cy="0"/>
          </a:xfrm>
          <a:prstGeom prst="line">
            <a:avLst/>
          </a:prstGeom>
          <a:noFill/>
          <a:ln w="7144">
            <a:solidFill>
              <a:srgbClr val="D9D2BC"/>
            </a:solidFill>
            <a:prstDash val="solid"/>
          </a:ln>
        </p:spPr>
      </p:sp>
      <p:sp>
        <p:nvSpPr>
          <p:cNvPr id="8" name="Text 6"/>
          <p:cNvSpPr/>
          <p:nvPr/>
        </p:nvSpPr>
        <p:spPr>
          <a:xfrm>
            <a:off x="428625" y="257175"/>
            <a:ext cx="785109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09 · CONCLUSION</a:t>
            </a:r>
            <a:endParaRPr lang="en-US" sz="800" dirty="0"/>
          </a:p>
        </p:txBody>
      </p:sp>
      <p:sp>
        <p:nvSpPr>
          <p:cNvPr id="9" name="Text 7"/>
          <p:cNvSpPr/>
          <p:nvPr/>
        </p:nvSpPr>
        <p:spPr>
          <a:xfrm>
            <a:off x="8294005" y="257175"/>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18 / 21</a:t>
            </a:r>
            <a:endParaRPr lang="en-US" sz="800" dirty="0"/>
          </a:p>
        </p:txBody>
      </p:sp>
      <p:sp>
        <p:nvSpPr>
          <p:cNvPr id="10" name="Text 8"/>
          <p:cNvSpPr/>
          <p:nvPr/>
        </p:nvSpPr>
        <p:spPr>
          <a:xfrm>
            <a:off x="3764555" y="809315"/>
            <a:ext cx="1614889" cy="228029"/>
          </a:xfrm>
          <a:prstGeom prst="roundRect">
            <a:avLst>
              <a:gd name="adj" fmla="val 4172923"/>
            </a:avLst>
          </a:prstGeom>
          <a:solidFill>
            <a:srgbClr val="C9A227">
              <a:alpha val="10000"/>
            </a:srgbClr>
          </a:solidFill>
          <a:ln w="7144">
            <a:solidFill>
              <a:srgbClr val="C9A227"/>
            </a:solidFill>
            <a:prstDash val="solid"/>
          </a:ln>
        </p:spPr>
        <p:txBody>
          <a:bodyPr wrap="square" rtlCol="0" anchor="ctr"/>
          <a:lstStyle/>
          <a:p>
            <a:pPr marL="0" indent="0">
              <a:buNone/>
            </a:pPr>
            <a:endParaRPr lang="en-US" dirty="0"/>
          </a:p>
        </p:txBody>
      </p:sp>
      <p:sp>
        <p:nvSpPr>
          <p:cNvPr id="11" name="Text 9"/>
          <p:cNvSpPr/>
          <p:nvPr/>
        </p:nvSpPr>
        <p:spPr>
          <a:xfrm>
            <a:off x="3787415" y="821531"/>
            <a:ext cx="1569169" cy="203597"/>
          </a:xfrm>
          <a:prstGeom prst="rect">
            <a:avLst/>
          </a:prstGeom>
          <a:noFill/>
          <a:ln/>
        </p:spPr>
        <p:txBody>
          <a:bodyPr wrap="none" lIns="0" tIns="0" rIns="0" bIns="0" rtlCol="0" anchor="ctr"/>
          <a:lstStyle/>
          <a:p>
            <a:pPr marL="0" indent="0" algn="ctr">
              <a:lnSpc>
                <a:spcPts val="928"/>
              </a:lnSpc>
              <a:buNone/>
            </a:pPr>
            <a:r>
              <a:rPr lang="en-US" sz="800" b="1" kern="0" spc="173" dirty="0">
                <a:solidFill>
                  <a:srgbClr val="8C6F12"/>
                </a:solidFill>
                <a:latin typeface="Carlito" pitchFamily="34" charset="0"/>
                <a:ea typeface="Carlito" pitchFamily="34" charset="-122"/>
                <a:cs typeface="Carlito" pitchFamily="34" charset="-120"/>
              </a:rPr>
              <a:t>WHAT WE ACHIEVED</a:t>
            </a:r>
            <a:endParaRPr lang="en-US" sz="800" dirty="0"/>
          </a:p>
        </p:txBody>
      </p:sp>
      <p:sp>
        <p:nvSpPr>
          <p:cNvPr id="12" name="Text 10"/>
          <p:cNvSpPr/>
          <p:nvPr/>
        </p:nvSpPr>
        <p:spPr>
          <a:xfrm>
            <a:off x="274320" y="1139428"/>
            <a:ext cx="8595360" cy="655314"/>
          </a:xfrm>
          <a:prstGeom prst="rect">
            <a:avLst/>
          </a:prstGeom>
          <a:noFill/>
          <a:ln/>
        </p:spPr>
        <p:txBody>
          <a:bodyPr wrap="square" lIns="0" tIns="0" rIns="0" bIns="0" rtlCol="0" anchor="t"/>
          <a:lstStyle/>
          <a:p>
            <a:pPr marL="0" indent="0" algn="ctr">
              <a:lnSpc>
                <a:spcPts val="2390"/>
              </a:lnSpc>
              <a:buNone/>
            </a:pPr>
            <a:r>
              <a:rPr lang="en-US" sz="2025" b="1" kern="0" spc="-30" dirty="0">
                <a:solidFill>
                  <a:srgbClr val="0F2A4A"/>
                </a:solidFill>
                <a:latin typeface="Tinos" pitchFamily="34" charset="0"/>
                <a:ea typeface="Tinos" pitchFamily="34" charset="-122"/>
                <a:cs typeface="Tinos" pitchFamily="34" charset="-120"/>
              </a:rPr>
              <a:t>MedWise delivered a connected, deployed, elderly-first medication safety platform.</a:t>
            </a:r>
            <a:endParaRPr lang="en-US" sz="2025" dirty="0"/>
          </a:p>
        </p:txBody>
      </p:sp>
      <p:sp>
        <p:nvSpPr>
          <p:cNvPr id="13" name="Text 11"/>
          <p:cNvSpPr/>
          <p:nvPr/>
        </p:nvSpPr>
        <p:spPr>
          <a:xfrm>
            <a:off x="4286250" y="1846213"/>
            <a:ext cx="57150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14" name="Text 12"/>
          <p:cNvSpPr/>
          <p:nvPr/>
        </p:nvSpPr>
        <p:spPr>
          <a:xfrm>
            <a:off x="1428750" y="1981944"/>
            <a:ext cx="6286500" cy="740664"/>
          </a:xfrm>
          <a:prstGeom prst="rect">
            <a:avLst/>
          </a:prstGeom>
          <a:noFill/>
          <a:ln/>
        </p:spPr>
        <p:txBody>
          <a:bodyPr wrap="square" lIns="0" tIns="0" rIns="0" bIns="0" rtlCol="0" anchor="t"/>
          <a:lstStyle/>
          <a:p>
            <a:pPr marL="0" indent="0" algn="ctr">
              <a:lnSpc>
                <a:spcPts val="1350"/>
              </a:lnSpc>
              <a:buNone/>
            </a:pPr>
            <a:r>
              <a:rPr lang="en-US" sz="844" dirty="0">
                <a:solidFill>
                  <a:srgbClr val="0F2A4A"/>
                </a:solidFill>
                <a:latin typeface="Carlito" pitchFamily="34" charset="0"/>
                <a:ea typeface="Carlito" pitchFamily="34" charset="-122"/>
                <a:cs typeface="Carlito" pitchFamily="34" charset="-120"/>
              </a:rPr>
              <a:t>Across twelve weeks, the team turned a requirements document into a live, deployed web application that meets all 29 functional requirements. MedWise unifies six capabilities — medication tracking, interaction safety, smart reminders, caregiver monitoring, emergency response, and AI guidance — that previously lived in scattered tools. It is currently accessible at medwise.runasp.net and was validated against an elderly user in a real-world test.</a:t>
            </a:r>
            <a:endParaRPr lang="en-US" sz="844" dirty="0"/>
          </a:p>
        </p:txBody>
      </p:sp>
      <p:sp>
        <p:nvSpPr>
          <p:cNvPr id="15" name="Text 13"/>
          <p:cNvSpPr/>
          <p:nvPr/>
        </p:nvSpPr>
        <p:spPr>
          <a:xfrm>
            <a:off x="1075134" y="2799904"/>
            <a:ext cx="2250281" cy="1053926"/>
          </a:xfrm>
          <a:prstGeom prst="roundRect">
            <a:avLst>
              <a:gd name="adj" fmla="val 7230"/>
            </a:avLst>
          </a:prstGeom>
          <a:solidFill>
            <a:srgbClr val="F2EEE3"/>
          </a:solidFill>
          <a:ln w="7144">
            <a:solidFill>
              <a:srgbClr val="D9D2BC"/>
            </a:solidFill>
            <a:prstDash val="solid"/>
          </a:ln>
        </p:spPr>
        <p:txBody>
          <a:bodyPr wrap="square" rtlCol="0" anchor="ctr"/>
          <a:lstStyle/>
          <a:p>
            <a:pPr marL="0" indent="0">
              <a:buNone/>
            </a:pPr>
            <a:endParaRPr lang="en-US" dirty="0"/>
          </a:p>
        </p:txBody>
      </p:sp>
      <p:sp>
        <p:nvSpPr>
          <p:cNvPr id="16" name="Text 14"/>
          <p:cNvSpPr/>
          <p:nvPr/>
        </p:nvSpPr>
        <p:spPr>
          <a:xfrm>
            <a:off x="2100263" y="2917775"/>
            <a:ext cx="200025" cy="200025"/>
          </a:xfrm>
          <a:prstGeom prst="rect">
            <a:avLst/>
          </a:prstGeom>
          <a:noFill/>
          <a:ln/>
        </p:spPr>
        <p:txBody>
          <a:bodyPr wrap="none" lIns="0" tIns="0" rIns="0" bIns="0" rtlCol="0" anchor="ctr"/>
          <a:lstStyle/>
          <a:p>
            <a:pPr marL="0" indent="0" algn="ctr">
              <a:buNone/>
            </a:pPr>
            <a:r>
              <a:rPr lang="en-US" sz="1969" dirty="0">
                <a:solidFill>
                  <a:srgbClr val="C9A227"/>
                </a:solidFill>
                <a:latin typeface="Segoe UI Symbol" pitchFamily="34" charset="0"/>
                <a:ea typeface="Segoe UI Symbol" pitchFamily="34" charset="-122"/>
                <a:cs typeface="Segoe UI Symbol" pitchFamily="34" charset="-120"/>
              </a:rPr>
              <a:t>✓</a:t>
            </a:r>
            <a:endParaRPr lang="en-US" sz="1969" dirty="0"/>
          </a:p>
        </p:txBody>
      </p:sp>
      <p:sp>
        <p:nvSpPr>
          <p:cNvPr id="17" name="Text 15"/>
          <p:cNvSpPr/>
          <p:nvPr/>
        </p:nvSpPr>
        <p:spPr>
          <a:xfrm>
            <a:off x="1193006" y="3160663"/>
            <a:ext cx="2014538" cy="126159"/>
          </a:xfrm>
          <a:prstGeom prst="rect">
            <a:avLst/>
          </a:prstGeom>
          <a:noFill/>
          <a:ln/>
        </p:spPr>
        <p:txBody>
          <a:bodyPr wrap="none" lIns="0" tIns="0" rIns="0" bIns="0" rtlCol="0" anchor="t">
            <a:normAutofit/>
          </a:bodyPr>
          <a:lstStyle/>
          <a:p>
            <a:pPr marL="0" indent="0" algn="ctr">
              <a:lnSpc>
                <a:spcPts val="759"/>
              </a:lnSpc>
              <a:buNone/>
            </a:pPr>
            <a:r>
              <a:rPr lang="en-US" sz="800" b="1" kern="0" spc="91" dirty="0">
                <a:solidFill>
                  <a:srgbClr val="8C6F12"/>
                </a:solidFill>
                <a:latin typeface="Liberation Sans Narrow" pitchFamily="34" charset="0"/>
                <a:ea typeface="Liberation Sans Narrow" pitchFamily="34" charset="-122"/>
                <a:cs typeface="Liberation Sans Narrow" pitchFamily="34" charset="-120"/>
              </a:rPr>
              <a:t>PILLAR 01</a:t>
            </a:r>
            <a:endParaRPr lang="en-US" sz="800" dirty="0"/>
          </a:p>
        </p:txBody>
      </p:sp>
      <p:sp>
        <p:nvSpPr>
          <p:cNvPr id="18" name="Text 16"/>
          <p:cNvSpPr/>
          <p:nvPr/>
        </p:nvSpPr>
        <p:spPr>
          <a:xfrm>
            <a:off x="1193006" y="3314254"/>
            <a:ext cx="2014538" cy="160091"/>
          </a:xfrm>
          <a:prstGeom prst="rect">
            <a:avLst/>
          </a:prstGeom>
          <a:noFill/>
          <a:ln/>
        </p:spPr>
        <p:txBody>
          <a:bodyPr wrap="none" lIns="0" tIns="0" rIns="0" bIns="0" rtlCol="0" anchor="t">
            <a:normAutofit/>
          </a:bodyPr>
          <a:lstStyle/>
          <a:p>
            <a:pPr marL="0" indent="0" algn="ctr">
              <a:lnSpc>
                <a:spcPts val="1139"/>
              </a:lnSpc>
              <a:buNone/>
            </a:pPr>
            <a:r>
              <a:rPr lang="en-US" sz="800" b="1" kern="0" spc="46" dirty="0">
                <a:solidFill>
                  <a:srgbClr val="0F2A4A"/>
                </a:solidFill>
                <a:latin typeface="Carlito" pitchFamily="34" charset="0"/>
                <a:ea typeface="Carlito" pitchFamily="34" charset="-122"/>
                <a:cs typeface="Carlito" pitchFamily="34" charset="-120"/>
              </a:rPr>
              <a:t>COMPLETE</a:t>
            </a:r>
            <a:endParaRPr lang="en-US" sz="800" dirty="0"/>
          </a:p>
        </p:txBody>
      </p:sp>
      <p:sp>
        <p:nvSpPr>
          <p:cNvPr id="19" name="Text 17"/>
          <p:cNvSpPr/>
          <p:nvPr/>
        </p:nvSpPr>
        <p:spPr>
          <a:xfrm>
            <a:off x="1193006" y="3501777"/>
            <a:ext cx="2095119" cy="159020"/>
          </a:xfrm>
          <a:prstGeom prst="rect">
            <a:avLst/>
          </a:prstGeom>
          <a:noFill/>
          <a:ln/>
        </p:spPr>
        <p:txBody>
          <a:bodyPr wrap="square" lIns="0" tIns="0" rIns="0" bIns="0" rtlCol="0" anchor="t"/>
          <a:lstStyle/>
          <a:p>
            <a:pPr marL="0" indent="0" algn="ctr">
              <a:lnSpc>
                <a:spcPts val="979"/>
              </a:lnSpc>
              <a:buNone/>
            </a:pPr>
            <a:r>
              <a:rPr lang="en-US" sz="800" dirty="0">
                <a:solidFill>
                  <a:srgbClr val="4A5A75"/>
                </a:solidFill>
                <a:latin typeface="Carlito" pitchFamily="34" charset="0"/>
                <a:ea typeface="Carlito" pitchFamily="34" charset="-122"/>
                <a:cs typeface="Carlito" pitchFamily="34" charset="-120"/>
              </a:rPr>
              <a:t>All 29 FRs passed; 6 modules shipped in v1.0.</a:t>
            </a:r>
            <a:endParaRPr lang="en-US" sz="800" dirty="0"/>
          </a:p>
        </p:txBody>
      </p:sp>
      <p:sp>
        <p:nvSpPr>
          <p:cNvPr id="20" name="Text 18"/>
          <p:cNvSpPr/>
          <p:nvPr/>
        </p:nvSpPr>
        <p:spPr>
          <a:xfrm>
            <a:off x="3446859" y="2799904"/>
            <a:ext cx="2250281" cy="1053926"/>
          </a:xfrm>
          <a:prstGeom prst="roundRect">
            <a:avLst>
              <a:gd name="adj" fmla="val 7230"/>
            </a:avLst>
          </a:prstGeom>
          <a:solidFill>
            <a:srgbClr val="F2EEE3"/>
          </a:solidFill>
          <a:ln w="7144">
            <a:solidFill>
              <a:srgbClr val="D9D2BC"/>
            </a:solidFill>
            <a:prstDash val="solid"/>
          </a:ln>
        </p:spPr>
        <p:txBody>
          <a:bodyPr wrap="square" rtlCol="0" anchor="ctr"/>
          <a:lstStyle/>
          <a:p>
            <a:pPr marL="0" indent="0">
              <a:buNone/>
            </a:pPr>
            <a:endParaRPr lang="en-US" dirty="0"/>
          </a:p>
        </p:txBody>
      </p:sp>
      <p:sp>
        <p:nvSpPr>
          <p:cNvPr id="21" name="Text 19"/>
          <p:cNvSpPr/>
          <p:nvPr/>
        </p:nvSpPr>
        <p:spPr>
          <a:xfrm>
            <a:off x="4471988" y="2917775"/>
            <a:ext cx="200025" cy="200025"/>
          </a:xfrm>
          <a:prstGeom prst="rect">
            <a:avLst/>
          </a:prstGeom>
          <a:noFill/>
          <a:ln/>
        </p:spPr>
        <p:txBody>
          <a:bodyPr wrap="none" lIns="0" tIns="0" rIns="0" bIns="0" rtlCol="0" anchor="ctr"/>
          <a:lstStyle/>
          <a:p>
            <a:pPr marL="0" indent="0" algn="ctr">
              <a:buNone/>
            </a:pPr>
            <a:r>
              <a:rPr lang="en-US" sz="1969" dirty="0">
                <a:solidFill>
                  <a:srgbClr val="C9A227"/>
                </a:solidFill>
                <a:latin typeface="Segoe UI Symbol" pitchFamily="34" charset="0"/>
                <a:ea typeface="Segoe UI Symbol" pitchFamily="34" charset="-122"/>
                <a:cs typeface="Segoe UI Symbol" pitchFamily="34" charset="-120"/>
              </a:rPr>
              <a:t>◯</a:t>
            </a:r>
            <a:endParaRPr lang="en-US" sz="1969" dirty="0"/>
          </a:p>
        </p:txBody>
      </p:sp>
      <p:sp>
        <p:nvSpPr>
          <p:cNvPr id="22" name="Text 20"/>
          <p:cNvSpPr/>
          <p:nvPr/>
        </p:nvSpPr>
        <p:spPr>
          <a:xfrm>
            <a:off x="3564731" y="3160663"/>
            <a:ext cx="2014538" cy="126159"/>
          </a:xfrm>
          <a:prstGeom prst="rect">
            <a:avLst/>
          </a:prstGeom>
          <a:noFill/>
          <a:ln/>
        </p:spPr>
        <p:txBody>
          <a:bodyPr wrap="none" lIns="0" tIns="0" rIns="0" bIns="0" rtlCol="0" anchor="t">
            <a:normAutofit/>
          </a:bodyPr>
          <a:lstStyle/>
          <a:p>
            <a:pPr marL="0" indent="0" algn="ctr">
              <a:lnSpc>
                <a:spcPts val="759"/>
              </a:lnSpc>
              <a:buNone/>
            </a:pPr>
            <a:r>
              <a:rPr lang="en-US" sz="800" b="1" kern="0" spc="91" dirty="0">
                <a:solidFill>
                  <a:srgbClr val="8C6F12"/>
                </a:solidFill>
                <a:latin typeface="Liberation Sans Narrow" pitchFamily="34" charset="0"/>
                <a:ea typeface="Liberation Sans Narrow" pitchFamily="34" charset="-122"/>
                <a:cs typeface="Liberation Sans Narrow" pitchFamily="34" charset="-120"/>
              </a:rPr>
              <a:t>PILLAR 02</a:t>
            </a:r>
            <a:endParaRPr lang="en-US" sz="800" dirty="0"/>
          </a:p>
        </p:txBody>
      </p:sp>
      <p:sp>
        <p:nvSpPr>
          <p:cNvPr id="23" name="Text 21"/>
          <p:cNvSpPr/>
          <p:nvPr/>
        </p:nvSpPr>
        <p:spPr>
          <a:xfrm>
            <a:off x="3564731" y="3314254"/>
            <a:ext cx="2014538" cy="160091"/>
          </a:xfrm>
          <a:prstGeom prst="rect">
            <a:avLst/>
          </a:prstGeom>
          <a:noFill/>
          <a:ln/>
        </p:spPr>
        <p:txBody>
          <a:bodyPr wrap="none" lIns="0" tIns="0" rIns="0" bIns="0" rtlCol="0" anchor="t">
            <a:normAutofit/>
          </a:bodyPr>
          <a:lstStyle/>
          <a:p>
            <a:pPr marL="0" indent="0" algn="ctr">
              <a:lnSpc>
                <a:spcPts val="1139"/>
              </a:lnSpc>
              <a:buNone/>
            </a:pPr>
            <a:r>
              <a:rPr lang="en-US" sz="800" b="1" kern="0" spc="46" dirty="0">
                <a:solidFill>
                  <a:srgbClr val="0F2A4A"/>
                </a:solidFill>
                <a:latin typeface="Carlito" pitchFamily="34" charset="0"/>
                <a:ea typeface="Carlito" pitchFamily="34" charset="-122"/>
                <a:cs typeface="Carlito" pitchFamily="34" charset="-120"/>
              </a:rPr>
              <a:t>DEPLOYED</a:t>
            </a:r>
            <a:endParaRPr lang="en-US" sz="800" dirty="0"/>
          </a:p>
        </p:txBody>
      </p:sp>
      <p:sp>
        <p:nvSpPr>
          <p:cNvPr id="24" name="Text 22"/>
          <p:cNvSpPr/>
          <p:nvPr/>
        </p:nvSpPr>
        <p:spPr>
          <a:xfrm>
            <a:off x="3564731" y="3501777"/>
            <a:ext cx="2014538" cy="248469"/>
          </a:xfrm>
          <a:prstGeom prst="rect">
            <a:avLst/>
          </a:prstGeom>
          <a:noFill/>
          <a:ln/>
        </p:spPr>
        <p:txBody>
          <a:bodyPr wrap="square" lIns="0" tIns="0" rIns="0" bIns="0" rtlCol="0" anchor="t"/>
          <a:lstStyle/>
          <a:p>
            <a:pPr marL="0" indent="0" algn="ctr">
              <a:lnSpc>
                <a:spcPts val="979"/>
              </a:lnSpc>
              <a:buNone/>
            </a:pPr>
            <a:r>
              <a:rPr lang="en-US" sz="800" dirty="0">
                <a:solidFill>
                  <a:srgbClr val="4A5A75"/>
                </a:solidFill>
                <a:latin typeface="Carlito" pitchFamily="34" charset="0"/>
                <a:ea typeface="Carlito" pitchFamily="34" charset="-122"/>
                <a:cs typeface="Carlito" pitchFamily="34" charset="-120"/>
              </a:rPr>
              <a:t>Live at medwise.runasp.net; accessible on mobile, tablet, desktop.</a:t>
            </a:r>
            <a:endParaRPr lang="en-US" sz="800" dirty="0"/>
          </a:p>
        </p:txBody>
      </p:sp>
      <p:sp>
        <p:nvSpPr>
          <p:cNvPr id="25" name="Text 23"/>
          <p:cNvSpPr/>
          <p:nvPr/>
        </p:nvSpPr>
        <p:spPr>
          <a:xfrm>
            <a:off x="5818584" y="2799904"/>
            <a:ext cx="2250281" cy="1053926"/>
          </a:xfrm>
          <a:prstGeom prst="roundRect">
            <a:avLst>
              <a:gd name="adj" fmla="val 7230"/>
            </a:avLst>
          </a:prstGeom>
          <a:solidFill>
            <a:srgbClr val="F2EEE3"/>
          </a:solidFill>
          <a:ln w="7144">
            <a:solidFill>
              <a:srgbClr val="D9D2BC"/>
            </a:solidFill>
            <a:prstDash val="solid"/>
          </a:ln>
        </p:spPr>
        <p:txBody>
          <a:bodyPr wrap="square" rtlCol="0" anchor="ctr"/>
          <a:lstStyle/>
          <a:p>
            <a:pPr marL="0" indent="0">
              <a:buNone/>
            </a:pPr>
            <a:endParaRPr lang="en-US" dirty="0"/>
          </a:p>
        </p:txBody>
      </p:sp>
      <p:sp>
        <p:nvSpPr>
          <p:cNvPr id="26" name="Text 24"/>
          <p:cNvSpPr/>
          <p:nvPr/>
        </p:nvSpPr>
        <p:spPr>
          <a:xfrm>
            <a:off x="6843713" y="2917775"/>
            <a:ext cx="200025" cy="200025"/>
          </a:xfrm>
          <a:prstGeom prst="rect">
            <a:avLst/>
          </a:prstGeom>
          <a:noFill/>
          <a:ln/>
        </p:spPr>
        <p:txBody>
          <a:bodyPr wrap="none" lIns="0" tIns="0" rIns="0" bIns="0" rtlCol="0" anchor="ctr"/>
          <a:lstStyle/>
          <a:p>
            <a:pPr marL="0" indent="0" algn="ctr">
              <a:buNone/>
            </a:pPr>
            <a:r>
              <a:rPr lang="en-US" sz="1969" dirty="0">
                <a:solidFill>
                  <a:srgbClr val="C9A227"/>
                </a:solidFill>
                <a:latin typeface="Segoe UI Symbol" pitchFamily="34" charset="0"/>
                <a:ea typeface="Segoe UI Symbol" pitchFamily="34" charset="-122"/>
                <a:cs typeface="Segoe UI Symbol" pitchFamily="34" charset="-120"/>
              </a:rPr>
              <a:t>♥</a:t>
            </a:r>
            <a:endParaRPr lang="en-US" sz="1969" dirty="0"/>
          </a:p>
        </p:txBody>
      </p:sp>
      <p:sp>
        <p:nvSpPr>
          <p:cNvPr id="27" name="Text 25"/>
          <p:cNvSpPr/>
          <p:nvPr/>
        </p:nvSpPr>
        <p:spPr>
          <a:xfrm>
            <a:off x="5936456" y="3160663"/>
            <a:ext cx="2014538" cy="126159"/>
          </a:xfrm>
          <a:prstGeom prst="rect">
            <a:avLst/>
          </a:prstGeom>
          <a:noFill/>
          <a:ln/>
        </p:spPr>
        <p:txBody>
          <a:bodyPr wrap="none" lIns="0" tIns="0" rIns="0" bIns="0" rtlCol="0" anchor="t">
            <a:normAutofit/>
          </a:bodyPr>
          <a:lstStyle/>
          <a:p>
            <a:pPr marL="0" indent="0" algn="ctr">
              <a:lnSpc>
                <a:spcPts val="759"/>
              </a:lnSpc>
              <a:buNone/>
            </a:pPr>
            <a:r>
              <a:rPr lang="en-US" sz="800" b="1" kern="0" spc="91" dirty="0">
                <a:solidFill>
                  <a:srgbClr val="8C6F12"/>
                </a:solidFill>
                <a:latin typeface="Liberation Sans Narrow" pitchFamily="34" charset="0"/>
                <a:ea typeface="Liberation Sans Narrow" pitchFamily="34" charset="-122"/>
                <a:cs typeface="Liberation Sans Narrow" pitchFamily="34" charset="-120"/>
              </a:rPr>
              <a:t>PILLAR 03</a:t>
            </a:r>
            <a:endParaRPr lang="en-US" sz="800" dirty="0"/>
          </a:p>
        </p:txBody>
      </p:sp>
      <p:sp>
        <p:nvSpPr>
          <p:cNvPr id="28" name="Text 26"/>
          <p:cNvSpPr/>
          <p:nvPr/>
        </p:nvSpPr>
        <p:spPr>
          <a:xfrm>
            <a:off x="5936456" y="3314254"/>
            <a:ext cx="2014538" cy="160091"/>
          </a:xfrm>
          <a:prstGeom prst="rect">
            <a:avLst/>
          </a:prstGeom>
          <a:noFill/>
          <a:ln/>
        </p:spPr>
        <p:txBody>
          <a:bodyPr wrap="none" lIns="0" tIns="0" rIns="0" bIns="0" rtlCol="0" anchor="t">
            <a:normAutofit/>
          </a:bodyPr>
          <a:lstStyle/>
          <a:p>
            <a:pPr marL="0" indent="0" algn="ctr">
              <a:lnSpc>
                <a:spcPts val="1139"/>
              </a:lnSpc>
              <a:buNone/>
            </a:pPr>
            <a:r>
              <a:rPr lang="en-US" sz="800" b="1" kern="0" spc="46" dirty="0">
                <a:solidFill>
                  <a:srgbClr val="0F2A4A"/>
                </a:solidFill>
                <a:latin typeface="Carlito" pitchFamily="34" charset="0"/>
                <a:ea typeface="Carlito" pitchFamily="34" charset="-122"/>
                <a:cs typeface="Carlito" pitchFamily="34" charset="-120"/>
              </a:rPr>
              <a:t>HUMAN-CENTERED</a:t>
            </a:r>
            <a:endParaRPr lang="en-US" sz="800" dirty="0"/>
          </a:p>
        </p:txBody>
      </p:sp>
      <p:sp>
        <p:nvSpPr>
          <p:cNvPr id="29" name="Text 27"/>
          <p:cNvSpPr/>
          <p:nvPr/>
        </p:nvSpPr>
        <p:spPr>
          <a:xfrm>
            <a:off x="5936456" y="3501777"/>
            <a:ext cx="2014538" cy="248469"/>
          </a:xfrm>
          <a:prstGeom prst="rect">
            <a:avLst/>
          </a:prstGeom>
          <a:noFill/>
          <a:ln/>
        </p:spPr>
        <p:txBody>
          <a:bodyPr wrap="square" lIns="0" tIns="0" rIns="0" bIns="0" rtlCol="0" anchor="t"/>
          <a:lstStyle/>
          <a:p>
            <a:pPr marL="0" indent="0" algn="ctr">
              <a:lnSpc>
                <a:spcPts val="979"/>
              </a:lnSpc>
              <a:buNone/>
            </a:pPr>
            <a:r>
              <a:rPr lang="en-US" sz="800" dirty="0">
                <a:solidFill>
                  <a:srgbClr val="4A5A75"/>
                </a:solidFill>
                <a:latin typeface="Carlito" pitchFamily="34" charset="0"/>
                <a:ea typeface="Carlito" pitchFamily="34" charset="-122"/>
                <a:cs typeface="Carlito" pitchFamily="34" charset="-120"/>
              </a:rPr>
              <a:t>Elderly-first design validated by real user testing.</a:t>
            </a:r>
            <a:endParaRPr lang="en-US" sz="800" dirty="0"/>
          </a:p>
        </p:txBody>
      </p:sp>
      <p:sp>
        <p:nvSpPr>
          <p:cNvPr id="30" name="Text 28"/>
          <p:cNvSpPr/>
          <p:nvPr/>
        </p:nvSpPr>
        <p:spPr>
          <a:xfrm>
            <a:off x="428625" y="3957414"/>
            <a:ext cx="8286750" cy="194328"/>
          </a:xfrm>
          <a:prstGeom prst="rect">
            <a:avLst/>
          </a:prstGeom>
          <a:noFill/>
          <a:ln/>
        </p:spPr>
        <p:txBody>
          <a:bodyPr wrap="square" lIns="0" tIns="0" rIns="0" bIns="0" rtlCol="0" anchor="t"/>
          <a:lstStyle/>
          <a:p>
            <a:pPr marL="0" indent="0" algn="ctr">
              <a:lnSpc>
                <a:spcPts val="1418"/>
              </a:lnSpc>
              <a:buNone/>
            </a:pPr>
            <a:r>
              <a:rPr lang="en-US" sz="1013" i="1" kern="0" spc="5" dirty="0">
                <a:solidFill>
                  <a:srgbClr val="0F2A4A"/>
                </a:solidFill>
                <a:latin typeface="Tinos" pitchFamily="34" charset="0"/>
                <a:ea typeface="Tinos" pitchFamily="34" charset="-122"/>
                <a:cs typeface="Tinos" pitchFamily="34" charset="-120"/>
              </a:rPr>
              <a:t>Built for the patients who need it most, and the families who love them.</a:t>
            </a:r>
            <a:endParaRPr lang="en-US" sz="1013" dirty="0"/>
          </a:p>
        </p:txBody>
      </p:sp>
      <p:sp>
        <p:nvSpPr>
          <p:cNvPr id="31" name="Text 29"/>
          <p:cNvSpPr/>
          <p:nvPr/>
        </p:nvSpPr>
        <p:spPr>
          <a:xfrm>
            <a:off x="514350" y="4868466"/>
            <a:ext cx="7609880"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32" name="Text 30"/>
          <p:cNvSpPr/>
          <p:nvPr/>
        </p:nvSpPr>
        <p:spPr>
          <a:xfrm>
            <a:off x="8138517" y="4868466"/>
            <a:ext cx="491133"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Conclusion</a:t>
            </a:r>
            <a:endParaRPr lang="en-US" sz="8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presetID="10" presetClass="entr" presetSubtype="0" fill="hold"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300"/>
                            <p:tgtEl>
                              <p:spTgt spid="2"/>
                            </p:tgtEl>
                          </p:cBhvr>
                        </p:animEffect>
                      </p:childTnLst>
                    </p:cTn>
                  </p:par>
                  <p:par>
                    <p:cTn id="6" presetID="10" presetClass="entr" presetSubtype="0" fill="hold" nodeType="afterEffect">
                      <p:stCondLst>
                        <p:cond delay="15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300"/>
                            <p:tgtEl>
                              <p:spTgt spid="3"/>
                            </p:tgtEl>
                          </p:cBhvr>
                        </p:animEffect>
                      </p:childTnLst>
                    </p:cTn>
                  </p:par>
                  <p:par>
                    <p:cTn id="9" presetID="10" presetClass="entr" presetSubtype="0" fill="hold" nodeType="afterEffect">
                      <p:stCondLst>
                        <p:cond delay="15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300"/>
                            <p:tgtEl>
                              <p:spTgt spid="4"/>
                            </p:tgtEl>
                          </p:cBhvr>
                        </p:animEffect>
                      </p:childTnLst>
                    </p:cTn>
                  </p:par>
                  <p:par>
                    <p:cTn id="12" presetID="10" presetClass="entr" presetSubtype="0" fill="hold" nodeType="afterEffect">
                      <p:stCondLst>
                        <p:cond delay="15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300"/>
                            <p:tgtEl>
                              <p:spTgt spid="5"/>
                            </p:tgtEl>
                          </p:cBhvr>
                        </p:animEffect>
                      </p:childTnLst>
                    </p:cTn>
                  </p:par>
                  <p:par>
                    <p:cTn id="15" presetID="10" presetClass="entr" presetSubtype="0" fill="hold" nodeType="afterEffect">
                      <p:stCondLst>
                        <p:cond delay="15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300"/>
                            <p:tgtEl>
                              <p:spTgt spid="6"/>
                            </p:tgtEl>
                          </p:cBhvr>
                        </p:animEffect>
                      </p:childTnLst>
                    </p:cTn>
                  </p:par>
                  <p:par>
                    <p:cTn id="18" presetID="10" presetClass="entr" presetSubtype="0" fill="hold" nodeType="afterEffect">
                      <p:stCondLst>
                        <p:cond delay="15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300"/>
                            <p:tgtEl>
                              <p:spTgt spid="7"/>
                            </p:tgtEl>
                          </p:cBhvr>
                        </p:animEffect>
                      </p:childTnLst>
                    </p:cTn>
                  </p:par>
                  <p:par>
                    <p:cTn id="21" presetID="10" presetClass="entr" presetSubtype="0" fill="hold" nodeType="afterEffect">
                      <p:stCondLst>
                        <p:cond delay="1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afterEffect">
                      <p:stCondLst>
                        <p:cond delay="15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300"/>
                            <p:tgtEl>
                              <p:spTgt spid="9"/>
                            </p:tgtEl>
                          </p:cBhvr>
                        </p:animEffect>
                      </p:childTnLst>
                    </p:cTn>
                  </p:par>
                  <p:par>
                    <p:cTn id="27" presetID="10" presetClass="entr" presetSubtype="0" fill="hold" nodeType="afterEffect">
                      <p:stCondLst>
                        <p:cond delay="15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300"/>
                            <p:tgtEl>
                              <p:spTgt spid="10"/>
                            </p:tgtEl>
                          </p:cBhvr>
                        </p:animEffect>
                      </p:childTnLst>
                    </p:cTn>
                  </p:par>
                  <p:par>
                    <p:cTn id="30" presetID="10" presetClass="entr" presetSubtype="0" fill="hold" nodeType="afterEffect">
                      <p:stCondLst>
                        <p:cond delay="15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300"/>
                            <p:tgtEl>
                              <p:spTgt spid="11"/>
                            </p:tgtEl>
                          </p:cBhvr>
                        </p:animEffect>
                      </p:childTnLst>
                    </p:cTn>
                  </p:par>
                  <p:par>
                    <p:cTn id="33" presetID="10" presetClass="entr" presetSubtype="0" fill="hold" nodeType="afterEffect">
                      <p:stCondLst>
                        <p:cond delay="15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300"/>
                            <p:tgtEl>
                              <p:spTgt spid="12"/>
                            </p:tgtEl>
                          </p:cBhvr>
                        </p:animEffect>
                      </p:childTnLst>
                    </p:cTn>
                  </p:par>
                  <p:par>
                    <p:cTn id="36" presetID="10" presetClass="entr" presetSubtype="0" fill="hold" nodeType="afterEffect">
                      <p:stCondLst>
                        <p:cond delay="15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300"/>
                            <p:tgtEl>
                              <p:spTgt spid="13"/>
                            </p:tgtEl>
                          </p:cBhvr>
                        </p:animEffect>
                      </p:childTnLst>
                    </p:cTn>
                  </p:par>
                  <p:par>
                    <p:cTn id="39" presetID="10" presetClass="entr" presetSubtype="0" fill="hold" nodeType="afterEffect">
                      <p:stCondLst>
                        <p:cond delay="15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300"/>
                            <p:tgtEl>
                              <p:spTgt spid="14"/>
                            </p:tgtEl>
                          </p:cBhvr>
                        </p:animEffect>
                      </p:childTnLst>
                    </p:cTn>
                  </p:par>
                  <p:par>
                    <p:cTn id="42" presetID="10" presetClass="entr" presetSubtype="0" fill="hold" nodeType="afterEffect">
                      <p:stCondLst>
                        <p:cond delay="15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300"/>
                            <p:tgtEl>
                              <p:spTgt spid="15"/>
                            </p:tgtEl>
                          </p:cBhvr>
                        </p:animEffect>
                      </p:childTnLst>
                    </p:cTn>
                  </p:par>
                  <p:par>
                    <p:cTn id="45" presetID="10" presetClass="entr" presetSubtype="0" fill="hold" nodeType="afterEffect">
                      <p:stCondLst>
                        <p:cond delay="15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300"/>
                            <p:tgtEl>
                              <p:spTgt spid="16"/>
                            </p:tgtEl>
                          </p:cBhvr>
                        </p:animEffect>
                      </p:childTnLst>
                    </p:cTn>
                  </p:par>
                  <p:par>
                    <p:cTn id="48" presetID="10" presetClass="entr" presetSubtype="0" fill="hold" nodeType="afterEffect">
                      <p:stCondLst>
                        <p:cond delay="15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300"/>
                            <p:tgtEl>
                              <p:spTgt spid="17"/>
                            </p:tgtEl>
                          </p:cBhvr>
                        </p:animEffect>
                      </p:childTnLst>
                    </p:cTn>
                  </p:par>
                  <p:par>
                    <p:cTn id="51" presetID="10" presetClass="entr" presetSubtype="0" fill="hold" nodeType="afterEffect">
                      <p:stCondLst>
                        <p:cond delay="15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300"/>
                            <p:tgtEl>
                              <p:spTgt spid="18"/>
                            </p:tgtEl>
                          </p:cBhvr>
                        </p:animEffect>
                      </p:childTnLst>
                    </p:cTn>
                  </p:par>
                  <p:par>
                    <p:cTn id="54" presetID="10" presetClass="entr" presetSubtype="0" fill="hold" nodeType="afterEffect">
                      <p:stCondLst>
                        <p:cond delay="15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300"/>
                            <p:tgtEl>
                              <p:spTgt spid="19"/>
                            </p:tgtEl>
                          </p:cBhvr>
                        </p:animEffect>
                      </p:childTnLst>
                    </p:cTn>
                  </p:par>
                  <p:par>
                    <p:cTn id="57" presetID="10" presetClass="entr" presetSubtype="0" fill="hold" nodeType="afterEffect">
                      <p:stCondLst>
                        <p:cond delay="15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300"/>
                            <p:tgtEl>
                              <p:spTgt spid="20"/>
                            </p:tgtEl>
                          </p:cBhvr>
                        </p:animEffect>
                      </p:childTnLst>
                    </p:cTn>
                  </p:par>
                  <p:par>
                    <p:cTn id="60" presetID="10" presetClass="entr" presetSubtype="0" fill="hold" nodeType="afterEffect">
                      <p:stCondLst>
                        <p:cond delay="15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300"/>
                            <p:tgtEl>
                              <p:spTgt spid="21"/>
                            </p:tgtEl>
                          </p:cBhvr>
                        </p:animEffect>
                      </p:childTnLst>
                    </p:cTn>
                  </p:par>
                  <p:par>
                    <p:cTn id="63" presetID="10" presetClass="entr" presetSubtype="0" fill="hold" nodeType="afterEffect">
                      <p:stCondLst>
                        <p:cond delay="15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300"/>
                            <p:tgtEl>
                              <p:spTgt spid="22"/>
                            </p:tgtEl>
                          </p:cBhvr>
                        </p:animEffect>
                      </p:childTnLst>
                    </p:cTn>
                  </p:par>
                  <p:par>
                    <p:cTn id="66" presetID="10" presetClass="entr" presetSubtype="0" fill="hold" nodeType="afterEffect">
                      <p:stCondLst>
                        <p:cond delay="15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300"/>
                            <p:tgtEl>
                              <p:spTgt spid="23"/>
                            </p:tgtEl>
                          </p:cBhvr>
                        </p:animEffect>
                      </p:childTnLst>
                    </p:cTn>
                  </p:par>
                  <p:par>
                    <p:cTn id="69" presetID="10" presetClass="entr" presetSubtype="0" fill="hold" nodeType="afterEffect">
                      <p:stCondLst>
                        <p:cond delay="15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300"/>
                            <p:tgtEl>
                              <p:spTgt spid="24"/>
                            </p:tgtEl>
                          </p:cBhvr>
                        </p:animEffect>
                      </p:childTnLst>
                    </p:cTn>
                  </p:par>
                  <p:par>
                    <p:cTn id="72" presetID="10" presetClass="entr" presetSubtype="0" fill="hold" nodeType="afterEffect">
                      <p:stCondLst>
                        <p:cond delay="15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300"/>
                            <p:tgtEl>
                              <p:spTgt spid="25"/>
                            </p:tgtEl>
                          </p:cBhvr>
                        </p:animEffect>
                      </p:childTnLst>
                    </p:cTn>
                  </p:par>
                  <p:par>
                    <p:cTn id="75" presetID="10" presetClass="entr" presetSubtype="0" fill="hold" nodeType="afterEffect">
                      <p:stCondLst>
                        <p:cond delay="15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300"/>
                            <p:tgtEl>
                              <p:spTgt spid="26"/>
                            </p:tgtEl>
                          </p:cBhvr>
                        </p:animEffect>
                      </p:childTnLst>
                    </p:cTn>
                  </p:par>
                  <p:par>
                    <p:cTn id="78" presetID="10" presetClass="entr" presetSubtype="0" fill="hold" nodeType="afterEffect">
                      <p:stCondLst>
                        <p:cond delay="15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300"/>
                            <p:tgtEl>
                              <p:spTgt spid="27"/>
                            </p:tgtEl>
                          </p:cBhvr>
                        </p:animEffect>
                      </p:childTnLst>
                    </p:cTn>
                  </p:par>
                  <p:par>
                    <p:cTn id="81" presetID="10" presetClass="entr" presetSubtype="0" fill="hold" nodeType="afterEffect">
                      <p:stCondLst>
                        <p:cond delay="15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300"/>
                            <p:tgtEl>
                              <p:spTgt spid="28"/>
                            </p:tgtEl>
                          </p:cBhvr>
                        </p:animEffect>
                      </p:childTnLst>
                    </p:cTn>
                  </p:par>
                  <p:par>
                    <p:cTn id="84" presetID="10" presetClass="entr" presetSubtype="0" fill="hold" nodeType="afterEffect">
                      <p:stCondLst>
                        <p:cond delay="15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300"/>
                            <p:tgtEl>
                              <p:spTgt spid="29"/>
                            </p:tgtEl>
                          </p:cBhvr>
                        </p:animEffect>
                      </p:childTnLst>
                    </p:cTn>
                  </p:par>
                  <p:par>
                    <p:cTn id="87" presetID="10" presetClass="entr" presetSubtype="0" fill="hold" nodeType="afterEffect">
                      <p:stCondLst>
                        <p:cond delay="15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300"/>
                            <p:tgtEl>
                              <p:spTgt spid="30"/>
                            </p:tgtEl>
                          </p:cBhvr>
                        </p:animEffect>
                      </p:childTnLst>
                    </p:cTn>
                  </p:par>
                  <p:par>
                    <p:cTn id="90" presetID="10" presetClass="entr" presetSubtype="0" fill="hold" nodeType="afterEffect">
                      <p:stCondLst>
                        <p:cond delay="15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300"/>
                            <p:tgtEl>
                              <p:spTgt spid="31"/>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428625" y="489347"/>
            <a:ext cx="8286750" cy="0"/>
          </a:xfrm>
          <a:prstGeom prst="line">
            <a:avLst/>
          </a:prstGeom>
          <a:noFill/>
          <a:ln w="7144">
            <a:solidFill>
              <a:srgbClr val="D9D2BC"/>
            </a:solidFill>
            <a:prstDash val="solid"/>
          </a:ln>
        </p:spPr>
      </p:sp>
      <p:sp>
        <p:nvSpPr>
          <p:cNvPr id="3" name="Shape 1"/>
          <p:cNvSpPr/>
          <p:nvPr/>
        </p:nvSpPr>
        <p:spPr>
          <a:xfrm>
            <a:off x="514350" y="4793456"/>
            <a:ext cx="8115300" cy="0"/>
          </a:xfrm>
          <a:prstGeom prst="line">
            <a:avLst/>
          </a:prstGeom>
          <a:noFill/>
          <a:ln w="7144">
            <a:solidFill>
              <a:srgbClr val="D9D2BC"/>
            </a:solidFill>
            <a:prstDash val="solid"/>
          </a:ln>
        </p:spPr>
      </p:sp>
      <p:sp>
        <p:nvSpPr>
          <p:cNvPr id="4" name="Text 2"/>
          <p:cNvSpPr/>
          <p:nvPr/>
        </p:nvSpPr>
        <p:spPr>
          <a:xfrm>
            <a:off x="428625" y="257175"/>
            <a:ext cx="785109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09 · FUTURE WORK</a:t>
            </a:r>
            <a:endParaRPr lang="en-US" sz="800" dirty="0"/>
          </a:p>
        </p:txBody>
      </p:sp>
      <p:sp>
        <p:nvSpPr>
          <p:cNvPr id="5" name="Text 3"/>
          <p:cNvSpPr/>
          <p:nvPr/>
        </p:nvSpPr>
        <p:spPr>
          <a:xfrm>
            <a:off x="8294005" y="257175"/>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19 / 21</a:t>
            </a:r>
            <a:endParaRPr lang="en-US" sz="800" dirty="0"/>
          </a:p>
        </p:txBody>
      </p:sp>
      <p:sp>
        <p:nvSpPr>
          <p:cNvPr id="6" name="Text 4"/>
          <p:cNvSpPr/>
          <p:nvPr/>
        </p:nvSpPr>
        <p:spPr>
          <a:xfrm>
            <a:off x="428625" y="692944"/>
            <a:ext cx="8636000" cy="254844"/>
          </a:xfrm>
          <a:prstGeom prst="rect">
            <a:avLst/>
          </a:prstGeom>
          <a:noFill/>
          <a:ln/>
        </p:spPr>
        <p:txBody>
          <a:bodyPr wrap="none" lIns="0" tIns="0" rIns="0" bIns="0" rtlCol="0" anchor="t"/>
          <a:lstStyle/>
          <a:p>
            <a:pPr marL="0" indent="0" algn="l">
              <a:lnSpc>
                <a:spcPts val="1859"/>
              </a:lnSpc>
              <a:buNone/>
            </a:pPr>
            <a:r>
              <a:rPr lang="en-US" sz="1575" b="1" kern="0" spc="-16" dirty="0">
                <a:solidFill>
                  <a:srgbClr val="0F2A4A"/>
                </a:solidFill>
                <a:latin typeface="Tinos" pitchFamily="34" charset="0"/>
                <a:ea typeface="Tinos" pitchFamily="34" charset="-122"/>
                <a:cs typeface="Tinos" pitchFamily="34" charset="-120"/>
              </a:rPr>
              <a:t>Where MedWise goes next</a:t>
            </a:r>
            <a:endParaRPr lang="en-US" sz="1575" dirty="0"/>
          </a:p>
        </p:txBody>
      </p:sp>
      <p:sp>
        <p:nvSpPr>
          <p:cNvPr id="7" name="Text 5"/>
          <p:cNvSpPr/>
          <p:nvPr/>
        </p:nvSpPr>
        <p:spPr>
          <a:xfrm>
            <a:off x="428625" y="986061"/>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8" name="Text 6"/>
          <p:cNvSpPr/>
          <p:nvPr/>
        </p:nvSpPr>
        <p:spPr>
          <a:xfrm>
            <a:off x="428625" y="1064642"/>
            <a:ext cx="7715250" cy="169999"/>
          </a:xfrm>
          <a:prstGeom prst="rect">
            <a:avLst/>
          </a:prstGeom>
          <a:noFill/>
          <a:ln/>
        </p:spPr>
        <p:txBody>
          <a:bodyPr wrap="square" lIns="0" tIns="0" rIns="0" bIns="0" rtlCol="0" anchor="t"/>
          <a:lstStyle/>
          <a:p>
            <a:pPr marL="0" indent="0" algn="l">
              <a:lnSpc>
                <a:spcPts val="1133"/>
              </a:lnSpc>
              <a:buNone/>
            </a:pPr>
            <a:r>
              <a:rPr lang="en-US" sz="800" dirty="0">
                <a:solidFill>
                  <a:srgbClr val="4A5A75"/>
                </a:solidFill>
                <a:latin typeface="Carlito" pitchFamily="34" charset="0"/>
                <a:ea typeface="Carlito" pitchFamily="34" charset="-122"/>
                <a:cs typeface="Carlito" pitchFamily="34" charset="-120"/>
              </a:rPr>
              <a:t>Five concrete extensions are scoped for v2.0 — each builds on the v1.0 spine without re-architecting it.</a:t>
            </a:r>
            <a:endParaRPr lang="en-US" sz="800" dirty="0"/>
          </a:p>
        </p:txBody>
      </p:sp>
      <p:sp>
        <p:nvSpPr>
          <p:cNvPr id="9" name="Text 7"/>
          <p:cNvSpPr/>
          <p:nvPr/>
        </p:nvSpPr>
        <p:spPr>
          <a:xfrm>
            <a:off x="432197" y="1312106"/>
            <a:ext cx="4093369" cy="908819"/>
          </a:xfrm>
          <a:prstGeom prst="roundRect">
            <a:avLst>
              <a:gd name="adj" fmla="val 8385"/>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10" name="Text 8"/>
          <p:cNvSpPr/>
          <p:nvPr/>
        </p:nvSpPr>
        <p:spPr>
          <a:xfrm>
            <a:off x="535781" y="1401403"/>
            <a:ext cx="214313" cy="214313"/>
          </a:xfrm>
          <a:prstGeom prst="roundRect">
            <a:avLst>
              <a:gd name="adj" fmla="val 26667"/>
            </a:avLst>
          </a:prstGeom>
          <a:solidFill>
            <a:srgbClr val="C9A227">
              <a:alpha val="12000"/>
            </a:srgbClr>
          </a:solidFill>
          <a:ln/>
        </p:spPr>
        <p:txBody>
          <a:bodyPr wrap="square" rtlCol="0" anchor="ctr"/>
          <a:lstStyle/>
          <a:p>
            <a:pPr marL="0" indent="0">
              <a:buNone/>
            </a:pPr>
            <a:endParaRPr lang="en-US" dirty="0"/>
          </a:p>
        </p:txBody>
      </p:sp>
      <p:sp>
        <p:nvSpPr>
          <p:cNvPr id="11" name="Text 9"/>
          <p:cNvSpPr/>
          <p:nvPr/>
        </p:nvSpPr>
        <p:spPr>
          <a:xfrm>
            <a:off x="549712" y="1415333"/>
            <a:ext cx="186452" cy="186452"/>
          </a:xfrm>
          <a:prstGeom prst="rect">
            <a:avLst/>
          </a:prstGeom>
          <a:noFill/>
          <a:ln/>
        </p:spPr>
        <p:txBody>
          <a:bodyPr wrap="none" lIns="0" tIns="0" rIns="0" bIns="0" rtlCol="0" anchor="ctr"/>
          <a:lstStyle/>
          <a:p>
            <a:pPr marL="0" indent="0" algn="ctr">
              <a:buNone/>
            </a:pPr>
            <a:r>
              <a:rPr lang="en-US" sz="1266" dirty="0">
                <a:solidFill>
                  <a:srgbClr val="8C6F12"/>
                </a:solidFill>
                <a:latin typeface="Segoe UI Symbol" pitchFamily="34" charset="0"/>
                <a:ea typeface="Segoe UI Symbol" pitchFamily="34" charset="-122"/>
                <a:cs typeface="Segoe UI Symbol" pitchFamily="34" charset="-120"/>
              </a:rPr>
              <a:t>▯</a:t>
            </a:r>
            <a:endParaRPr lang="en-US" sz="1266" dirty="0"/>
          </a:p>
        </p:txBody>
      </p:sp>
      <p:sp>
        <p:nvSpPr>
          <p:cNvPr id="12" name="Text 10"/>
          <p:cNvSpPr/>
          <p:nvPr/>
        </p:nvSpPr>
        <p:spPr>
          <a:xfrm>
            <a:off x="821531" y="1401403"/>
            <a:ext cx="3600450" cy="91440"/>
          </a:xfrm>
          <a:prstGeom prst="rect">
            <a:avLst/>
          </a:prstGeom>
          <a:noFill/>
          <a:ln/>
        </p:spPr>
        <p:txBody>
          <a:bodyPr wrap="none" lIns="0" tIns="0" rIns="0" bIns="0" rtlCol="0" anchor="t">
            <a:normAutofit fontScale="55000" lnSpcReduction="20000"/>
          </a:bodyPr>
          <a:lstStyle/>
          <a:p>
            <a:pPr marL="0" indent="0" algn="l">
              <a:lnSpc>
                <a:spcPts val="759"/>
              </a:lnSpc>
              <a:buNone/>
            </a:pPr>
            <a:r>
              <a:rPr lang="en-US" sz="800" b="1" kern="0" spc="101" dirty="0">
                <a:solidFill>
                  <a:srgbClr val="7A8AA0"/>
                </a:solidFill>
                <a:latin typeface="Liberation Sans Narrow" pitchFamily="34" charset="0"/>
                <a:ea typeface="Liberation Sans Narrow" pitchFamily="34" charset="-122"/>
                <a:cs typeface="Liberation Sans Narrow" pitchFamily="34" charset="-120"/>
              </a:rPr>
              <a:t>EXTENSION 01</a:t>
            </a:r>
            <a:endParaRPr lang="en-US" sz="800" dirty="0"/>
          </a:p>
        </p:txBody>
      </p:sp>
      <p:sp>
        <p:nvSpPr>
          <p:cNvPr id="13" name="Text 11"/>
          <p:cNvSpPr/>
          <p:nvPr/>
        </p:nvSpPr>
        <p:spPr>
          <a:xfrm>
            <a:off x="821531" y="1512131"/>
            <a:ext cx="3710178" cy="139839"/>
          </a:xfrm>
          <a:prstGeom prst="rect">
            <a:avLst/>
          </a:prstGeom>
          <a:noFill/>
          <a:ln/>
        </p:spPr>
        <p:txBody>
          <a:bodyPr wrap="square" lIns="0" tIns="0" rIns="0" bIns="0" rtlCol="0" anchor="t"/>
          <a:lstStyle/>
          <a:p>
            <a:pPr marL="0" indent="0" algn="l">
              <a:lnSpc>
                <a:spcPts val="1020"/>
              </a:lnSpc>
              <a:buNone/>
            </a:pPr>
            <a:r>
              <a:rPr lang="en-US" sz="816" b="1" kern="0" spc="-4" dirty="0">
                <a:solidFill>
                  <a:srgbClr val="0F2A4A"/>
                </a:solidFill>
                <a:latin typeface="Carlito" pitchFamily="34" charset="0"/>
                <a:ea typeface="Carlito" pitchFamily="34" charset="-122"/>
                <a:cs typeface="Carlito" pitchFamily="34" charset="-120"/>
              </a:rPr>
              <a:t>Native mobile apps (iOS / Android)</a:t>
            </a:r>
            <a:endParaRPr lang="en-US" sz="816" dirty="0"/>
          </a:p>
        </p:txBody>
      </p:sp>
      <p:sp>
        <p:nvSpPr>
          <p:cNvPr id="14" name="Text 12"/>
          <p:cNvSpPr/>
          <p:nvPr/>
        </p:nvSpPr>
        <p:spPr>
          <a:xfrm>
            <a:off x="535781" y="1691618"/>
            <a:ext cx="3886200" cy="210767"/>
          </a:xfrm>
          <a:prstGeom prst="rect">
            <a:avLst/>
          </a:prstGeom>
          <a:noFill/>
          <a:ln/>
        </p:spPr>
        <p:txBody>
          <a:bodyPr wrap="square" lIns="0" tIns="0" rIns="0" bIns="0" rtlCol="0" anchor="t">
            <a:normAutofit fontScale="62500" lnSpcReduction="20000"/>
          </a:bodyPr>
          <a:lstStyle/>
          <a:p>
            <a:pPr marL="0" indent="0" algn="l">
              <a:lnSpc>
                <a:spcPts val="938"/>
              </a:lnSpc>
              <a:buNone/>
            </a:pPr>
            <a:r>
              <a:rPr lang="en-US" sz="800" dirty="0">
                <a:solidFill>
                  <a:srgbClr val="4A5A75"/>
                </a:solidFill>
                <a:latin typeface="Carlito" pitchFamily="34" charset="0"/>
                <a:ea typeface="Carlito" pitchFamily="34" charset="-122"/>
                <a:cs typeface="Carlito" pitchFamily="34" charset="-120"/>
              </a:rPr>
              <a:t>Package the web experience as installable native apps with push notifications for reminders and emergency alerts, even when the app is closed.</a:t>
            </a:r>
            <a:endParaRPr lang="en-US" sz="800" dirty="0"/>
          </a:p>
        </p:txBody>
      </p:sp>
      <p:sp>
        <p:nvSpPr>
          <p:cNvPr id="15" name="Text 13"/>
          <p:cNvSpPr/>
          <p:nvPr/>
        </p:nvSpPr>
        <p:spPr>
          <a:xfrm>
            <a:off x="535781" y="2018221"/>
            <a:ext cx="3011760" cy="127695"/>
          </a:xfrm>
          <a:prstGeom prst="rect">
            <a:avLst/>
          </a:prstGeom>
          <a:noFill/>
          <a:ln/>
        </p:spPr>
        <p:txBody>
          <a:bodyPr wrap="none" lIns="0" tIns="0" rIns="0" bIns="0" rtlCol="0" anchor="t"/>
          <a:lstStyle/>
          <a:p>
            <a:pPr marL="0" indent="0" algn="l">
              <a:lnSpc>
                <a:spcPts val="759"/>
              </a:lnSpc>
              <a:buNone/>
            </a:pPr>
            <a:r>
              <a:rPr lang="en-US" sz="800" b="1" kern="0" spc="91" dirty="0">
                <a:solidFill>
                  <a:srgbClr val="7A8AA0"/>
                </a:solidFill>
                <a:latin typeface="Carlito" pitchFamily="34" charset="0"/>
                <a:ea typeface="Carlito" pitchFamily="34" charset="-122"/>
                <a:cs typeface="Carlito" pitchFamily="34" charset="-120"/>
              </a:rPr>
              <a:t>MOBILE</a:t>
            </a:r>
            <a:endParaRPr lang="en-US" sz="800" dirty="0"/>
          </a:p>
        </p:txBody>
      </p:sp>
      <p:sp>
        <p:nvSpPr>
          <p:cNvPr id="16" name="Text 14"/>
          <p:cNvSpPr/>
          <p:nvPr/>
        </p:nvSpPr>
        <p:spPr>
          <a:xfrm>
            <a:off x="3538969" y="1977430"/>
            <a:ext cx="905872" cy="178022"/>
          </a:xfrm>
          <a:prstGeom prst="roundRect">
            <a:avLst>
              <a:gd name="adj" fmla="val 5345112"/>
            </a:avLst>
          </a:prstGeom>
          <a:solidFill>
            <a:srgbClr val="B6432A">
              <a:alpha val="10000"/>
            </a:srgbClr>
          </a:solidFill>
          <a:ln w="7144">
            <a:solidFill>
              <a:srgbClr val="B6432A"/>
            </a:solidFill>
            <a:prstDash val="solid"/>
          </a:ln>
        </p:spPr>
        <p:txBody>
          <a:bodyPr wrap="square" rtlCol="0" anchor="ctr"/>
          <a:lstStyle/>
          <a:p>
            <a:pPr marL="0" indent="0">
              <a:buNone/>
            </a:pPr>
            <a:endParaRPr lang="en-US" dirty="0"/>
          </a:p>
        </p:txBody>
      </p:sp>
      <p:sp>
        <p:nvSpPr>
          <p:cNvPr id="17" name="Text 15"/>
          <p:cNvSpPr/>
          <p:nvPr/>
        </p:nvSpPr>
        <p:spPr>
          <a:xfrm>
            <a:off x="3561829" y="1986967"/>
            <a:ext cx="860152" cy="158948"/>
          </a:xfrm>
          <a:prstGeom prst="rect">
            <a:avLst/>
          </a:prstGeom>
          <a:noFill/>
          <a:ln/>
        </p:spPr>
        <p:txBody>
          <a:bodyPr wrap="none" lIns="0" tIns="0" rIns="0" bIns="0" rtlCol="0" anchor="ctr"/>
          <a:lstStyle/>
          <a:p>
            <a:pPr marL="0" indent="0" algn="ctr">
              <a:lnSpc>
                <a:spcPts val="802"/>
              </a:lnSpc>
              <a:buNone/>
            </a:pPr>
            <a:r>
              <a:rPr lang="en-US" sz="800" b="1" kern="0" spc="86" dirty="0">
                <a:solidFill>
                  <a:srgbClr val="B6432A"/>
                </a:solidFill>
                <a:latin typeface="Carlito" pitchFamily="34" charset="0"/>
                <a:ea typeface="Carlito" pitchFamily="34" charset="-122"/>
                <a:cs typeface="Carlito" pitchFamily="34" charset="-120"/>
              </a:rPr>
              <a:t>HIGH PRIORITY</a:t>
            </a:r>
            <a:endParaRPr lang="en-US" sz="800" dirty="0"/>
          </a:p>
        </p:txBody>
      </p:sp>
      <p:sp>
        <p:nvSpPr>
          <p:cNvPr id="18" name="Text 16"/>
          <p:cNvSpPr/>
          <p:nvPr/>
        </p:nvSpPr>
        <p:spPr>
          <a:xfrm>
            <a:off x="432197" y="2313794"/>
            <a:ext cx="4093369" cy="908819"/>
          </a:xfrm>
          <a:prstGeom prst="roundRect">
            <a:avLst>
              <a:gd name="adj" fmla="val 8385"/>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19" name="Text 17"/>
          <p:cNvSpPr/>
          <p:nvPr/>
        </p:nvSpPr>
        <p:spPr>
          <a:xfrm>
            <a:off x="535781" y="2403091"/>
            <a:ext cx="214313" cy="214313"/>
          </a:xfrm>
          <a:prstGeom prst="roundRect">
            <a:avLst>
              <a:gd name="adj" fmla="val 26667"/>
            </a:avLst>
          </a:prstGeom>
          <a:solidFill>
            <a:srgbClr val="C9A227">
              <a:alpha val="12000"/>
            </a:srgbClr>
          </a:solidFill>
          <a:ln/>
        </p:spPr>
        <p:txBody>
          <a:bodyPr wrap="square" rtlCol="0" anchor="ctr"/>
          <a:lstStyle/>
          <a:p>
            <a:pPr marL="0" indent="0">
              <a:buNone/>
            </a:pPr>
            <a:endParaRPr lang="en-US" dirty="0"/>
          </a:p>
        </p:txBody>
      </p:sp>
      <p:sp>
        <p:nvSpPr>
          <p:cNvPr id="20" name="Text 18"/>
          <p:cNvSpPr/>
          <p:nvPr/>
        </p:nvSpPr>
        <p:spPr>
          <a:xfrm>
            <a:off x="549712" y="2417021"/>
            <a:ext cx="186452" cy="186452"/>
          </a:xfrm>
          <a:prstGeom prst="rect">
            <a:avLst/>
          </a:prstGeom>
          <a:noFill/>
          <a:ln/>
        </p:spPr>
        <p:txBody>
          <a:bodyPr wrap="none" lIns="0" tIns="0" rIns="0" bIns="0" rtlCol="0" anchor="ctr"/>
          <a:lstStyle/>
          <a:p>
            <a:pPr marL="0" indent="0" algn="ctr">
              <a:buNone/>
            </a:pPr>
            <a:r>
              <a:rPr lang="en-US" sz="1266" dirty="0">
                <a:solidFill>
                  <a:srgbClr val="8C6F12"/>
                </a:solidFill>
                <a:latin typeface="Segoe UI Symbol" pitchFamily="34" charset="0"/>
                <a:ea typeface="Segoe UI Symbol" pitchFamily="34" charset="-122"/>
                <a:cs typeface="Segoe UI Symbol" pitchFamily="34" charset="-120"/>
              </a:rPr>
              <a:t>◔</a:t>
            </a:r>
            <a:endParaRPr lang="en-US" sz="1266" dirty="0"/>
          </a:p>
        </p:txBody>
      </p:sp>
      <p:sp>
        <p:nvSpPr>
          <p:cNvPr id="21" name="Text 19"/>
          <p:cNvSpPr/>
          <p:nvPr/>
        </p:nvSpPr>
        <p:spPr>
          <a:xfrm>
            <a:off x="821531" y="2403091"/>
            <a:ext cx="3600450" cy="91440"/>
          </a:xfrm>
          <a:prstGeom prst="rect">
            <a:avLst/>
          </a:prstGeom>
          <a:noFill/>
          <a:ln/>
        </p:spPr>
        <p:txBody>
          <a:bodyPr wrap="none" lIns="0" tIns="0" rIns="0" bIns="0" rtlCol="0" anchor="t">
            <a:normAutofit fontScale="55000" lnSpcReduction="20000"/>
          </a:bodyPr>
          <a:lstStyle/>
          <a:p>
            <a:pPr marL="0" indent="0" algn="l">
              <a:lnSpc>
                <a:spcPts val="759"/>
              </a:lnSpc>
              <a:buNone/>
            </a:pPr>
            <a:r>
              <a:rPr lang="en-US" sz="800" b="1" kern="0" spc="101" dirty="0">
                <a:solidFill>
                  <a:srgbClr val="7A8AA0"/>
                </a:solidFill>
                <a:latin typeface="Liberation Sans Narrow" pitchFamily="34" charset="0"/>
                <a:ea typeface="Liberation Sans Narrow" pitchFamily="34" charset="-122"/>
                <a:cs typeface="Liberation Sans Narrow" pitchFamily="34" charset="-120"/>
              </a:rPr>
              <a:t>EXTENSION 02</a:t>
            </a:r>
            <a:endParaRPr lang="en-US" sz="800" dirty="0"/>
          </a:p>
        </p:txBody>
      </p:sp>
      <p:sp>
        <p:nvSpPr>
          <p:cNvPr id="22" name="Text 20"/>
          <p:cNvSpPr/>
          <p:nvPr/>
        </p:nvSpPr>
        <p:spPr>
          <a:xfrm>
            <a:off x="821531" y="2513819"/>
            <a:ext cx="3600450" cy="139839"/>
          </a:xfrm>
          <a:prstGeom prst="rect">
            <a:avLst/>
          </a:prstGeom>
          <a:noFill/>
          <a:ln/>
        </p:spPr>
        <p:txBody>
          <a:bodyPr wrap="none" lIns="0" tIns="0" rIns="0" bIns="0" rtlCol="0" anchor="t"/>
          <a:lstStyle/>
          <a:p>
            <a:pPr marL="0" indent="0" algn="l">
              <a:lnSpc>
                <a:spcPts val="1020"/>
              </a:lnSpc>
              <a:buNone/>
            </a:pPr>
            <a:r>
              <a:rPr lang="en-US" sz="816" b="1" kern="0" spc="-4" dirty="0">
                <a:solidFill>
                  <a:srgbClr val="0F2A4A"/>
                </a:solidFill>
                <a:latin typeface="Carlito" pitchFamily="34" charset="0"/>
                <a:ea typeface="Carlito" pitchFamily="34" charset="-122"/>
                <a:cs typeface="Carlito" pitchFamily="34" charset="-120"/>
              </a:rPr>
              <a:t>Wearable integration</a:t>
            </a:r>
            <a:endParaRPr lang="en-US" sz="816" dirty="0"/>
          </a:p>
        </p:txBody>
      </p:sp>
      <p:sp>
        <p:nvSpPr>
          <p:cNvPr id="23" name="Text 21"/>
          <p:cNvSpPr/>
          <p:nvPr/>
        </p:nvSpPr>
        <p:spPr>
          <a:xfrm>
            <a:off x="535781" y="2693305"/>
            <a:ext cx="3886200" cy="210767"/>
          </a:xfrm>
          <a:prstGeom prst="rect">
            <a:avLst/>
          </a:prstGeom>
          <a:noFill/>
          <a:ln/>
        </p:spPr>
        <p:txBody>
          <a:bodyPr wrap="square" lIns="0" tIns="0" rIns="0" bIns="0" rtlCol="0" anchor="t">
            <a:normAutofit fontScale="62500" lnSpcReduction="20000"/>
          </a:bodyPr>
          <a:lstStyle/>
          <a:p>
            <a:pPr marL="0" indent="0" algn="l">
              <a:lnSpc>
                <a:spcPts val="938"/>
              </a:lnSpc>
              <a:buNone/>
            </a:pPr>
            <a:r>
              <a:rPr lang="en-US" sz="800" dirty="0">
                <a:solidFill>
                  <a:srgbClr val="4A5A75"/>
                </a:solidFill>
                <a:latin typeface="Carlito" pitchFamily="34" charset="0"/>
                <a:ea typeface="Carlito" pitchFamily="34" charset="-122"/>
                <a:cs typeface="Carlito" pitchFamily="34" charset="-120"/>
              </a:rPr>
              <a:t>Sync with smartwatches for fall detection, heart-rate-triggered emergency alerts, and on-wrist medication reminders.</a:t>
            </a:r>
            <a:endParaRPr lang="en-US" sz="800" dirty="0"/>
          </a:p>
        </p:txBody>
      </p:sp>
      <p:sp>
        <p:nvSpPr>
          <p:cNvPr id="24" name="Text 22"/>
          <p:cNvSpPr/>
          <p:nvPr/>
        </p:nvSpPr>
        <p:spPr>
          <a:xfrm>
            <a:off x="535781" y="3019909"/>
            <a:ext cx="2866430" cy="127695"/>
          </a:xfrm>
          <a:prstGeom prst="rect">
            <a:avLst/>
          </a:prstGeom>
          <a:noFill/>
          <a:ln/>
        </p:spPr>
        <p:txBody>
          <a:bodyPr wrap="none" lIns="0" tIns="0" rIns="0" bIns="0" rtlCol="0" anchor="t"/>
          <a:lstStyle/>
          <a:p>
            <a:pPr marL="0" indent="0" algn="l">
              <a:lnSpc>
                <a:spcPts val="759"/>
              </a:lnSpc>
              <a:buNone/>
            </a:pPr>
            <a:r>
              <a:rPr lang="en-US" sz="800" b="1" kern="0" spc="91" dirty="0">
                <a:solidFill>
                  <a:srgbClr val="7A8AA0"/>
                </a:solidFill>
                <a:latin typeface="Carlito" pitchFamily="34" charset="0"/>
                <a:ea typeface="Carlito" pitchFamily="34" charset="-122"/>
                <a:cs typeface="Carlito" pitchFamily="34" charset="-120"/>
              </a:rPr>
              <a:t>DEVICES</a:t>
            </a:r>
            <a:endParaRPr lang="en-US" sz="800" dirty="0"/>
          </a:p>
        </p:txBody>
      </p:sp>
      <p:sp>
        <p:nvSpPr>
          <p:cNvPr id="25" name="Text 23"/>
          <p:cNvSpPr/>
          <p:nvPr/>
        </p:nvSpPr>
        <p:spPr>
          <a:xfrm>
            <a:off x="3393638" y="2979118"/>
            <a:ext cx="1051203" cy="178022"/>
          </a:xfrm>
          <a:prstGeom prst="roundRect">
            <a:avLst>
              <a:gd name="adj" fmla="val 5345112"/>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26" name="Text 24"/>
          <p:cNvSpPr/>
          <p:nvPr/>
        </p:nvSpPr>
        <p:spPr>
          <a:xfrm>
            <a:off x="3416498" y="2988655"/>
            <a:ext cx="1005483" cy="158948"/>
          </a:xfrm>
          <a:prstGeom prst="rect">
            <a:avLst/>
          </a:prstGeom>
          <a:noFill/>
          <a:ln/>
        </p:spPr>
        <p:txBody>
          <a:bodyPr wrap="none" lIns="0" tIns="0" rIns="0" bIns="0" rtlCol="0" anchor="ctr"/>
          <a:lstStyle/>
          <a:p>
            <a:pPr marL="0" indent="0" algn="ctr">
              <a:lnSpc>
                <a:spcPts val="802"/>
              </a:lnSpc>
              <a:buNone/>
            </a:pPr>
            <a:r>
              <a:rPr lang="en-US" sz="800" b="1" kern="0" spc="86" dirty="0">
                <a:solidFill>
                  <a:srgbClr val="8C6F12"/>
                </a:solidFill>
                <a:latin typeface="Carlito" pitchFamily="34" charset="0"/>
                <a:ea typeface="Carlito" pitchFamily="34" charset="-122"/>
                <a:cs typeface="Carlito" pitchFamily="34" charset="-120"/>
              </a:rPr>
              <a:t>MEDIUM PRIORITY</a:t>
            </a:r>
            <a:endParaRPr lang="en-US" sz="800" dirty="0"/>
          </a:p>
        </p:txBody>
      </p:sp>
      <p:sp>
        <p:nvSpPr>
          <p:cNvPr id="27" name="Text 25"/>
          <p:cNvSpPr/>
          <p:nvPr/>
        </p:nvSpPr>
        <p:spPr>
          <a:xfrm>
            <a:off x="432197" y="3315481"/>
            <a:ext cx="4093369" cy="908819"/>
          </a:xfrm>
          <a:prstGeom prst="roundRect">
            <a:avLst>
              <a:gd name="adj" fmla="val 8385"/>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28" name="Text 26"/>
          <p:cNvSpPr/>
          <p:nvPr/>
        </p:nvSpPr>
        <p:spPr>
          <a:xfrm>
            <a:off x="535781" y="3404778"/>
            <a:ext cx="214313" cy="214313"/>
          </a:xfrm>
          <a:prstGeom prst="roundRect">
            <a:avLst>
              <a:gd name="adj" fmla="val 26667"/>
            </a:avLst>
          </a:prstGeom>
          <a:solidFill>
            <a:srgbClr val="C9A227">
              <a:alpha val="12000"/>
            </a:srgbClr>
          </a:solidFill>
          <a:ln/>
        </p:spPr>
        <p:txBody>
          <a:bodyPr wrap="square" rtlCol="0" anchor="ctr"/>
          <a:lstStyle/>
          <a:p>
            <a:pPr marL="0" indent="0">
              <a:buNone/>
            </a:pPr>
            <a:endParaRPr lang="en-US" dirty="0"/>
          </a:p>
        </p:txBody>
      </p:sp>
      <p:sp>
        <p:nvSpPr>
          <p:cNvPr id="29" name="Text 27"/>
          <p:cNvSpPr/>
          <p:nvPr/>
        </p:nvSpPr>
        <p:spPr>
          <a:xfrm>
            <a:off x="549712" y="3418709"/>
            <a:ext cx="186452" cy="186452"/>
          </a:xfrm>
          <a:prstGeom prst="rect">
            <a:avLst/>
          </a:prstGeom>
          <a:noFill/>
          <a:ln/>
        </p:spPr>
        <p:txBody>
          <a:bodyPr wrap="none" lIns="0" tIns="0" rIns="0" bIns="0" rtlCol="0" anchor="ctr"/>
          <a:lstStyle/>
          <a:p>
            <a:pPr marL="0" indent="0" algn="ctr">
              <a:buNone/>
            </a:pPr>
            <a:r>
              <a:rPr lang="en-US" sz="1266" dirty="0">
                <a:solidFill>
                  <a:srgbClr val="8C6F12"/>
                </a:solidFill>
                <a:latin typeface="Segoe UI Symbol" pitchFamily="34" charset="0"/>
                <a:ea typeface="Segoe UI Symbol" pitchFamily="34" charset="-122"/>
                <a:cs typeface="Segoe UI Symbol" pitchFamily="34" charset="-120"/>
              </a:rPr>
              <a:t>⇄</a:t>
            </a:r>
            <a:endParaRPr lang="en-US" sz="1266" dirty="0"/>
          </a:p>
        </p:txBody>
      </p:sp>
      <p:sp>
        <p:nvSpPr>
          <p:cNvPr id="30" name="Text 28"/>
          <p:cNvSpPr/>
          <p:nvPr/>
        </p:nvSpPr>
        <p:spPr>
          <a:xfrm>
            <a:off x="821531" y="3404778"/>
            <a:ext cx="3600450" cy="91440"/>
          </a:xfrm>
          <a:prstGeom prst="rect">
            <a:avLst/>
          </a:prstGeom>
          <a:noFill/>
          <a:ln/>
        </p:spPr>
        <p:txBody>
          <a:bodyPr wrap="none" lIns="0" tIns="0" rIns="0" bIns="0" rtlCol="0" anchor="t">
            <a:normAutofit fontScale="55000" lnSpcReduction="20000"/>
          </a:bodyPr>
          <a:lstStyle/>
          <a:p>
            <a:pPr marL="0" indent="0" algn="l">
              <a:lnSpc>
                <a:spcPts val="759"/>
              </a:lnSpc>
              <a:buNone/>
            </a:pPr>
            <a:r>
              <a:rPr lang="en-US" sz="800" b="1" kern="0" spc="101" dirty="0">
                <a:solidFill>
                  <a:srgbClr val="7A8AA0"/>
                </a:solidFill>
                <a:latin typeface="Liberation Sans Narrow" pitchFamily="34" charset="0"/>
                <a:ea typeface="Liberation Sans Narrow" pitchFamily="34" charset="-122"/>
                <a:cs typeface="Liberation Sans Narrow" pitchFamily="34" charset="-120"/>
              </a:rPr>
              <a:t>EXTENSION 03</a:t>
            </a:r>
            <a:endParaRPr lang="en-US" sz="800" dirty="0"/>
          </a:p>
        </p:txBody>
      </p:sp>
      <p:sp>
        <p:nvSpPr>
          <p:cNvPr id="31" name="Text 29"/>
          <p:cNvSpPr/>
          <p:nvPr/>
        </p:nvSpPr>
        <p:spPr>
          <a:xfrm>
            <a:off x="821531" y="3515506"/>
            <a:ext cx="3600450" cy="139839"/>
          </a:xfrm>
          <a:prstGeom prst="rect">
            <a:avLst/>
          </a:prstGeom>
          <a:noFill/>
          <a:ln/>
        </p:spPr>
        <p:txBody>
          <a:bodyPr wrap="none" lIns="0" tIns="0" rIns="0" bIns="0" rtlCol="0" anchor="t"/>
          <a:lstStyle/>
          <a:p>
            <a:pPr marL="0" indent="0" algn="l">
              <a:lnSpc>
                <a:spcPts val="1020"/>
              </a:lnSpc>
              <a:buNone/>
            </a:pPr>
            <a:r>
              <a:rPr lang="en-US" sz="816" b="1" kern="0" spc="-4" dirty="0">
                <a:solidFill>
                  <a:srgbClr val="0F2A4A"/>
                </a:solidFill>
                <a:latin typeface="Carlito" pitchFamily="34" charset="0"/>
                <a:ea typeface="Carlito" pitchFamily="34" charset="-122"/>
                <a:cs typeface="Carlito" pitchFamily="34" charset="-120"/>
              </a:rPr>
              <a:t>Multilingual support</a:t>
            </a:r>
            <a:endParaRPr lang="en-US" sz="816" dirty="0"/>
          </a:p>
        </p:txBody>
      </p:sp>
      <p:sp>
        <p:nvSpPr>
          <p:cNvPr id="32" name="Text 30"/>
          <p:cNvSpPr/>
          <p:nvPr/>
        </p:nvSpPr>
        <p:spPr>
          <a:xfrm>
            <a:off x="535781" y="3694993"/>
            <a:ext cx="3886200" cy="210767"/>
          </a:xfrm>
          <a:prstGeom prst="rect">
            <a:avLst/>
          </a:prstGeom>
          <a:noFill/>
          <a:ln/>
        </p:spPr>
        <p:txBody>
          <a:bodyPr wrap="square" lIns="0" tIns="0" rIns="0" bIns="0" rtlCol="0" anchor="t">
            <a:normAutofit fontScale="77500" lnSpcReduction="20000"/>
          </a:bodyPr>
          <a:lstStyle/>
          <a:p>
            <a:pPr marL="0" indent="0" algn="l">
              <a:lnSpc>
                <a:spcPts val="938"/>
              </a:lnSpc>
              <a:buNone/>
            </a:pPr>
            <a:r>
              <a:rPr lang="en-US" sz="800" dirty="0">
                <a:solidFill>
                  <a:srgbClr val="4A5A75"/>
                </a:solidFill>
                <a:latin typeface="Carlito" pitchFamily="34" charset="0"/>
                <a:ea typeface="Carlito" pitchFamily="34" charset="-122"/>
                <a:cs typeface="Carlito" pitchFamily="34" charset="-120"/>
              </a:rPr>
              <a:t>Add Arabic and French interfaces, plus multilingual chatbot responses, to serve a broader regional audience.</a:t>
            </a:r>
            <a:endParaRPr lang="en-US" sz="800" dirty="0"/>
          </a:p>
        </p:txBody>
      </p:sp>
      <p:sp>
        <p:nvSpPr>
          <p:cNvPr id="33" name="Text 31"/>
          <p:cNvSpPr/>
          <p:nvPr/>
        </p:nvSpPr>
        <p:spPr>
          <a:xfrm>
            <a:off x="535781" y="4021596"/>
            <a:ext cx="3011760" cy="127695"/>
          </a:xfrm>
          <a:prstGeom prst="rect">
            <a:avLst/>
          </a:prstGeom>
          <a:noFill/>
          <a:ln/>
        </p:spPr>
        <p:txBody>
          <a:bodyPr wrap="none" lIns="0" tIns="0" rIns="0" bIns="0" rtlCol="0" anchor="t"/>
          <a:lstStyle/>
          <a:p>
            <a:pPr marL="0" indent="0" algn="l">
              <a:lnSpc>
                <a:spcPts val="759"/>
              </a:lnSpc>
              <a:buNone/>
            </a:pPr>
            <a:r>
              <a:rPr lang="en-US" sz="800" b="1" kern="0" spc="91" dirty="0">
                <a:solidFill>
                  <a:srgbClr val="7A8AA0"/>
                </a:solidFill>
                <a:latin typeface="Liberation Sans Narrow" pitchFamily="34" charset="0"/>
                <a:ea typeface="Liberation Sans Narrow" pitchFamily="34" charset="-122"/>
                <a:cs typeface="Liberation Sans Narrow" pitchFamily="34" charset="-120"/>
              </a:rPr>
              <a:t>I18N</a:t>
            </a:r>
            <a:endParaRPr lang="en-US" sz="800" dirty="0"/>
          </a:p>
        </p:txBody>
      </p:sp>
      <p:sp>
        <p:nvSpPr>
          <p:cNvPr id="34" name="Text 32"/>
          <p:cNvSpPr/>
          <p:nvPr/>
        </p:nvSpPr>
        <p:spPr>
          <a:xfrm>
            <a:off x="3538969" y="3980806"/>
            <a:ext cx="905872" cy="178022"/>
          </a:xfrm>
          <a:prstGeom prst="roundRect">
            <a:avLst>
              <a:gd name="adj" fmla="val 5345112"/>
            </a:avLst>
          </a:prstGeom>
          <a:solidFill>
            <a:srgbClr val="B6432A">
              <a:alpha val="10000"/>
            </a:srgbClr>
          </a:solidFill>
          <a:ln w="7144">
            <a:solidFill>
              <a:srgbClr val="B6432A"/>
            </a:solidFill>
            <a:prstDash val="solid"/>
          </a:ln>
        </p:spPr>
        <p:txBody>
          <a:bodyPr wrap="square" rtlCol="0" anchor="ctr"/>
          <a:lstStyle/>
          <a:p>
            <a:pPr marL="0" indent="0">
              <a:buNone/>
            </a:pPr>
            <a:endParaRPr lang="en-US" dirty="0"/>
          </a:p>
        </p:txBody>
      </p:sp>
      <p:sp>
        <p:nvSpPr>
          <p:cNvPr id="35" name="Text 33"/>
          <p:cNvSpPr/>
          <p:nvPr/>
        </p:nvSpPr>
        <p:spPr>
          <a:xfrm>
            <a:off x="3561829" y="3990342"/>
            <a:ext cx="860152" cy="158948"/>
          </a:xfrm>
          <a:prstGeom prst="rect">
            <a:avLst/>
          </a:prstGeom>
          <a:noFill/>
          <a:ln/>
        </p:spPr>
        <p:txBody>
          <a:bodyPr wrap="none" lIns="0" tIns="0" rIns="0" bIns="0" rtlCol="0" anchor="ctr"/>
          <a:lstStyle/>
          <a:p>
            <a:pPr marL="0" indent="0" algn="ctr">
              <a:lnSpc>
                <a:spcPts val="802"/>
              </a:lnSpc>
              <a:buNone/>
            </a:pPr>
            <a:r>
              <a:rPr lang="en-US" sz="800" b="1" kern="0" spc="86" dirty="0">
                <a:solidFill>
                  <a:srgbClr val="B6432A"/>
                </a:solidFill>
                <a:latin typeface="Carlito" pitchFamily="34" charset="0"/>
                <a:ea typeface="Carlito" pitchFamily="34" charset="-122"/>
                <a:cs typeface="Carlito" pitchFamily="34" charset="-120"/>
              </a:rPr>
              <a:t>HIGH PRIORITY</a:t>
            </a:r>
            <a:endParaRPr lang="en-US" sz="800" dirty="0"/>
          </a:p>
        </p:txBody>
      </p:sp>
      <p:sp>
        <p:nvSpPr>
          <p:cNvPr id="36" name="Text 34"/>
          <p:cNvSpPr/>
          <p:nvPr/>
        </p:nvSpPr>
        <p:spPr>
          <a:xfrm>
            <a:off x="4618434" y="1312106"/>
            <a:ext cx="4093369" cy="908819"/>
          </a:xfrm>
          <a:prstGeom prst="roundRect">
            <a:avLst>
              <a:gd name="adj" fmla="val 8385"/>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37" name="Text 35"/>
          <p:cNvSpPr/>
          <p:nvPr/>
        </p:nvSpPr>
        <p:spPr>
          <a:xfrm>
            <a:off x="4722019" y="1401403"/>
            <a:ext cx="214313" cy="214313"/>
          </a:xfrm>
          <a:prstGeom prst="roundRect">
            <a:avLst>
              <a:gd name="adj" fmla="val 26667"/>
            </a:avLst>
          </a:prstGeom>
          <a:solidFill>
            <a:srgbClr val="C9A227">
              <a:alpha val="12000"/>
            </a:srgbClr>
          </a:solidFill>
          <a:ln/>
        </p:spPr>
        <p:txBody>
          <a:bodyPr wrap="square" rtlCol="0" anchor="ctr"/>
          <a:lstStyle/>
          <a:p>
            <a:pPr marL="0" indent="0">
              <a:buNone/>
            </a:pPr>
            <a:endParaRPr lang="en-US" dirty="0"/>
          </a:p>
        </p:txBody>
      </p:sp>
      <p:sp>
        <p:nvSpPr>
          <p:cNvPr id="38" name="Text 36"/>
          <p:cNvSpPr/>
          <p:nvPr/>
        </p:nvSpPr>
        <p:spPr>
          <a:xfrm>
            <a:off x="4735949" y="1415333"/>
            <a:ext cx="186452" cy="186452"/>
          </a:xfrm>
          <a:prstGeom prst="rect">
            <a:avLst/>
          </a:prstGeom>
          <a:noFill/>
          <a:ln/>
        </p:spPr>
        <p:txBody>
          <a:bodyPr wrap="none" lIns="0" tIns="0" rIns="0" bIns="0" rtlCol="0" anchor="ctr"/>
          <a:lstStyle/>
          <a:p>
            <a:pPr marL="0" indent="0" algn="ctr">
              <a:buNone/>
            </a:pPr>
            <a:r>
              <a:rPr lang="en-US" sz="1266" dirty="0">
                <a:solidFill>
                  <a:srgbClr val="8C6F12"/>
                </a:solidFill>
                <a:latin typeface="Segoe UI Symbol" pitchFamily="34" charset="0"/>
                <a:ea typeface="Segoe UI Symbol" pitchFamily="34" charset="-122"/>
                <a:cs typeface="Segoe UI Symbol" pitchFamily="34" charset="-120"/>
              </a:rPr>
              <a:t>▦</a:t>
            </a:r>
            <a:endParaRPr lang="en-US" sz="1266" dirty="0"/>
          </a:p>
        </p:txBody>
      </p:sp>
      <p:sp>
        <p:nvSpPr>
          <p:cNvPr id="39" name="Text 37"/>
          <p:cNvSpPr/>
          <p:nvPr/>
        </p:nvSpPr>
        <p:spPr>
          <a:xfrm>
            <a:off x="5007769" y="1401403"/>
            <a:ext cx="3600450" cy="91440"/>
          </a:xfrm>
          <a:prstGeom prst="rect">
            <a:avLst/>
          </a:prstGeom>
          <a:noFill/>
          <a:ln/>
        </p:spPr>
        <p:txBody>
          <a:bodyPr wrap="none" lIns="0" tIns="0" rIns="0" bIns="0" rtlCol="0" anchor="t">
            <a:normAutofit fontScale="55000" lnSpcReduction="20000"/>
          </a:bodyPr>
          <a:lstStyle/>
          <a:p>
            <a:pPr marL="0" indent="0" algn="l">
              <a:lnSpc>
                <a:spcPts val="759"/>
              </a:lnSpc>
              <a:buNone/>
            </a:pPr>
            <a:r>
              <a:rPr lang="en-US" sz="800" b="1" kern="0" spc="101" dirty="0">
                <a:solidFill>
                  <a:srgbClr val="7A8AA0"/>
                </a:solidFill>
                <a:latin typeface="Liberation Sans Narrow" pitchFamily="34" charset="0"/>
                <a:ea typeface="Liberation Sans Narrow" pitchFamily="34" charset="-122"/>
                <a:cs typeface="Liberation Sans Narrow" pitchFamily="34" charset="-120"/>
              </a:rPr>
              <a:t>EXTENSION 04</a:t>
            </a:r>
            <a:endParaRPr lang="en-US" sz="800" dirty="0"/>
          </a:p>
        </p:txBody>
      </p:sp>
      <p:sp>
        <p:nvSpPr>
          <p:cNvPr id="40" name="Text 38"/>
          <p:cNvSpPr/>
          <p:nvPr/>
        </p:nvSpPr>
        <p:spPr>
          <a:xfrm>
            <a:off x="5007769" y="1512131"/>
            <a:ext cx="3600450" cy="139839"/>
          </a:xfrm>
          <a:prstGeom prst="rect">
            <a:avLst/>
          </a:prstGeom>
          <a:noFill/>
          <a:ln/>
        </p:spPr>
        <p:txBody>
          <a:bodyPr wrap="none" lIns="0" tIns="0" rIns="0" bIns="0" rtlCol="0" anchor="t"/>
          <a:lstStyle/>
          <a:p>
            <a:pPr marL="0" indent="0" algn="l">
              <a:lnSpc>
                <a:spcPts val="1020"/>
              </a:lnSpc>
              <a:buNone/>
            </a:pPr>
            <a:r>
              <a:rPr lang="en-US" sz="816" b="1" kern="0" spc="-4" dirty="0">
                <a:solidFill>
                  <a:srgbClr val="0F2A4A"/>
                </a:solidFill>
                <a:latin typeface="Carlito" pitchFamily="34" charset="0"/>
                <a:ea typeface="Carlito" pitchFamily="34" charset="-122"/>
                <a:cs typeface="Carlito" pitchFamily="34" charset="-120"/>
              </a:rPr>
              <a:t>Adherence analytics</a:t>
            </a:r>
            <a:endParaRPr lang="en-US" sz="816" dirty="0"/>
          </a:p>
        </p:txBody>
      </p:sp>
      <p:sp>
        <p:nvSpPr>
          <p:cNvPr id="41" name="Text 39"/>
          <p:cNvSpPr/>
          <p:nvPr/>
        </p:nvSpPr>
        <p:spPr>
          <a:xfrm>
            <a:off x="4722019" y="1691618"/>
            <a:ext cx="3886200" cy="210767"/>
          </a:xfrm>
          <a:prstGeom prst="rect">
            <a:avLst/>
          </a:prstGeom>
          <a:noFill/>
          <a:ln/>
        </p:spPr>
        <p:txBody>
          <a:bodyPr wrap="square" lIns="0" tIns="0" rIns="0" bIns="0" rtlCol="0" anchor="t">
            <a:normAutofit fontScale="77500" lnSpcReduction="20000"/>
          </a:bodyPr>
          <a:lstStyle/>
          <a:p>
            <a:pPr marL="0" indent="0" algn="l">
              <a:lnSpc>
                <a:spcPts val="938"/>
              </a:lnSpc>
              <a:buNone/>
            </a:pPr>
            <a:r>
              <a:rPr lang="en-US" sz="800" dirty="0">
                <a:solidFill>
                  <a:srgbClr val="4A5A75"/>
                </a:solidFill>
                <a:latin typeface="Carlito" pitchFamily="34" charset="0"/>
                <a:ea typeface="Carlito" pitchFamily="34" charset="-122"/>
                <a:cs typeface="Carlito" pitchFamily="34" charset="-120"/>
              </a:rPr>
              <a:t>Long-term adherence dashboards for caregivers and (with consent) clinicians: trend lines, risk scores, intervention prompts.</a:t>
            </a:r>
            <a:endParaRPr lang="en-US" sz="800" dirty="0"/>
          </a:p>
        </p:txBody>
      </p:sp>
      <p:sp>
        <p:nvSpPr>
          <p:cNvPr id="42" name="Text 40"/>
          <p:cNvSpPr/>
          <p:nvPr/>
        </p:nvSpPr>
        <p:spPr>
          <a:xfrm>
            <a:off x="4722019" y="2018221"/>
            <a:ext cx="2866430" cy="127695"/>
          </a:xfrm>
          <a:prstGeom prst="rect">
            <a:avLst/>
          </a:prstGeom>
          <a:noFill/>
          <a:ln/>
        </p:spPr>
        <p:txBody>
          <a:bodyPr wrap="none" lIns="0" tIns="0" rIns="0" bIns="0" rtlCol="0" anchor="t"/>
          <a:lstStyle/>
          <a:p>
            <a:pPr marL="0" indent="0" algn="l">
              <a:lnSpc>
                <a:spcPts val="759"/>
              </a:lnSpc>
              <a:buNone/>
            </a:pPr>
            <a:r>
              <a:rPr lang="en-US" sz="800" b="1" kern="0" spc="91" dirty="0">
                <a:solidFill>
                  <a:srgbClr val="7A8AA0"/>
                </a:solidFill>
                <a:latin typeface="Carlito" pitchFamily="34" charset="0"/>
                <a:ea typeface="Carlito" pitchFamily="34" charset="-122"/>
                <a:cs typeface="Carlito" pitchFamily="34" charset="-120"/>
              </a:rPr>
              <a:t>ANALYTICS</a:t>
            </a:r>
            <a:endParaRPr lang="en-US" sz="800" dirty="0"/>
          </a:p>
        </p:txBody>
      </p:sp>
      <p:sp>
        <p:nvSpPr>
          <p:cNvPr id="43" name="Text 41"/>
          <p:cNvSpPr/>
          <p:nvPr/>
        </p:nvSpPr>
        <p:spPr>
          <a:xfrm>
            <a:off x="7579876" y="1977430"/>
            <a:ext cx="1051203" cy="178022"/>
          </a:xfrm>
          <a:prstGeom prst="roundRect">
            <a:avLst>
              <a:gd name="adj" fmla="val 5345112"/>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44" name="Text 42"/>
          <p:cNvSpPr/>
          <p:nvPr/>
        </p:nvSpPr>
        <p:spPr>
          <a:xfrm>
            <a:off x="7602736" y="1986967"/>
            <a:ext cx="1005483" cy="158948"/>
          </a:xfrm>
          <a:prstGeom prst="rect">
            <a:avLst/>
          </a:prstGeom>
          <a:noFill/>
          <a:ln/>
        </p:spPr>
        <p:txBody>
          <a:bodyPr wrap="none" lIns="0" tIns="0" rIns="0" bIns="0" rtlCol="0" anchor="ctr"/>
          <a:lstStyle/>
          <a:p>
            <a:pPr marL="0" indent="0" algn="ctr">
              <a:lnSpc>
                <a:spcPts val="802"/>
              </a:lnSpc>
              <a:buNone/>
            </a:pPr>
            <a:r>
              <a:rPr lang="en-US" sz="800" b="1" kern="0" spc="86" dirty="0">
                <a:solidFill>
                  <a:srgbClr val="8C6F12"/>
                </a:solidFill>
                <a:latin typeface="Carlito" pitchFamily="34" charset="0"/>
                <a:ea typeface="Carlito" pitchFamily="34" charset="-122"/>
                <a:cs typeface="Carlito" pitchFamily="34" charset="-120"/>
              </a:rPr>
              <a:t>MEDIUM PRIORITY</a:t>
            </a:r>
            <a:endParaRPr lang="en-US" sz="800" dirty="0"/>
          </a:p>
        </p:txBody>
      </p:sp>
      <p:sp>
        <p:nvSpPr>
          <p:cNvPr id="45" name="Text 43"/>
          <p:cNvSpPr/>
          <p:nvPr/>
        </p:nvSpPr>
        <p:spPr>
          <a:xfrm>
            <a:off x="4618434" y="2313794"/>
            <a:ext cx="4093369" cy="908819"/>
          </a:xfrm>
          <a:prstGeom prst="roundRect">
            <a:avLst>
              <a:gd name="adj" fmla="val 8385"/>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46" name="Text 44"/>
          <p:cNvSpPr/>
          <p:nvPr/>
        </p:nvSpPr>
        <p:spPr>
          <a:xfrm>
            <a:off x="4722019" y="2403091"/>
            <a:ext cx="214313" cy="214313"/>
          </a:xfrm>
          <a:prstGeom prst="roundRect">
            <a:avLst>
              <a:gd name="adj" fmla="val 26667"/>
            </a:avLst>
          </a:prstGeom>
          <a:solidFill>
            <a:srgbClr val="C9A227">
              <a:alpha val="12000"/>
            </a:srgbClr>
          </a:solidFill>
          <a:ln/>
        </p:spPr>
        <p:txBody>
          <a:bodyPr wrap="square" rtlCol="0" anchor="ctr"/>
          <a:lstStyle/>
          <a:p>
            <a:pPr marL="0" indent="0">
              <a:buNone/>
            </a:pPr>
            <a:endParaRPr lang="en-US" dirty="0"/>
          </a:p>
        </p:txBody>
      </p:sp>
      <p:sp>
        <p:nvSpPr>
          <p:cNvPr id="47" name="Text 45"/>
          <p:cNvSpPr/>
          <p:nvPr/>
        </p:nvSpPr>
        <p:spPr>
          <a:xfrm>
            <a:off x="4735949" y="2417021"/>
            <a:ext cx="186452" cy="186452"/>
          </a:xfrm>
          <a:prstGeom prst="rect">
            <a:avLst/>
          </a:prstGeom>
          <a:noFill/>
          <a:ln/>
        </p:spPr>
        <p:txBody>
          <a:bodyPr wrap="none" lIns="0" tIns="0" rIns="0" bIns="0" rtlCol="0" anchor="ctr"/>
          <a:lstStyle/>
          <a:p>
            <a:pPr marL="0" indent="0" algn="ctr">
              <a:buNone/>
            </a:pPr>
            <a:r>
              <a:rPr lang="en-US" sz="1266" dirty="0">
                <a:solidFill>
                  <a:srgbClr val="8C6F12"/>
                </a:solidFill>
                <a:latin typeface="Segoe UI Symbol" pitchFamily="34" charset="0"/>
                <a:ea typeface="Segoe UI Symbol" pitchFamily="34" charset="-122"/>
                <a:cs typeface="Segoe UI Symbol" pitchFamily="34" charset="-120"/>
              </a:rPr>
              <a:t>✦</a:t>
            </a:r>
            <a:endParaRPr lang="en-US" sz="1266" dirty="0"/>
          </a:p>
        </p:txBody>
      </p:sp>
      <p:sp>
        <p:nvSpPr>
          <p:cNvPr id="48" name="Text 46"/>
          <p:cNvSpPr/>
          <p:nvPr/>
        </p:nvSpPr>
        <p:spPr>
          <a:xfrm>
            <a:off x="5007769" y="2403091"/>
            <a:ext cx="3600450" cy="91440"/>
          </a:xfrm>
          <a:prstGeom prst="rect">
            <a:avLst/>
          </a:prstGeom>
          <a:noFill/>
          <a:ln/>
        </p:spPr>
        <p:txBody>
          <a:bodyPr wrap="none" lIns="0" tIns="0" rIns="0" bIns="0" rtlCol="0" anchor="t">
            <a:normAutofit fontScale="55000" lnSpcReduction="20000"/>
          </a:bodyPr>
          <a:lstStyle/>
          <a:p>
            <a:pPr marL="0" indent="0" algn="l">
              <a:lnSpc>
                <a:spcPts val="759"/>
              </a:lnSpc>
              <a:buNone/>
            </a:pPr>
            <a:r>
              <a:rPr lang="en-US" sz="800" b="1" kern="0" spc="101" dirty="0">
                <a:solidFill>
                  <a:srgbClr val="7A8AA0"/>
                </a:solidFill>
                <a:latin typeface="Liberation Sans Narrow" pitchFamily="34" charset="0"/>
                <a:ea typeface="Liberation Sans Narrow" pitchFamily="34" charset="-122"/>
                <a:cs typeface="Liberation Sans Narrow" pitchFamily="34" charset="-120"/>
              </a:rPr>
              <a:t>EXTENSION 05</a:t>
            </a:r>
            <a:endParaRPr lang="en-US" sz="800" dirty="0"/>
          </a:p>
        </p:txBody>
      </p:sp>
      <p:sp>
        <p:nvSpPr>
          <p:cNvPr id="49" name="Text 47"/>
          <p:cNvSpPr/>
          <p:nvPr/>
        </p:nvSpPr>
        <p:spPr>
          <a:xfrm>
            <a:off x="5007769" y="2513819"/>
            <a:ext cx="3710178" cy="139839"/>
          </a:xfrm>
          <a:prstGeom prst="rect">
            <a:avLst/>
          </a:prstGeom>
          <a:noFill/>
          <a:ln/>
        </p:spPr>
        <p:txBody>
          <a:bodyPr wrap="square" lIns="0" tIns="0" rIns="0" bIns="0" rtlCol="0" anchor="t"/>
          <a:lstStyle/>
          <a:p>
            <a:pPr marL="0" indent="0" algn="l">
              <a:lnSpc>
                <a:spcPts val="1020"/>
              </a:lnSpc>
              <a:buNone/>
            </a:pPr>
            <a:r>
              <a:rPr lang="en-US" sz="816" b="1" kern="0" spc="-4" dirty="0">
                <a:solidFill>
                  <a:srgbClr val="0F2A4A"/>
                </a:solidFill>
                <a:latin typeface="Carlito" pitchFamily="34" charset="0"/>
                <a:ea typeface="Carlito" pitchFamily="34" charset="-122"/>
                <a:cs typeface="Carlito" pitchFamily="34" charset="-120"/>
              </a:rPr>
              <a:t>Pharmacy &amp; refill integration</a:t>
            </a:r>
            <a:endParaRPr lang="en-US" sz="816" dirty="0"/>
          </a:p>
        </p:txBody>
      </p:sp>
      <p:sp>
        <p:nvSpPr>
          <p:cNvPr id="50" name="Text 48"/>
          <p:cNvSpPr/>
          <p:nvPr/>
        </p:nvSpPr>
        <p:spPr>
          <a:xfrm>
            <a:off x="4722019" y="2693305"/>
            <a:ext cx="3886200" cy="210767"/>
          </a:xfrm>
          <a:prstGeom prst="rect">
            <a:avLst/>
          </a:prstGeom>
          <a:noFill/>
          <a:ln/>
        </p:spPr>
        <p:txBody>
          <a:bodyPr wrap="square" lIns="0" tIns="0" rIns="0" bIns="0" rtlCol="0" anchor="t">
            <a:normAutofit fontScale="77500" lnSpcReduction="20000"/>
          </a:bodyPr>
          <a:lstStyle/>
          <a:p>
            <a:pPr marL="0" indent="0" algn="l">
              <a:lnSpc>
                <a:spcPts val="938"/>
              </a:lnSpc>
              <a:buNone/>
            </a:pPr>
            <a:r>
              <a:rPr lang="en-US" sz="800" dirty="0">
                <a:solidFill>
                  <a:srgbClr val="4A5A75"/>
                </a:solidFill>
                <a:latin typeface="Carlito" pitchFamily="34" charset="0"/>
                <a:ea typeface="Carlito" pitchFamily="34" charset="-122"/>
                <a:cs typeface="Carlito" pitchFamily="34" charset="-120"/>
              </a:rPr>
              <a:t>Direct integration with pharmacy systems to auto-create medications from a prescription scan and trigger refill reminders.</a:t>
            </a:r>
            <a:endParaRPr lang="en-US" sz="800" dirty="0"/>
          </a:p>
        </p:txBody>
      </p:sp>
      <p:sp>
        <p:nvSpPr>
          <p:cNvPr id="51" name="Text 49"/>
          <p:cNvSpPr/>
          <p:nvPr/>
        </p:nvSpPr>
        <p:spPr>
          <a:xfrm>
            <a:off x="4722019" y="3019909"/>
            <a:ext cx="3043796" cy="127695"/>
          </a:xfrm>
          <a:prstGeom prst="rect">
            <a:avLst/>
          </a:prstGeom>
          <a:noFill/>
          <a:ln/>
        </p:spPr>
        <p:txBody>
          <a:bodyPr wrap="none" lIns="0" tIns="0" rIns="0" bIns="0" rtlCol="0" anchor="t"/>
          <a:lstStyle/>
          <a:p>
            <a:pPr marL="0" indent="0" algn="l">
              <a:lnSpc>
                <a:spcPts val="759"/>
              </a:lnSpc>
              <a:buNone/>
            </a:pPr>
            <a:r>
              <a:rPr lang="en-US" sz="800" b="1" kern="0" spc="91" dirty="0">
                <a:solidFill>
                  <a:srgbClr val="7A8AA0"/>
                </a:solidFill>
                <a:latin typeface="Carlito" pitchFamily="34" charset="0"/>
                <a:ea typeface="Carlito" pitchFamily="34" charset="-122"/>
                <a:cs typeface="Carlito" pitchFamily="34" charset="-120"/>
              </a:rPr>
              <a:t>INTEGRATION</a:t>
            </a:r>
            <a:endParaRPr lang="en-US" sz="800" dirty="0"/>
          </a:p>
        </p:txBody>
      </p:sp>
      <p:sp>
        <p:nvSpPr>
          <p:cNvPr id="52" name="Text 50"/>
          <p:cNvSpPr/>
          <p:nvPr/>
        </p:nvSpPr>
        <p:spPr>
          <a:xfrm>
            <a:off x="7757242" y="2979118"/>
            <a:ext cx="873837" cy="178022"/>
          </a:xfrm>
          <a:prstGeom prst="roundRect">
            <a:avLst>
              <a:gd name="adj" fmla="val 5345112"/>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53" name="Text 51"/>
          <p:cNvSpPr/>
          <p:nvPr/>
        </p:nvSpPr>
        <p:spPr>
          <a:xfrm>
            <a:off x="7780102" y="2988655"/>
            <a:ext cx="828117" cy="158948"/>
          </a:xfrm>
          <a:prstGeom prst="rect">
            <a:avLst/>
          </a:prstGeom>
          <a:noFill/>
          <a:ln/>
        </p:spPr>
        <p:txBody>
          <a:bodyPr wrap="none" lIns="0" tIns="0" rIns="0" bIns="0" rtlCol="0" anchor="ctr"/>
          <a:lstStyle/>
          <a:p>
            <a:pPr marL="0" indent="0" algn="ctr">
              <a:lnSpc>
                <a:spcPts val="802"/>
              </a:lnSpc>
              <a:buNone/>
            </a:pPr>
            <a:r>
              <a:rPr lang="en-US" sz="800" b="1" kern="0" spc="86" dirty="0">
                <a:solidFill>
                  <a:srgbClr val="6B7E9B"/>
                </a:solidFill>
                <a:latin typeface="Carlito" pitchFamily="34" charset="0"/>
                <a:ea typeface="Carlito" pitchFamily="34" charset="-122"/>
                <a:cs typeface="Carlito" pitchFamily="34" charset="-120"/>
              </a:rPr>
              <a:t>LOW PRIORITY</a:t>
            </a:r>
            <a:endParaRPr lang="en-US" sz="800" dirty="0"/>
          </a:p>
        </p:txBody>
      </p:sp>
      <p:sp>
        <p:nvSpPr>
          <p:cNvPr id="54" name="Text 52"/>
          <p:cNvSpPr/>
          <p:nvPr/>
        </p:nvSpPr>
        <p:spPr>
          <a:xfrm>
            <a:off x="4618434" y="3315481"/>
            <a:ext cx="4093369" cy="908819"/>
          </a:xfrm>
          <a:prstGeom prst="roundRect">
            <a:avLst>
              <a:gd name="adj" fmla="val 8385"/>
            </a:avLst>
          </a:prstGeom>
          <a:solidFill>
            <a:srgbClr val="F2EEE3"/>
          </a:solidFill>
          <a:ln w="7144">
            <a:solidFill>
              <a:srgbClr val="D9D2BC"/>
            </a:solidFill>
            <a:prstDash val="dash"/>
          </a:ln>
        </p:spPr>
        <p:txBody>
          <a:bodyPr wrap="square" rtlCol="0" anchor="ctr"/>
          <a:lstStyle/>
          <a:p>
            <a:pPr marL="0" indent="0">
              <a:buNone/>
            </a:pPr>
            <a:endParaRPr lang="en-US" dirty="0"/>
          </a:p>
        </p:txBody>
      </p:sp>
      <p:sp>
        <p:nvSpPr>
          <p:cNvPr id="55" name="Text 53"/>
          <p:cNvSpPr/>
          <p:nvPr/>
        </p:nvSpPr>
        <p:spPr>
          <a:xfrm>
            <a:off x="4722019" y="3691310"/>
            <a:ext cx="157163" cy="157163"/>
          </a:xfrm>
          <a:prstGeom prst="rect">
            <a:avLst/>
          </a:prstGeom>
          <a:noFill/>
          <a:ln/>
        </p:spPr>
        <p:txBody>
          <a:bodyPr wrap="none" lIns="0" tIns="0" rIns="0" bIns="0" rtlCol="0" anchor="ctr"/>
          <a:lstStyle/>
          <a:p>
            <a:pPr marL="0" indent="0" algn="ctr">
              <a:buNone/>
            </a:pPr>
            <a:r>
              <a:rPr lang="en-US" sz="1547" dirty="0">
                <a:solidFill>
                  <a:srgbClr val="8C6F12"/>
                </a:solidFill>
                <a:latin typeface="Segoe UI Symbol" pitchFamily="34" charset="0"/>
                <a:ea typeface="Segoe UI Symbol" pitchFamily="34" charset="-122"/>
                <a:cs typeface="Segoe UI Symbol" pitchFamily="34" charset="-120"/>
              </a:rPr>
              <a:t>✦</a:t>
            </a:r>
            <a:endParaRPr lang="en-US" sz="1547" dirty="0"/>
          </a:p>
        </p:txBody>
      </p:sp>
      <p:sp>
        <p:nvSpPr>
          <p:cNvPr id="56" name="Text 54"/>
          <p:cNvSpPr/>
          <p:nvPr/>
        </p:nvSpPr>
        <p:spPr>
          <a:xfrm>
            <a:off x="4950619" y="3642754"/>
            <a:ext cx="3657600" cy="111871"/>
          </a:xfrm>
          <a:prstGeom prst="rect">
            <a:avLst/>
          </a:prstGeom>
          <a:noFill/>
          <a:ln/>
        </p:spPr>
        <p:txBody>
          <a:bodyPr wrap="none" lIns="0" tIns="0" rIns="0" bIns="0" rtlCol="0" anchor="t">
            <a:normAutofit fontScale="92500"/>
          </a:bodyPr>
          <a:lstStyle/>
          <a:p>
            <a:pPr marL="0" indent="0" algn="l">
              <a:lnSpc>
                <a:spcPts val="928"/>
              </a:lnSpc>
              <a:buNone/>
            </a:pPr>
            <a:r>
              <a:rPr lang="en-US" sz="800" b="1" kern="0" spc="99" dirty="0">
                <a:solidFill>
                  <a:srgbClr val="8C6F12"/>
                </a:solidFill>
                <a:latin typeface="Carlito" pitchFamily="34" charset="0"/>
                <a:ea typeface="Carlito" pitchFamily="34" charset="-122"/>
                <a:cs typeface="Carlito" pitchFamily="34" charset="-120"/>
              </a:rPr>
              <a:t>ARCHITECTURAL NOTE</a:t>
            </a:r>
            <a:endParaRPr lang="en-US" sz="800" dirty="0"/>
          </a:p>
        </p:txBody>
      </p:sp>
      <p:sp>
        <p:nvSpPr>
          <p:cNvPr id="57" name="Text 55"/>
          <p:cNvSpPr/>
          <p:nvPr/>
        </p:nvSpPr>
        <p:spPr>
          <a:xfrm>
            <a:off x="4950619" y="3782058"/>
            <a:ext cx="3493517" cy="153560"/>
          </a:xfrm>
          <a:prstGeom prst="rect">
            <a:avLst/>
          </a:prstGeom>
          <a:noFill/>
          <a:ln/>
        </p:spPr>
        <p:txBody>
          <a:bodyPr wrap="square" lIns="0" tIns="0" rIns="0" bIns="0" rtlCol="0" anchor="t"/>
          <a:lstStyle/>
          <a:p>
            <a:pPr marL="0" indent="0" algn="l">
              <a:lnSpc>
                <a:spcPts val="906"/>
              </a:lnSpc>
              <a:buNone/>
            </a:pPr>
            <a:r>
              <a:rPr lang="en-US" sz="800" dirty="0">
                <a:solidFill>
                  <a:srgbClr val="4A5A75"/>
                </a:solidFill>
                <a:latin typeface="Carlito" pitchFamily="34" charset="0"/>
                <a:ea typeface="Carlito" pitchFamily="34" charset="-122"/>
                <a:cs typeface="Carlito" pitchFamily="34" charset="-120"/>
              </a:rPr>
              <a:t>All five extensions reuse the v1.0 layered architecture — no re-architecture required.</a:t>
            </a:r>
            <a:endParaRPr lang="en-US" sz="800" dirty="0"/>
          </a:p>
        </p:txBody>
      </p:sp>
      <p:sp>
        <p:nvSpPr>
          <p:cNvPr id="58" name="Text 56"/>
          <p:cNvSpPr/>
          <p:nvPr/>
        </p:nvSpPr>
        <p:spPr>
          <a:xfrm>
            <a:off x="425053" y="4313597"/>
            <a:ext cx="8286750" cy="254273"/>
          </a:xfrm>
          <a:prstGeom prst="roundRect">
            <a:avLst>
              <a:gd name="adj" fmla="val 22476"/>
            </a:avLst>
          </a:prstGeom>
          <a:solidFill>
            <a:srgbClr val="0F2A4A"/>
          </a:solidFill>
          <a:ln/>
        </p:spPr>
        <p:txBody>
          <a:bodyPr wrap="square" rtlCol="0" anchor="ctr"/>
          <a:lstStyle/>
          <a:p>
            <a:pPr marL="0" indent="0">
              <a:buNone/>
            </a:pPr>
            <a:endParaRPr lang="en-US" dirty="0"/>
          </a:p>
        </p:txBody>
      </p:sp>
      <p:sp>
        <p:nvSpPr>
          <p:cNvPr id="59" name="Text 57"/>
          <p:cNvSpPr/>
          <p:nvPr/>
        </p:nvSpPr>
        <p:spPr>
          <a:xfrm>
            <a:off x="557213" y="4394299"/>
            <a:ext cx="819683" cy="102133"/>
          </a:xfrm>
          <a:prstGeom prst="rect">
            <a:avLst/>
          </a:prstGeom>
          <a:noFill/>
          <a:ln/>
        </p:spPr>
        <p:txBody>
          <a:bodyPr wrap="none" lIns="0" tIns="0" rIns="0" bIns="0" rtlCol="0" anchor="t"/>
          <a:lstStyle/>
          <a:p>
            <a:pPr marL="0" indent="0" algn="l">
              <a:lnSpc>
                <a:spcPts val="731"/>
              </a:lnSpc>
              <a:buNone/>
            </a:pPr>
            <a:r>
              <a:rPr lang="en-US" sz="800" b="1" kern="0" spc="124" dirty="0">
                <a:solidFill>
                  <a:srgbClr val="E6C75A"/>
                </a:solidFill>
                <a:latin typeface="Carlito" pitchFamily="34" charset="0"/>
                <a:ea typeface="Carlito" pitchFamily="34" charset="-122"/>
                <a:cs typeface="Carlito" pitchFamily="34" charset="-120"/>
              </a:rPr>
              <a:t>ROADMAP</a:t>
            </a:r>
            <a:endParaRPr lang="en-US" sz="800" dirty="0"/>
          </a:p>
        </p:txBody>
      </p:sp>
      <p:sp>
        <p:nvSpPr>
          <p:cNvPr id="60" name="Text 58"/>
          <p:cNvSpPr/>
          <p:nvPr/>
        </p:nvSpPr>
        <p:spPr>
          <a:xfrm>
            <a:off x="1355464" y="4413054"/>
            <a:ext cx="42863" cy="42863"/>
          </a:xfrm>
          <a:prstGeom prst="roundRect">
            <a:avLst>
              <a:gd name="adj" fmla="val 66666"/>
            </a:avLst>
          </a:prstGeom>
          <a:solidFill>
            <a:srgbClr val="E6C75A"/>
          </a:solidFill>
          <a:ln/>
        </p:spPr>
        <p:txBody>
          <a:bodyPr wrap="square" rtlCol="0" anchor="ctr"/>
          <a:lstStyle/>
          <a:p>
            <a:pPr marL="0" indent="0">
              <a:buNone/>
            </a:pPr>
            <a:endParaRPr lang="en-US" dirty="0"/>
          </a:p>
        </p:txBody>
      </p:sp>
      <p:sp>
        <p:nvSpPr>
          <p:cNvPr id="61" name="Text 59"/>
          <p:cNvSpPr/>
          <p:nvPr/>
        </p:nvSpPr>
        <p:spPr>
          <a:xfrm>
            <a:off x="1444778" y="4385034"/>
            <a:ext cx="1236204" cy="111398"/>
          </a:xfrm>
          <a:prstGeom prst="rect">
            <a:avLst/>
          </a:prstGeom>
          <a:noFill/>
          <a:ln/>
        </p:spPr>
        <p:txBody>
          <a:bodyPr wrap="none" lIns="0" tIns="0" rIns="0" bIns="0" rtlCol="0" anchor="t"/>
          <a:lstStyle/>
          <a:p>
            <a:pPr marL="0" indent="0" algn="l">
              <a:lnSpc>
                <a:spcPts val="877"/>
              </a:lnSpc>
              <a:buNone/>
            </a:pPr>
            <a:r>
              <a:rPr lang="en-US" sz="800" dirty="0">
                <a:solidFill>
                  <a:srgbClr val="FFFFFF"/>
                </a:solidFill>
                <a:latin typeface="Liberation Sans Narrow" pitchFamily="34" charset="0"/>
                <a:ea typeface="Liberation Sans Narrow" pitchFamily="34" charset="-122"/>
                <a:cs typeface="Liberation Sans Narrow" pitchFamily="34" charset="-120"/>
              </a:rPr>
              <a:t>v1.1 mobile + Arabic</a:t>
            </a:r>
            <a:endParaRPr lang="en-US" sz="800" dirty="0"/>
          </a:p>
        </p:txBody>
      </p:sp>
      <p:sp>
        <p:nvSpPr>
          <p:cNvPr id="62" name="Text 60"/>
          <p:cNvSpPr/>
          <p:nvPr/>
        </p:nvSpPr>
        <p:spPr>
          <a:xfrm>
            <a:off x="2404276" y="4379762"/>
            <a:ext cx="91440" cy="111398"/>
          </a:xfrm>
          <a:prstGeom prst="rect">
            <a:avLst/>
          </a:prstGeom>
          <a:noFill/>
          <a:ln/>
        </p:spPr>
        <p:txBody>
          <a:bodyPr wrap="square" lIns="0" tIns="0" rIns="0" bIns="0" rtlCol="0" anchor="t"/>
          <a:lstStyle/>
          <a:p>
            <a:pPr marL="0" indent="0" algn="l">
              <a:lnSpc>
                <a:spcPts val="877"/>
              </a:lnSpc>
              <a:buNone/>
            </a:pPr>
            <a:r>
              <a:rPr lang="en-US" sz="800" dirty="0">
                <a:solidFill>
                  <a:srgbClr val="FFFFFF">
                    <a:alpha val="35000"/>
                  </a:srgbClr>
                </a:solidFill>
                <a:latin typeface="Carlito" pitchFamily="34" charset="0"/>
                <a:ea typeface="Carlito" pitchFamily="34" charset="-122"/>
                <a:cs typeface="Carlito" pitchFamily="34" charset="-120"/>
              </a:rPr>
              <a:t>›</a:t>
            </a:r>
            <a:endParaRPr lang="en-US" sz="800" dirty="0"/>
          </a:p>
        </p:txBody>
      </p:sp>
      <p:sp>
        <p:nvSpPr>
          <p:cNvPr id="63" name="Text 61"/>
          <p:cNvSpPr/>
          <p:nvPr/>
        </p:nvSpPr>
        <p:spPr>
          <a:xfrm>
            <a:off x="2575377" y="4410305"/>
            <a:ext cx="42863" cy="42863"/>
          </a:xfrm>
          <a:prstGeom prst="roundRect">
            <a:avLst>
              <a:gd name="adj" fmla="val 66666"/>
            </a:avLst>
          </a:prstGeom>
          <a:solidFill>
            <a:srgbClr val="E6C75A"/>
          </a:solidFill>
          <a:ln/>
        </p:spPr>
        <p:txBody>
          <a:bodyPr wrap="square" rtlCol="0" anchor="ctr"/>
          <a:lstStyle/>
          <a:p>
            <a:pPr marL="0" indent="0">
              <a:buNone/>
            </a:pPr>
            <a:endParaRPr lang="en-US" dirty="0"/>
          </a:p>
        </p:txBody>
      </p:sp>
      <p:sp>
        <p:nvSpPr>
          <p:cNvPr id="64" name="Text 62"/>
          <p:cNvSpPr/>
          <p:nvPr/>
        </p:nvSpPr>
        <p:spPr>
          <a:xfrm>
            <a:off x="2677248" y="4379762"/>
            <a:ext cx="1348240" cy="111398"/>
          </a:xfrm>
          <a:prstGeom prst="rect">
            <a:avLst/>
          </a:prstGeom>
          <a:noFill/>
          <a:ln/>
        </p:spPr>
        <p:txBody>
          <a:bodyPr wrap="none" lIns="0" tIns="0" rIns="0" bIns="0" rtlCol="0" anchor="t"/>
          <a:lstStyle/>
          <a:p>
            <a:pPr marL="0" indent="0" algn="l">
              <a:lnSpc>
                <a:spcPts val="877"/>
              </a:lnSpc>
              <a:buNone/>
            </a:pPr>
            <a:r>
              <a:rPr lang="en-US" sz="800" dirty="0">
                <a:solidFill>
                  <a:srgbClr val="FFFFFF"/>
                </a:solidFill>
                <a:latin typeface="Liberation Sans Narrow" pitchFamily="34" charset="0"/>
                <a:ea typeface="Liberation Sans Narrow" pitchFamily="34" charset="-122"/>
                <a:cs typeface="Liberation Sans Narrow" pitchFamily="34" charset="-120"/>
              </a:rPr>
              <a:t>v1.2 wearables + analytics</a:t>
            </a:r>
            <a:endParaRPr lang="en-US" sz="800" dirty="0"/>
          </a:p>
        </p:txBody>
      </p:sp>
      <p:sp>
        <p:nvSpPr>
          <p:cNvPr id="65" name="Text 63"/>
          <p:cNvSpPr/>
          <p:nvPr/>
        </p:nvSpPr>
        <p:spPr>
          <a:xfrm>
            <a:off x="3660502" y="4385035"/>
            <a:ext cx="91440" cy="111398"/>
          </a:xfrm>
          <a:prstGeom prst="rect">
            <a:avLst/>
          </a:prstGeom>
          <a:noFill/>
          <a:ln/>
        </p:spPr>
        <p:txBody>
          <a:bodyPr wrap="square" lIns="0" tIns="0" rIns="0" bIns="0" rtlCol="0" anchor="t"/>
          <a:lstStyle/>
          <a:p>
            <a:pPr marL="0" indent="0" algn="l">
              <a:lnSpc>
                <a:spcPts val="877"/>
              </a:lnSpc>
              <a:buNone/>
            </a:pPr>
            <a:r>
              <a:rPr lang="en-US" sz="800" dirty="0">
                <a:solidFill>
                  <a:srgbClr val="FFFFFF">
                    <a:alpha val="35000"/>
                  </a:srgbClr>
                </a:solidFill>
                <a:latin typeface="Carlito" pitchFamily="34" charset="0"/>
                <a:ea typeface="Carlito" pitchFamily="34" charset="-122"/>
                <a:cs typeface="Carlito" pitchFamily="34" charset="-120"/>
              </a:rPr>
              <a:t>›</a:t>
            </a:r>
            <a:endParaRPr lang="en-US" sz="800" dirty="0"/>
          </a:p>
        </p:txBody>
      </p:sp>
      <p:sp>
        <p:nvSpPr>
          <p:cNvPr id="66" name="Text 64"/>
          <p:cNvSpPr/>
          <p:nvPr/>
        </p:nvSpPr>
        <p:spPr>
          <a:xfrm flipH="1">
            <a:off x="4020527" y="4413054"/>
            <a:ext cx="45719" cy="45719"/>
          </a:xfrm>
          <a:prstGeom prst="roundRect">
            <a:avLst>
              <a:gd name="adj" fmla="val 66666"/>
            </a:avLst>
          </a:prstGeom>
          <a:solidFill>
            <a:srgbClr val="E6C75A"/>
          </a:solidFill>
          <a:ln/>
        </p:spPr>
        <p:txBody>
          <a:bodyPr wrap="square" rtlCol="0" anchor="ctr"/>
          <a:lstStyle/>
          <a:p>
            <a:pPr marL="0" indent="0">
              <a:buNone/>
            </a:pPr>
            <a:endParaRPr lang="en-US" dirty="0"/>
          </a:p>
        </p:txBody>
      </p:sp>
      <p:sp>
        <p:nvSpPr>
          <p:cNvPr id="67" name="Text 65"/>
          <p:cNvSpPr/>
          <p:nvPr/>
        </p:nvSpPr>
        <p:spPr>
          <a:xfrm>
            <a:off x="4093370" y="4378293"/>
            <a:ext cx="1241450" cy="143185"/>
          </a:xfrm>
          <a:prstGeom prst="rect">
            <a:avLst/>
          </a:prstGeom>
          <a:noFill/>
          <a:ln/>
        </p:spPr>
        <p:txBody>
          <a:bodyPr wrap="none" lIns="0" tIns="0" rIns="0" bIns="0" rtlCol="0" anchor="t"/>
          <a:lstStyle/>
          <a:p>
            <a:pPr marL="0" indent="0" algn="l">
              <a:lnSpc>
                <a:spcPts val="877"/>
              </a:lnSpc>
              <a:buNone/>
            </a:pPr>
            <a:r>
              <a:rPr lang="en-US" sz="800" dirty="0">
                <a:solidFill>
                  <a:srgbClr val="FFFFFF"/>
                </a:solidFill>
                <a:latin typeface="Liberation Sans Narrow" pitchFamily="34" charset="0"/>
                <a:ea typeface="Liberation Sans Narrow" pitchFamily="34" charset="-122"/>
                <a:cs typeface="Liberation Sans Narrow" pitchFamily="34" charset="-120"/>
              </a:rPr>
              <a:t>v2.0 pharmacy integration</a:t>
            </a:r>
            <a:endParaRPr lang="en-US" sz="800" dirty="0"/>
          </a:p>
        </p:txBody>
      </p:sp>
      <p:sp>
        <p:nvSpPr>
          <p:cNvPr id="68" name="Text 66"/>
          <p:cNvSpPr/>
          <p:nvPr/>
        </p:nvSpPr>
        <p:spPr>
          <a:xfrm>
            <a:off x="507429" y="4862885"/>
            <a:ext cx="7557641"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69" name="Text 67"/>
          <p:cNvSpPr/>
          <p:nvPr/>
        </p:nvSpPr>
        <p:spPr>
          <a:xfrm>
            <a:off x="8086279" y="4868466"/>
            <a:ext cx="543371"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Future Work</a:t>
            </a:r>
            <a:endParaRPr lang="en-US" sz="8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428625" y="489347"/>
            <a:ext cx="8286750" cy="0"/>
          </a:xfrm>
          <a:prstGeom prst="line">
            <a:avLst/>
          </a:prstGeom>
          <a:noFill/>
          <a:ln w="7144">
            <a:solidFill>
              <a:srgbClr val="D9D2BC"/>
            </a:solidFill>
            <a:prstDash val="solid"/>
          </a:ln>
        </p:spPr>
      </p:sp>
      <p:sp>
        <p:nvSpPr>
          <p:cNvPr id="3" name="Shape 1"/>
          <p:cNvSpPr/>
          <p:nvPr/>
        </p:nvSpPr>
        <p:spPr>
          <a:xfrm>
            <a:off x="550069" y="1669293"/>
            <a:ext cx="3857625" cy="0"/>
          </a:xfrm>
          <a:prstGeom prst="line">
            <a:avLst/>
          </a:prstGeom>
          <a:noFill/>
          <a:ln w="7144">
            <a:solidFill>
              <a:srgbClr val="D9D2BC"/>
            </a:solidFill>
            <a:prstDash val="solid"/>
          </a:ln>
        </p:spPr>
      </p:sp>
      <p:sp>
        <p:nvSpPr>
          <p:cNvPr id="4" name="Shape 2"/>
          <p:cNvSpPr/>
          <p:nvPr/>
        </p:nvSpPr>
        <p:spPr>
          <a:xfrm>
            <a:off x="4736306" y="1669293"/>
            <a:ext cx="3857625" cy="0"/>
          </a:xfrm>
          <a:prstGeom prst="line">
            <a:avLst/>
          </a:prstGeom>
          <a:noFill/>
          <a:ln w="7144">
            <a:solidFill>
              <a:srgbClr val="D9D2BC"/>
            </a:solidFill>
            <a:prstDash val="solid"/>
          </a:ln>
        </p:spPr>
      </p:sp>
      <p:sp>
        <p:nvSpPr>
          <p:cNvPr id="5" name="Shape 3"/>
          <p:cNvSpPr/>
          <p:nvPr/>
        </p:nvSpPr>
        <p:spPr>
          <a:xfrm>
            <a:off x="514350" y="4793456"/>
            <a:ext cx="8115300" cy="0"/>
          </a:xfrm>
          <a:prstGeom prst="line">
            <a:avLst/>
          </a:prstGeom>
          <a:noFill/>
          <a:ln w="7144">
            <a:solidFill>
              <a:srgbClr val="D9D2BC"/>
            </a:solidFill>
            <a:prstDash val="solid"/>
          </a:ln>
        </p:spPr>
      </p:sp>
      <p:sp>
        <p:nvSpPr>
          <p:cNvPr id="6" name="Text 4"/>
          <p:cNvSpPr/>
          <p:nvPr/>
        </p:nvSpPr>
        <p:spPr>
          <a:xfrm>
            <a:off x="428625" y="257175"/>
            <a:ext cx="785109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10 · REFERENCES</a:t>
            </a:r>
            <a:endParaRPr lang="en-US" sz="800" dirty="0"/>
          </a:p>
        </p:txBody>
      </p:sp>
      <p:sp>
        <p:nvSpPr>
          <p:cNvPr id="7" name="Text 5"/>
          <p:cNvSpPr/>
          <p:nvPr/>
        </p:nvSpPr>
        <p:spPr>
          <a:xfrm>
            <a:off x="8294005" y="257175"/>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20 / 21</a:t>
            </a:r>
            <a:endParaRPr lang="en-US" sz="800" dirty="0"/>
          </a:p>
        </p:txBody>
      </p:sp>
      <p:sp>
        <p:nvSpPr>
          <p:cNvPr id="8" name="Text 6"/>
          <p:cNvSpPr/>
          <p:nvPr/>
        </p:nvSpPr>
        <p:spPr>
          <a:xfrm>
            <a:off x="428625" y="692944"/>
            <a:ext cx="8636000" cy="254844"/>
          </a:xfrm>
          <a:prstGeom prst="rect">
            <a:avLst/>
          </a:prstGeom>
          <a:noFill/>
          <a:ln/>
        </p:spPr>
        <p:txBody>
          <a:bodyPr wrap="square" lIns="0" tIns="0" rIns="0" bIns="0" rtlCol="0" anchor="t"/>
          <a:lstStyle/>
          <a:p>
            <a:pPr marL="0" indent="0" algn="l">
              <a:lnSpc>
                <a:spcPts val="1859"/>
              </a:lnSpc>
              <a:buNone/>
            </a:pPr>
            <a:r>
              <a:rPr lang="en-US" sz="1575" b="1" kern="0" spc="-16" dirty="0">
                <a:solidFill>
                  <a:srgbClr val="0F2A4A"/>
                </a:solidFill>
                <a:latin typeface="Tinos" pitchFamily="34" charset="0"/>
                <a:ea typeface="Tinos" pitchFamily="34" charset="-122"/>
                <a:cs typeface="Tinos" pitchFamily="34" charset="-120"/>
              </a:rPr>
              <a:t>References, datasets &amp; tools</a:t>
            </a:r>
            <a:endParaRPr lang="en-US" sz="1575" dirty="0"/>
          </a:p>
        </p:txBody>
      </p:sp>
      <p:sp>
        <p:nvSpPr>
          <p:cNvPr id="9" name="Text 7"/>
          <p:cNvSpPr/>
          <p:nvPr/>
        </p:nvSpPr>
        <p:spPr>
          <a:xfrm>
            <a:off x="428625" y="986061"/>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10" name="Text 8"/>
          <p:cNvSpPr/>
          <p:nvPr/>
        </p:nvSpPr>
        <p:spPr>
          <a:xfrm>
            <a:off x="428625" y="1064642"/>
            <a:ext cx="7715250" cy="169999"/>
          </a:xfrm>
          <a:prstGeom prst="rect">
            <a:avLst/>
          </a:prstGeom>
          <a:noFill/>
          <a:ln/>
        </p:spPr>
        <p:txBody>
          <a:bodyPr wrap="square" lIns="0" tIns="0" rIns="0" bIns="0" rtlCol="0" anchor="t"/>
          <a:lstStyle/>
          <a:p>
            <a:pPr marL="0" indent="0" algn="l">
              <a:lnSpc>
                <a:spcPts val="1133"/>
              </a:lnSpc>
              <a:buNone/>
            </a:pPr>
            <a:r>
              <a:rPr lang="en-US" sz="800" dirty="0">
                <a:solidFill>
                  <a:srgbClr val="4A5A75"/>
                </a:solidFill>
                <a:latin typeface="Carlito" pitchFamily="34" charset="0"/>
                <a:ea typeface="Carlito" pitchFamily="34" charset="-122"/>
                <a:cs typeface="Carlito" pitchFamily="34" charset="-120"/>
              </a:rPr>
              <a:t>Sources consulted during requirements, design, and implementation — academic literature, technical documentation, and open datasets.</a:t>
            </a:r>
            <a:endParaRPr lang="en-US" sz="800" dirty="0"/>
          </a:p>
        </p:txBody>
      </p:sp>
      <p:sp>
        <p:nvSpPr>
          <p:cNvPr id="11" name="Text 9"/>
          <p:cNvSpPr/>
          <p:nvPr/>
        </p:nvSpPr>
        <p:spPr>
          <a:xfrm>
            <a:off x="432198" y="1312105"/>
            <a:ext cx="3986470" cy="2904269"/>
          </a:xfrm>
          <a:prstGeom prst="roundRect">
            <a:avLst>
              <a:gd name="adj" fmla="val 3733"/>
            </a:avLst>
          </a:prstGeom>
          <a:solidFill>
            <a:srgbClr val="F2EEE3"/>
          </a:solidFill>
          <a:ln w="7144">
            <a:solidFill>
              <a:srgbClr val="D9D2BC"/>
            </a:solidFill>
            <a:prstDash val="solid"/>
          </a:ln>
        </p:spPr>
        <p:txBody>
          <a:bodyPr wrap="square" rtlCol="0" anchor="ctr"/>
          <a:lstStyle/>
          <a:p>
            <a:pPr marL="0" indent="0">
              <a:buNone/>
            </a:pPr>
            <a:endParaRPr lang="en-US" dirty="0"/>
          </a:p>
        </p:txBody>
      </p:sp>
      <p:sp>
        <p:nvSpPr>
          <p:cNvPr id="12" name="Text 10"/>
          <p:cNvSpPr/>
          <p:nvPr/>
        </p:nvSpPr>
        <p:spPr>
          <a:xfrm>
            <a:off x="550069" y="1415690"/>
            <a:ext cx="185738" cy="185738"/>
          </a:xfrm>
          <a:prstGeom prst="roundRect">
            <a:avLst>
              <a:gd name="adj" fmla="val 25641"/>
            </a:avLst>
          </a:prstGeom>
          <a:solidFill>
            <a:srgbClr val="0F2A4A">
              <a:alpha val="8000"/>
            </a:srgbClr>
          </a:solidFill>
          <a:ln/>
        </p:spPr>
        <p:txBody>
          <a:bodyPr wrap="square" rtlCol="0" anchor="ctr"/>
          <a:lstStyle/>
          <a:p>
            <a:pPr marL="0" indent="0">
              <a:buNone/>
            </a:pPr>
            <a:endParaRPr lang="en-US" dirty="0"/>
          </a:p>
        </p:txBody>
      </p:sp>
      <p:sp>
        <p:nvSpPr>
          <p:cNvPr id="13" name="Text 11"/>
          <p:cNvSpPr/>
          <p:nvPr/>
        </p:nvSpPr>
        <p:spPr>
          <a:xfrm>
            <a:off x="560070" y="1425692"/>
            <a:ext cx="165735" cy="165735"/>
          </a:xfrm>
          <a:prstGeom prst="rect">
            <a:avLst/>
          </a:prstGeom>
          <a:noFill/>
          <a:ln/>
        </p:spPr>
        <p:txBody>
          <a:bodyPr wrap="none" lIns="0" tIns="0" rIns="0" bIns="0" rtlCol="0" anchor="ctr"/>
          <a:lstStyle/>
          <a:p>
            <a:pPr marL="0" indent="0" algn="ctr">
              <a:buNone/>
            </a:pPr>
            <a:r>
              <a:rPr lang="en-US" sz="1125" dirty="0">
                <a:solidFill>
                  <a:srgbClr val="0F2A4A"/>
                </a:solidFill>
                <a:latin typeface="Segoe UI Symbol" pitchFamily="34" charset="0"/>
                <a:ea typeface="Segoe UI Symbol" pitchFamily="34" charset="-122"/>
                <a:cs typeface="Segoe UI Symbol" pitchFamily="34" charset="-120"/>
              </a:rPr>
              <a:t>▿</a:t>
            </a:r>
            <a:endParaRPr lang="en-US" sz="1125" dirty="0"/>
          </a:p>
        </p:txBody>
      </p:sp>
      <p:sp>
        <p:nvSpPr>
          <p:cNvPr id="14" name="Text 12"/>
          <p:cNvSpPr/>
          <p:nvPr/>
        </p:nvSpPr>
        <p:spPr>
          <a:xfrm>
            <a:off x="807244" y="1444265"/>
            <a:ext cx="3341489" cy="157163"/>
          </a:xfrm>
          <a:prstGeom prst="rect">
            <a:avLst/>
          </a:prstGeom>
          <a:noFill/>
          <a:ln/>
        </p:spPr>
        <p:txBody>
          <a:bodyPr wrap="none" lIns="0" tIns="0" rIns="0" bIns="0" rtlCol="0" anchor="t"/>
          <a:lstStyle/>
          <a:p>
            <a:pPr marL="0" indent="0" algn="l">
              <a:lnSpc>
                <a:spcPts val="1013"/>
              </a:lnSpc>
              <a:buNone/>
            </a:pPr>
            <a:r>
              <a:rPr lang="en-US" sz="800" b="1" kern="0" spc="108" dirty="0">
                <a:solidFill>
                  <a:srgbClr val="0F2A4A"/>
                </a:solidFill>
                <a:latin typeface="Carlito" pitchFamily="34" charset="0"/>
                <a:ea typeface="Carlito" pitchFamily="34" charset="-122"/>
                <a:cs typeface="Carlito" pitchFamily="34" charset="-120"/>
              </a:rPr>
              <a:t>ACADEMIC LITERATURE &amp; STANDARDS</a:t>
            </a:r>
            <a:endParaRPr lang="en-US" sz="800" dirty="0"/>
          </a:p>
        </p:txBody>
      </p:sp>
      <p:sp>
        <p:nvSpPr>
          <p:cNvPr id="15" name="Text 13"/>
          <p:cNvSpPr/>
          <p:nvPr/>
        </p:nvSpPr>
        <p:spPr>
          <a:xfrm>
            <a:off x="4173479" y="1432550"/>
            <a:ext cx="245188" cy="152019"/>
          </a:xfrm>
          <a:prstGeom prst="roundRect">
            <a:avLst>
              <a:gd name="adj" fmla="val 6259398"/>
            </a:avLst>
          </a:prstGeom>
          <a:solidFill>
            <a:srgbClr val="C9A227">
              <a:alpha val="10000"/>
            </a:srgbClr>
          </a:solidFill>
          <a:ln/>
        </p:spPr>
        <p:txBody>
          <a:bodyPr wrap="square" rtlCol="0" anchor="ctr"/>
          <a:lstStyle/>
          <a:p>
            <a:pPr marL="0" indent="0">
              <a:buNone/>
            </a:pPr>
            <a:endParaRPr lang="en-US" dirty="0"/>
          </a:p>
        </p:txBody>
      </p:sp>
      <p:sp>
        <p:nvSpPr>
          <p:cNvPr id="16" name="Text 14"/>
          <p:cNvSpPr/>
          <p:nvPr/>
        </p:nvSpPr>
        <p:spPr>
          <a:xfrm>
            <a:off x="4184452" y="1440693"/>
            <a:ext cx="223242" cy="135731"/>
          </a:xfrm>
          <a:prstGeom prst="rect">
            <a:avLst/>
          </a:prstGeom>
          <a:noFill/>
          <a:ln/>
        </p:spPr>
        <p:txBody>
          <a:bodyPr wrap="none" lIns="0" tIns="0" rIns="0" bIns="0" rtlCol="0" anchor="ctr"/>
          <a:lstStyle/>
          <a:p>
            <a:pPr marL="0" indent="0" algn="ctr">
              <a:lnSpc>
                <a:spcPts val="844"/>
              </a:lnSpc>
              <a:buNone/>
            </a:pPr>
            <a:r>
              <a:rPr lang="en-US" sz="800" b="1" kern="0" spc="90" dirty="0">
                <a:solidFill>
                  <a:srgbClr val="8C6F12"/>
                </a:solidFill>
                <a:latin typeface="Liberation Sans Narrow" pitchFamily="34" charset="0"/>
                <a:ea typeface="Liberation Sans Narrow" pitchFamily="34" charset="-122"/>
                <a:cs typeface="Liberation Sans Narrow" pitchFamily="34" charset="-120"/>
              </a:rPr>
              <a:t>05</a:t>
            </a:r>
            <a:endParaRPr lang="en-US" sz="800" dirty="0"/>
          </a:p>
        </p:txBody>
      </p:sp>
      <p:sp>
        <p:nvSpPr>
          <p:cNvPr id="17" name="Text 15"/>
          <p:cNvSpPr/>
          <p:nvPr/>
        </p:nvSpPr>
        <p:spPr>
          <a:xfrm>
            <a:off x="514350" y="1576425"/>
            <a:ext cx="3839821" cy="538117"/>
          </a:xfrm>
          <a:prstGeom prst="rect">
            <a:avLst/>
          </a:prstGeom>
          <a:noFill/>
          <a:ln/>
        </p:spPr>
        <p:txBody>
          <a:bodyPr wrap="square" lIns="0" tIns="0" rIns="0" bIns="0" rtlCol="0" anchor="t"/>
          <a:lstStyle/>
          <a:p>
            <a:pPr marL="342900" indent="-342900" algn="l">
              <a:lnSpc>
                <a:spcPts val="1350"/>
              </a:lnSpc>
              <a:buSzPct val="100000"/>
              <a:buFont typeface="+mj-lt"/>
              <a:buAutoNum type="arabicPeriod"/>
            </a:pPr>
            <a:r>
              <a:rPr lang="en-US" sz="800" b="1" kern="0" spc="27" dirty="0">
                <a:solidFill>
                  <a:srgbClr val="8C6F12"/>
                </a:solidFill>
                <a:latin typeface="Liberation Sans Narrow" pitchFamily="34" charset="0"/>
                <a:ea typeface="Liberation Sans Narrow" pitchFamily="34" charset="-122"/>
                <a:cs typeface="Liberation Sans Narrow" pitchFamily="34" charset="-120"/>
              </a:rPr>
              <a:t>01</a:t>
            </a:r>
            <a:endParaRPr lang="en-US" sz="800" dirty="0"/>
          </a:p>
          <a:p>
            <a:pPr marL="0" indent="0" algn="l">
              <a:lnSpc>
                <a:spcPts val="1350"/>
              </a:lnSpc>
              <a:buNone/>
            </a:pPr>
            <a:r>
              <a:rPr lang="en-US" sz="800" b="1" dirty="0">
                <a:solidFill>
                  <a:srgbClr val="0F2A4A"/>
                </a:solidFill>
                <a:latin typeface="Carlito" pitchFamily="34" charset="0"/>
                <a:ea typeface="Carlito" pitchFamily="34" charset="-122"/>
                <a:cs typeface="Carlito" pitchFamily="34" charset="-120"/>
              </a:rPr>
              <a:t>Masnoon, N., et al.</a:t>
            </a:r>
            <a:r>
              <a:rPr lang="en-US" sz="800" dirty="0">
                <a:solidFill>
                  <a:srgbClr val="4A5A75"/>
                </a:solidFill>
                <a:latin typeface="Liberation Sans Narrow" pitchFamily="34" charset="0"/>
                <a:ea typeface="Liberation Sans Narrow" pitchFamily="34" charset="-122"/>
                <a:cs typeface="Liberation Sans Narrow" pitchFamily="34" charset="-120"/>
              </a:rPr>
              <a:t> (2017). </a:t>
            </a:r>
            <a:r>
              <a:rPr lang="en-US" sz="800" i="1" dirty="0">
                <a:solidFill>
                  <a:srgbClr val="0F2A4A"/>
                </a:solidFill>
                <a:latin typeface="Carlito" pitchFamily="34" charset="0"/>
                <a:ea typeface="Carlito" pitchFamily="34" charset="-122"/>
                <a:cs typeface="Carlito" pitchFamily="34" charset="-120"/>
              </a:rPr>
              <a:t>“Polypharmacy in older adults: a systematic review.”</a:t>
            </a:r>
            <a:r>
              <a:rPr lang="en-US" sz="800" dirty="0">
                <a:solidFill>
                  <a:srgbClr val="4A5A75"/>
                </a:solidFill>
                <a:latin typeface="Carlito" pitchFamily="34" charset="0"/>
                <a:ea typeface="Carlito" pitchFamily="34" charset="-122"/>
                <a:cs typeface="Carlito" pitchFamily="34" charset="-120"/>
              </a:rPr>
              <a:t> BMC Geriatrics.</a:t>
            </a:r>
            <a:endParaRPr lang="en-US" sz="800" dirty="0"/>
          </a:p>
          <a:p>
            <a:pPr marL="342900" indent="-342900" algn="l">
              <a:lnSpc>
                <a:spcPts val="1350"/>
              </a:lnSpc>
              <a:buSzPct val="100000"/>
              <a:buFont typeface="+mj-lt"/>
              <a:buAutoNum type="arabicPeriod"/>
            </a:pPr>
            <a:r>
              <a:rPr lang="en-US" sz="800" b="1" kern="0" spc="27" dirty="0">
                <a:solidFill>
                  <a:srgbClr val="8C6F12"/>
                </a:solidFill>
                <a:latin typeface="Liberation Sans Narrow" pitchFamily="34" charset="0"/>
                <a:ea typeface="Liberation Sans Narrow" pitchFamily="34" charset="-122"/>
                <a:cs typeface="Liberation Sans Narrow" pitchFamily="34" charset="-120"/>
              </a:rPr>
              <a:t>02</a:t>
            </a:r>
            <a:endParaRPr lang="en-US" sz="800" dirty="0"/>
          </a:p>
          <a:p>
            <a:pPr marL="0" indent="0" algn="l">
              <a:lnSpc>
                <a:spcPts val="1350"/>
              </a:lnSpc>
              <a:buNone/>
            </a:pPr>
            <a:r>
              <a:rPr lang="en-US" sz="800" b="1" dirty="0">
                <a:solidFill>
                  <a:srgbClr val="0F2A4A"/>
                </a:solidFill>
                <a:latin typeface="Carlito" pitchFamily="34" charset="0"/>
                <a:ea typeface="Carlito" pitchFamily="34" charset="-122"/>
                <a:cs typeface="Carlito" pitchFamily="34" charset="-120"/>
              </a:rPr>
              <a:t>WHO</a:t>
            </a:r>
            <a:r>
              <a:rPr lang="en-US" sz="800" dirty="0">
                <a:solidFill>
                  <a:srgbClr val="4A5A75"/>
                </a:solidFill>
                <a:latin typeface="Liberation Sans Narrow" pitchFamily="34" charset="0"/>
                <a:ea typeface="Liberation Sans Narrow" pitchFamily="34" charset="-122"/>
                <a:cs typeface="Liberation Sans Narrow" pitchFamily="34" charset="-120"/>
              </a:rPr>
              <a:t> (2019). </a:t>
            </a:r>
            <a:r>
              <a:rPr lang="en-US" sz="800" i="1" dirty="0">
                <a:solidFill>
                  <a:srgbClr val="0F2A4A"/>
                </a:solidFill>
                <a:latin typeface="Carlito" pitchFamily="34" charset="0"/>
                <a:ea typeface="Carlito" pitchFamily="34" charset="-122"/>
                <a:cs typeface="Carlito" pitchFamily="34" charset="-120"/>
              </a:rPr>
              <a:t>“Medication Safety in Polypharmacy.”</a:t>
            </a:r>
            <a:r>
              <a:rPr lang="en-US" sz="800" dirty="0">
                <a:solidFill>
                  <a:srgbClr val="4A5A75"/>
                </a:solidFill>
                <a:latin typeface="Carlito" pitchFamily="34" charset="0"/>
                <a:ea typeface="Carlito" pitchFamily="34" charset="-122"/>
                <a:cs typeface="Carlito" pitchFamily="34" charset="-120"/>
              </a:rPr>
              <a:t> World Health Organization technical report.</a:t>
            </a:r>
            <a:endParaRPr lang="en-US" sz="800" dirty="0"/>
          </a:p>
          <a:p>
            <a:pPr marL="342900" indent="-342900" algn="l">
              <a:lnSpc>
                <a:spcPts val="1350"/>
              </a:lnSpc>
              <a:buSzPct val="100000"/>
              <a:buFont typeface="+mj-lt"/>
              <a:buAutoNum type="arabicPeriod"/>
            </a:pPr>
            <a:r>
              <a:rPr lang="en-US" sz="800" b="1" kern="0" spc="27" dirty="0">
                <a:solidFill>
                  <a:srgbClr val="8C6F12"/>
                </a:solidFill>
                <a:latin typeface="Liberation Sans Narrow" pitchFamily="34" charset="0"/>
                <a:ea typeface="Liberation Sans Narrow" pitchFamily="34" charset="-122"/>
                <a:cs typeface="Liberation Sans Narrow" pitchFamily="34" charset="-120"/>
              </a:rPr>
              <a:t>03</a:t>
            </a:r>
            <a:endParaRPr lang="en-US" sz="800" dirty="0"/>
          </a:p>
          <a:p>
            <a:pPr marL="0" indent="0" algn="l">
              <a:lnSpc>
                <a:spcPts val="1350"/>
              </a:lnSpc>
              <a:buNone/>
            </a:pPr>
            <a:r>
              <a:rPr lang="en-US" sz="800" b="1" dirty="0">
                <a:solidFill>
                  <a:srgbClr val="0F2A4A"/>
                </a:solidFill>
                <a:latin typeface="Carlito" pitchFamily="34" charset="0"/>
                <a:ea typeface="Carlito" pitchFamily="34" charset="-122"/>
                <a:cs typeface="Carlito" pitchFamily="34" charset="-120"/>
              </a:rPr>
              <a:t>Aspden, P., et al.</a:t>
            </a:r>
            <a:r>
              <a:rPr lang="en-US" sz="800" dirty="0">
                <a:solidFill>
                  <a:srgbClr val="4A5A75"/>
                </a:solidFill>
                <a:latin typeface="Liberation Sans Narrow" pitchFamily="34" charset="0"/>
                <a:ea typeface="Liberation Sans Narrow" pitchFamily="34" charset="-122"/>
                <a:cs typeface="Liberation Sans Narrow" pitchFamily="34" charset="-120"/>
              </a:rPr>
              <a:t> (eds.) (2007). </a:t>
            </a:r>
            <a:r>
              <a:rPr lang="en-US" sz="800" i="1" dirty="0">
                <a:solidFill>
                  <a:srgbClr val="0F2A4A"/>
                </a:solidFill>
                <a:latin typeface="Carlito" pitchFamily="34" charset="0"/>
                <a:ea typeface="Carlito" pitchFamily="34" charset="-122"/>
                <a:cs typeface="Carlito" pitchFamily="34" charset="-120"/>
              </a:rPr>
              <a:t>“Preventing Medication Errors.”</a:t>
            </a:r>
            <a:r>
              <a:rPr lang="en-US" sz="800" dirty="0">
                <a:solidFill>
                  <a:srgbClr val="4A5A75"/>
                </a:solidFill>
                <a:latin typeface="Carlito" pitchFamily="34" charset="0"/>
                <a:ea typeface="Carlito" pitchFamily="34" charset="-122"/>
                <a:cs typeface="Carlito" pitchFamily="34" charset="-120"/>
              </a:rPr>
              <a:t> Institute of Medicine, National Academies Press.</a:t>
            </a:r>
            <a:endParaRPr lang="en-US" sz="800" dirty="0"/>
          </a:p>
          <a:p>
            <a:pPr marL="342900" indent="-342900" algn="l">
              <a:lnSpc>
                <a:spcPts val="1350"/>
              </a:lnSpc>
              <a:buSzPct val="100000"/>
              <a:buFont typeface="+mj-lt"/>
              <a:buAutoNum type="arabicPeriod"/>
            </a:pPr>
            <a:r>
              <a:rPr lang="en-US" sz="800" b="1" kern="0" spc="27" dirty="0">
                <a:solidFill>
                  <a:srgbClr val="8C6F12"/>
                </a:solidFill>
                <a:latin typeface="Liberation Sans Narrow" pitchFamily="34" charset="0"/>
                <a:ea typeface="Liberation Sans Narrow" pitchFamily="34" charset="-122"/>
                <a:cs typeface="Liberation Sans Narrow" pitchFamily="34" charset="-120"/>
              </a:rPr>
              <a:t>04</a:t>
            </a:r>
            <a:endParaRPr lang="en-US" sz="800" dirty="0"/>
          </a:p>
          <a:p>
            <a:pPr marL="0" indent="0" algn="l">
              <a:lnSpc>
                <a:spcPts val="1350"/>
              </a:lnSpc>
              <a:buNone/>
            </a:pPr>
            <a:r>
              <a:rPr lang="en-US" sz="800" b="1" dirty="0">
                <a:solidFill>
                  <a:srgbClr val="0F2A4A"/>
                </a:solidFill>
                <a:latin typeface="Carlito" pitchFamily="34" charset="0"/>
                <a:ea typeface="Carlito" pitchFamily="34" charset="-122"/>
                <a:cs typeface="Carlito" pitchFamily="34" charset="-120"/>
              </a:rPr>
              <a:t>Nielsen, J.</a:t>
            </a:r>
            <a:r>
              <a:rPr lang="en-US" sz="800" dirty="0">
                <a:solidFill>
                  <a:srgbClr val="4A5A75"/>
                </a:solidFill>
                <a:latin typeface="Liberation Sans Narrow" pitchFamily="34" charset="0"/>
                <a:ea typeface="Liberation Sans Narrow" pitchFamily="34" charset="-122"/>
                <a:cs typeface="Liberation Sans Narrow" pitchFamily="34" charset="-120"/>
              </a:rPr>
              <a:t> (2020). </a:t>
            </a:r>
            <a:r>
              <a:rPr lang="en-US" sz="800" i="1" dirty="0">
                <a:solidFill>
                  <a:srgbClr val="0F2A4A"/>
                </a:solidFill>
                <a:latin typeface="Liberation Sans Narrow" pitchFamily="34" charset="0"/>
                <a:ea typeface="Liberation Sans Narrow" pitchFamily="34" charset="-122"/>
                <a:cs typeface="Liberation Sans Narrow" pitchFamily="34" charset="-120"/>
              </a:rPr>
              <a:t>“Usability for seniors (65+).”</a:t>
            </a:r>
            <a:r>
              <a:rPr lang="en-US" sz="800" dirty="0">
                <a:solidFill>
                  <a:srgbClr val="4A5A75"/>
                </a:solidFill>
                <a:latin typeface="Carlito" pitchFamily="34" charset="0"/>
                <a:ea typeface="Carlito" pitchFamily="34" charset="-122"/>
                <a:cs typeface="Carlito" pitchFamily="34" charset="-120"/>
              </a:rPr>
              <a:t> Nielsen Norman Group research report.</a:t>
            </a:r>
            <a:endParaRPr lang="en-US" sz="800" dirty="0"/>
          </a:p>
          <a:p>
            <a:pPr marL="342900" indent="-342900" algn="l">
              <a:lnSpc>
                <a:spcPts val="1350"/>
              </a:lnSpc>
              <a:buSzPct val="100000"/>
              <a:buFont typeface="+mj-lt"/>
              <a:buAutoNum type="arabicPeriod"/>
            </a:pPr>
            <a:r>
              <a:rPr lang="en-US" sz="800" b="1" kern="0" spc="27" dirty="0">
                <a:solidFill>
                  <a:srgbClr val="8C6F12"/>
                </a:solidFill>
                <a:latin typeface="Liberation Sans Narrow" pitchFamily="34" charset="0"/>
                <a:ea typeface="Liberation Sans Narrow" pitchFamily="34" charset="-122"/>
                <a:cs typeface="Liberation Sans Narrow" pitchFamily="34" charset="-120"/>
              </a:rPr>
              <a:t>05</a:t>
            </a:r>
            <a:endParaRPr lang="en-US" sz="800" dirty="0"/>
          </a:p>
          <a:p>
            <a:pPr marL="0" indent="0" algn="l">
              <a:lnSpc>
                <a:spcPts val="1350"/>
              </a:lnSpc>
              <a:buNone/>
            </a:pPr>
            <a:r>
              <a:rPr lang="en-US" sz="800" b="1" dirty="0">
                <a:solidFill>
                  <a:srgbClr val="0F2A4A"/>
                </a:solidFill>
                <a:latin typeface="Carlito" pitchFamily="34" charset="0"/>
                <a:ea typeface="Carlito" pitchFamily="34" charset="-122"/>
                <a:cs typeface="Carlito" pitchFamily="34" charset="-120"/>
              </a:rPr>
              <a:t>OWASP Foundation.</a:t>
            </a:r>
            <a:r>
              <a:rPr lang="en-US" sz="800" dirty="0">
                <a:solidFill>
                  <a:srgbClr val="4A5A75"/>
                </a:solidFill>
                <a:latin typeface="Carlito" pitchFamily="34" charset="0"/>
                <a:ea typeface="Carlito" pitchFamily="34" charset="-122"/>
                <a:cs typeface="Carlito" pitchFamily="34" charset="-120"/>
              </a:rPr>
              <a:t> </a:t>
            </a:r>
            <a:r>
              <a:rPr lang="en-US" sz="800" i="1" dirty="0">
                <a:solidFill>
                  <a:srgbClr val="0F2A4A"/>
                </a:solidFill>
                <a:latin typeface="Carlito" pitchFamily="34" charset="0"/>
                <a:ea typeface="Carlito" pitchFamily="34" charset="-122"/>
                <a:cs typeface="Carlito" pitchFamily="34" charset="-120"/>
              </a:rPr>
              <a:t>“OWASP Top 10 — Web Application Security Risks.”</a:t>
            </a:r>
            <a:endParaRPr lang="en-US" sz="800" dirty="0"/>
          </a:p>
        </p:txBody>
      </p:sp>
      <p:sp>
        <p:nvSpPr>
          <p:cNvPr id="18" name="Text 16"/>
          <p:cNvSpPr/>
          <p:nvPr/>
        </p:nvSpPr>
        <p:spPr>
          <a:xfrm>
            <a:off x="4618434" y="1312106"/>
            <a:ext cx="4096941" cy="2904268"/>
          </a:xfrm>
          <a:prstGeom prst="roundRect">
            <a:avLst>
              <a:gd name="adj" fmla="val 3733"/>
            </a:avLst>
          </a:prstGeom>
          <a:solidFill>
            <a:srgbClr val="F2EEE3"/>
          </a:solidFill>
          <a:ln w="7144">
            <a:solidFill>
              <a:srgbClr val="D9D2BC"/>
            </a:solidFill>
            <a:prstDash val="solid"/>
          </a:ln>
        </p:spPr>
        <p:txBody>
          <a:bodyPr wrap="square" rtlCol="0" anchor="ctr"/>
          <a:lstStyle/>
          <a:p>
            <a:pPr marL="0" indent="0">
              <a:buNone/>
            </a:pPr>
            <a:endParaRPr lang="en-US" dirty="0"/>
          </a:p>
        </p:txBody>
      </p:sp>
      <p:sp>
        <p:nvSpPr>
          <p:cNvPr id="19" name="Text 17"/>
          <p:cNvSpPr/>
          <p:nvPr/>
        </p:nvSpPr>
        <p:spPr>
          <a:xfrm>
            <a:off x="4736306" y="1415690"/>
            <a:ext cx="185738" cy="185738"/>
          </a:xfrm>
          <a:prstGeom prst="roundRect">
            <a:avLst>
              <a:gd name="adj" fmla="val 25641"/>
            </a:avLst>
          </a:prstGeom>
          <a:solidFill>
            <a:srgbClr val="0F2A4A">
              <a:alpha val="8000"/>
            </a:srgbClr>
          </a:solidFill>
          <a:ln/>
        </p:spPr>
        <p:txBody>
          <a:bodyPr wrap="square" rtlCol="0" anchor="ctr"/>
          <a:lstStyle/>
          <a:p>
            <a:pPr marL="0" indent="0">
              <a:buNone/>
            </a:pPr>
            <a:endParaRPr lang="en-US" dirty="0"/>
          </a:p>
        </p:txBody>
      </p:sp>
      <p:sp>
        <p:nvSpPr>
          <p:cNvPr id="20" name="Text 18"/>
          <p:cNvSpPr/>
          <p:nvPr/>
        </p:nvSpPr>
        <p:spPr>
          <a:xfrm>
            <a:off x="4746308" y="1425692"/>
            <a:ext cx="165735" cy="165735"/>
          </a:xfrm>
          <a:prstGeom prst="rect">
            <a:avLst/>
          </a:prstGeom>
          <a:noFill/>
          <a:ln/>
        </p:spPr>
        <p:txBody>
          <a:bodyPr wrap="none" lIns="0" tIns="0" rIns="0" bIns="0" rtlCol="0" anchor="ctr"/>
          <a:lstStyle/>
          <a:p>
            <a:pPr marL="0" indent="0" algn="ctr">
              <a:buNone/>
            </a:pPr>
            <a:r>
              <a:rPr lang="en-US" sz="1125" dirty="0">
                <a:solidFill>
                  <a:srgbClr val="0F2A4A"/>
                </a:solidFill>
                <a:latin typeface="Segoe UI Symbol" pitchFamily="34" charset="0"/>
                <a:ea typeface="Segoe UI Symbol" pitchFamily="34" charset="-122"/>
                <a:cs typeface="Segoe UI Symbol" pitchFamily="34" charset="-120"/>
              </a:rPr>
              <a:t>✦</a:t>
            </a:r>
            <a:endParaRPr lang="en-US" sz="1125" dirty="0"/>
          </a:p>
        </p:txBody>
      </p:sp>
      <p:sp>
        <p:nvSpPr>
          <p:cNvPr id="21" name="Text 19"/>
          <p:cNvSpPr/>
          <p:nvPr/>
        </p:nvSpPr>
        <p:spPr>
          <a:xfrm>
            <a:off x="4993481" y="1444265"/>
            <a:ext cx="3341489" cy="157163"/>
          </a:xfrm>
          <a:prstGeom prst="rect">
            <a:avLst/>
          </a:prstGeom>
          <a:noFill/>
          <a:ln/>
        </p:spPr>
        <p:txBody>
          <a:bodyPr wrap="none" lIns="0" tIns="0" rIns="0" bIns="0" rtlCol="0" anchor="t"/>
          <a:lstStyle/>
          <a:p>
            <a:pPr marL="0" indent="0" algn="l">
              <a:lnSpc>
                <a:spcPts val="1013"/>
              </a:lnSpc>
              <a:buNone/>
            </a:pPr>
            <a:r>
              <a:rPr lang="en-US" sz="800" b="1" kern="0" spc="108" dirty="0">
                <a:solidFill>
                  <a:srgbClr val="0F2A4A"/>
                </a:solidFill>
                <a:latin typeface="Carlito" pitchFamily="34" charset="0"/>
                <a:ea typeface="Carlito" pitchFamily="34" charset="-122"/>
                <a:cs typeface="Carlito" pitchFamily="34" charset="-120"/>
              </a:rPr>
              <a:t>TECHNICAL DOCS, DATASETS &amp; TOOLS</a:t>
            </a:r>
            <a:endParaRPr lang="en-US" sz="800" dirty="0"/>
          </a:p>
        </p:txBody>
      </p:sp>
      <p:sp>
        <p:nvSpPr>
          <p:cNvPr id="22" name="Text 20"/>
          <p:cNvSpPr/>
          <p:nvPr/>
        </p:nvSpPr>
        <p:spPr>
          <a:xfrm>
            <a:off x="8359716" y="1432550"/>
            <a:ext cx="245188" cy="152019"/>
          </a:xfrm>
          <a:prstGeom prst="roundRect">
            <a:avLst>
              <a:gd name="adj" fmla="val 6259398"/>
            </a:avLst>
          </a:prstGeom>
          <a:solidFill>
            <a:srgbClr val="C9A227">
              <a:alpha val="10000"/>
            </a:srgbClr>
          </a:solidFill>
          <a:ln/>
        </p:spPr>
        <p:txBody>
          <a:bodyPr wrap="square" rtlCol="0" anchor="ctr"/>
          <a:lstStyle/>
          <a:p>
            <a:pPr marL="0" indent="0">
              <a:buNone/>
            </a:pPr>
            <a:endParaRPr lang="en-US" dirty="0"/>
          </a:p>
        </p:txBody>
      </p:sp>
      <p:sp>
        <p:nvSpPr>
          <p:cNvPr id="23" name="Text 21"/>
          <p:cNvSpPr/>
          <p:nvPr/>
        </p:nvSpPr>
        <p:spPr>
          <a:xfrm>
            <a:off x="8370689" y="1440693"/>
            <a:ext cx="223242" cy="135731"/>
          </a:xfrm>
          <a:prstGeom prst="rect">
            <a:avLst/>
          </a:prstGeom>
          <a:noFill/>
          <a:ln/>
        </p:spPr>
        <p:txBody>
          <a:bodyPr wrap="none" lIns="0" tIns="0" rIns="0" bIns="0" rtlCol="0" anchor="ctr"/>
          <a:lstStyle/>
          <a:p>
            <a:pPr marL="0" indent="0" algn="ctr">
              <a:lnSpc>
                <a:spcPts val="844"/>
              </a:lnSpc>
              <a:buNone/>
            </a:pPr>
            <a:r>
              <a:rPr lang="en-US" sz="800" b="1" kern="0" spc="90" dirty="0">
                <a:solidFill>
                  <a:srgbClr val="8C6F12"/>
                </a:solidFill>
                <a:latin typeface="Liberation Sans Narrow" pitchFamily="34" charset="0"/>
                <a:ea typeface="Liberation Sans Narrow" pitchFamily="34" charset="-122"/>
                <a:cs typeface="Liberation Sans Narrow" pitchFamily="34" charset="-120"/>
              </a:rPr>
              <a:t>06</a:t>
            </a:r>
            <a:endParaRPr lang="en-US" sz="800" dirty="0"/>
          </a:p>
        </p:txBody>
      </p:sp>
      <p:sp>
        <p:nvSpPr>
          <p:cNvPr id="24" name="Text 22"/>
          <p:cNvSpPr/>
          <p:nvPr/>
        </p:nvSpPr>
        <p:spPr>
          <a:xfrm>
            <a:off x="4736306" y="1730015"/>
            <a:ext cx="3857625" cy="1373203"/>
          </a:xfrm>
          <a:prstGeom prst="rect">
            <a:avLst/>
          </a:prstGeom>
          <a:noFill/>
          <a:ln/>
        </p:spPr>
        <p:txBody>
          <a:bodyPr wrap="square" lIns="0" tIns="0" rIns="0" bIns="0" rtlCol="0" anchor="t"/>
          <a:lstStyle/>
          <a:p>
            <a:pPr marL="342900" indent="-342900" algn="l">
              <a:lnSpc>
                <a:spcPts val="1350"/>
              </a:lnSpc>
              <a:buSzPct val="100000"/>
              <a:buFont typeface="+mj-lt"/>
              <a:buAutoNum type="arabicPeriod"/>
            </a:pPr>
            <a:r>
              <a:rPr lang="en-US" sz="800" b="1" kern="0" spc="27" dirty="0">
                <a:solidFill>
                  <a:srgbClr val="8C6F12"/>
                </a:solidFill>
                <a:latin typeface="Liberation Sans Narrow" pitchFamily="34" charset="0"/>
                <a:ea typeface="Liberation Sans Narrow" pitchFamily="34" charset="-122"/>
                <a:cs typeface="Liberation Sans Narrow" pitchFamily="34" charset="-120"/>
              </a:rPr>
              <a:t>01</a:t>
            </a:r>
            <a:endParaRPr lang="en-US" sz="900" dirty="0"/>
          </a:p>
          <a:p>
            <a:pPr marL="0" indent="0" algn="l">
              <a:lnSpc>
                <a:spcPts val="1350"/>
              </a:lnSpc>
              <a:buNone/>
            </a:pPr>
            <a:r>
              <a:rPr lang="en-US" sz="800" b="1" dirty="0">
                <a:solidFill>
                  <a:srgbClr val="0F2A4A"/>
                </a:solidFill>
                <a:latin typeface="Carlito" pitchFamily="34" charset="0"/>
                <a:ea typeface="Carlito" pitchFamily="34" charset="-122"/>
                <a:cs typeface="Carlito" pitchFamily="34" charset="-120"/>
              </a:rPr>
              <a:t>Microsoft Docs.</a:t>
            </a:r>
            <a:r>
              <a:rPr lang="en-US" sz="800" dirty="0">
                <a:solidFill>
                  <a:srgbClr val="4A5A75"/>
                </a:solidFill>
                <a:latin typeface="Carlito" pitchFamily="34" charset="0"/>
                <a:ea typeface="Carlito" pitchFamily="34" charset="-122"/>
                <a:cs typeface="Carlito" pitchFamily="34" charset="-120"/>
              </a:rPr>
              <a:t> </a:t>
            </a:r>
            <a:r>
              <a:rPr lang="en-US" sz="800" i="1" dirty="0">
                <a:solidFill>
                  <a:srgbClr val="0F2A4A"/>
                </a:solidFill>
                <a:latin typeface="Carlito" pitchFamily="34" charset="0"/>
                <a:ea typeface="Carlito" pitchFamily="34" charset="-122"/>
                <a:cs typeface="Carlito" pitchFamily="34" charset="-120"/>
              </a:rPr>
              <a:t>“ASP.NET Core MVC documentation.”</a:t>
            </a:r>
            <a:r>
              <a:rPr lang="en-US" sz="800" dirty="0">
                <a:solidFill>
                  <a:srgbClr val="4A5A75"/>
                </a:solidFill>
                <a:latin typeface="Carlito" pitchFamily="34" charset="0"/>
                <a:ea typeface="Carlito" pitchFamily="34" charset="-122"/>
                <a:cs typeface="Carlito" pitchFamily="34" charset="-120"/>
              </a:rPr>
              <a:t> docs.microsoft.com.</a:t>
            </a:r>
            <a:endParaRPr lang="en-US" sz="900" dirty="0"/>
          </a:p>
          <a:p>
            <a:pPr marL="342900" indent="-342900" algn="l">
              <a:lnSpc>
                <a:spcPts val="1350"/>
              </a:lnSpc>
              <a:buSzPct val="100000"/>
              <a:buFont typeface="+mj-lt"/>
              <a:buAutoNum type="arabicPeriod"/>
            </a:pPr>
            <a:r>
              <a:rPr lang="en-US" sz="800" b="1" kern="0" spc="27" dirty="0">
                <a:solidFill>
                  <a:srgbClr val="8C6F12"/>
                </a:solidFill>
                <a:latin typeface="Liberation Sans Narrow" pitchFamily="34" charset="0"/>
                <a:ea typeface="Liberation Sans Narrow" pitchFamily="34" charset="-122"/>
                <a:cs typeface="Liberation Sans Narrow" pitchFamily="34" charset="-120"/>
              </a:rPr>
              <a:t>02</a:t>
            </a:r>
            <a:endParaRPr lang="en-US" sz="900" dirty="0"/>
          </a:p>
          <a:p>
            <a:pPr marL="0" indent="0" algn="l">
              <a:lnSpc>
                <a:spcPts val="1350"/>
              </a:lnSpc>
              <a:buNone/>
            </a:pPr>
            <a:r>
              <a:rPr lang="en-US" sz="800" b="1" dirty="0">
                <a:solidFill>
                  <a:srgbClr val="0F2A4A"/>
                </a:solidFill>
                <a:latin typeface="Carlito" pitchFamily="34" charset="0"/>
                <a:ea typeface="Carlito" pitchFamily="34" charset="-122"/>
                <a:cs typeface="Carlito" pitchFamily="34" charset="-120"/>
              </a:rPr>
              <a:t>Microsoft Docs.</a:t>
            </a:r>
            <a:r>
              <a:rPr lang="en-US" sz="800" dirty="0">
                <a:solidFill>
                  <a:srgbClr val="4A5A75"/>
                </a:solidFill>
                <a:latin typeface="Carlito" pitchFamily="34" charset="0"/>
                <a:ea typeface="Carlito" pitchFamily="34" charset="-122"/>
                <a:cs typeface="Carlito" pitchFamily="34" charset="-120"/>
              </a:rPr>
              <a:t> </a:t>
            </a:r>
            <a:r>
              <a:rPr lang="en-US" sz="800" i="1" dirty="0">
                <a:solidFill>
                  <a:srgbClr val="0F2A4A"/>
                </a:solidFill>
                <a:latin typeface="Carlito" pitchFamily="34" charset="0"/>
                <a:ea typeface="Carlito" pitchFamily="34" charset="-122"/>
                <a:cs typeface="Carlito" pitchFamily="34" charset="-120"/>
              </a:rPr>
              <a:t>“Entity Framework Core documentation.”</a:t>
            </a:r>
            <a:r>
              <a:rPr lang="en-US" sz="800" dirty="0">
                <a:solidFill>
                  <a:srgbClr val="4A5A75"/>
                </a:solidFill>
                <a:latin typeface="Carlito" pitchFamily="34" charset="0"/>
                <a:ea typeface="Carlito" pitchFamily="34" charset="-122"/>
                <a:cs typeface="Carlito" pitchFamily="34" charset="-120"/>
              </a:rPr>
              <a:t> docs.microsoft.com.</a:t>
            </a:r>
            <a:endParaRPr lang="en-US" sz="900" dirty="0"/>
          </a:p>
          <a:p>
            <a:pPr marL="342900" indent="-342900" algn="l">
              <a:lnSpc>
                <a:spcPts val="1350"/>
              </a:lnSpc>
              <a:buSzPct val="100000"/>
              <a:buFont typeface="+mj-lt"/>
              <a:buAutoNum type="arabicPeriod"/>
            </a:pPr>
            <a:r>
              <a:rPr lang="en-US" sz="800" b="1" kern="0" spc="27" dirty="0">
                <a:solidFill>
                  <a:srgbClr val="8C6F12"/>
                </a:solidFill>
                <a:latin typeface="Liberation Sans Narrow" pitchFamily="34" charset="0"/>
                <a:ea typeface="Liberation Sans Narrow" pitchFamily="34" charset="-122"/>
                <a:cs typeface="Liberation Sans Narrow" pitchFamily="34" charset="-120"/>
              </a:rPr>
              <a:t>03</a:t>
            </a:r>
            <a:endParaRPr lang="en-US" sz="900" dirty="0"/>
          </a:p>
          <a:p>
            <a:pPr marL="0" indent="0" algn="l">
              <a:lnSpc>
                <a:spcPts val="1350"/>
              </a:lnSpc>
              <a:buNone/>
            </a:pPr>
            <a:r>
              <a:rPr lang="en-US" sz="800" b="1" dirty="0">
                <a:solidFill>
                  <a:srgbClr val="0F2A4A"/>
                </a:solidFill>
                <a:latin typeface="Carlito" pitchFamily="34" charset="0"/>
                <a:ea typeface="Carlito" pitchFamily="34" charset="-122"/>
                <a:cs typeface="Carlito" pitchFamily="34" charset="-120"/>
              </a:rPr>
              <a:t>DrugBank Open Data.</a:t>
            </a:r>
            <a:r>
              <a:rPr lang="en-US" sz="800" dirty="0">
                <a:solidFill>
                  <a:srgbClr val="4A5A75"/>
                </a:solidFill>
                <a:latin typeface="Carlito" pitchFamily="34" charset="0"/>
                <a:ea typeface="Carlito" pitchFamily="34" charset="-122"/>
                <a:cs typeface="Carlito" pitchFamily="34" charset="-120"/>
              </a:rPr>
              <a:t> </a:t>
            </a:r>
            <a:r>
              <a:rPr lang="en-US" sz="800" i="1" dirty="0">
                <a:solidFill>
                  <a:srgbClr val="0F2A4A"/>
                </a:solidFill>
                <a:latin typeface="Carlito" pitchFamily="34" charset="0"/>
                <a:ea typeface="Carlito" pitchFamily="34" charset="-122"/>
                <a:cs typeface="Carlito" pitchFamily="34" charset="-120"/>
              </a:rPr>
              <a:t>“DrugBank 5.x open dataset for drug-interaction research.”</a:t>
            </a:r>
            <a:endParaRPr lang="en-US" sz="900" dirty="0"/>
          </a:p>
          <a:p>
            <a:pPr marL="342900" indent="-342900" algn="l">
              <a:lnSpc>
                <a:spcPts val="1350"/>
              </a:lnSpc>
              <a:buSzPct val="100000"/>
              <a:buFont typeface="+mj-lt"/>
              <a:buAutoNum type="arabicPeriod"/>
            </a:pPr>
            <a:r>
              <a:rPr lang="en-US" sz="800" b="1" kern="0" spc="27" dirty="0">
                <a:solidFill>
                  <a:srgbClr val="8C6F12"/>
                </a:solidFill>
                <a:latin typeface="Liberation Sans Narrow" pitchFamily="34" charset="0"/>
                <a:ea typeface="Liberation Sans Narrow" pitchFamily="34" charset="-122"/>
                <a:cs typeface="Liberation Sans Narrow" pitchFamily="34" charset="-120"/>
              </a:rPr>
              <a:t>04</a:t>
            </a:r>
            <a:endParaRPr lang="en-US" sz="900" dirty="0"/>
          </a:p>
          <a:p>
            <a:pPr marL="0" indent="0" algn="l">
              <a:lnSpc>
                <a:spcPts val="1350"/>
              </a:lnSpc>
              <a:buNone/>
            </a:pPr>
            <a:r>
              <a:rPr lang="en-US" sz="800" b="1" dirty="0">
                <a:solidFill>
                  <a:srgbClr val="0F2A4A"/>
                </a:solidFill>
                <a:latin typeface="Carlito" pitchFamily="34" charset="0"/>
                <a:ea typeface="Carlito" pitchFamily="34" charset="-122"/>
                <a:cs typeface="Carlito" pitchFamily="34" charset="-120"/>
              </a:rPr>
              <a:t>RxNorm / National Library of Medicine.</a:t>
            </a:r>
            <a:r>
              <a:rPr lang="en-US" sz="800" dirty="0">
                <a:solidFill>
                  <a:srgbClr val="4A5A75"/>
                </a:solidFill>
                <a:latin typeface="Carlito" pitchFamily="34" charset="0"/>
                <a:ea typeface="Carlito" pitchFamily="34" charset="-122"/>
                <a:cs typeface="Carlito" pitchFamily="34" charset="-120"/>
              </a:rPr>
              <a:t> </a:t>
            </a:r>
            <a:r>
              <a:rPr lang="en-US" sz="800" i="1" dirty="0">
                <a:solidFill>
                  <a:srgbClr val="0F2A4A"/>
                </a:solidFill>
                <a:latin typeface="Carlito" pitchFamily="34" charset="0"/>
                <a:ea typeface="Carlito" pitchFamily="34" charset="-122"/>
                <a:cs typeface="Carlito" pitchFamily="34" charset="-120"/>
              </a:rPr>
              <a:t>“Normalized naming for clinical drugs.”</a:t>
            </a:r>
            <a:endParaRPr lang="en-US" sz="900" dirty="0"/>
          </a:p>
          <a:p>
            <a:pPr marL="342900" indent="-342900" algn="l">
              <a:lnSpc>
                <a:spcPts val="1350"/>
              </a:lnSpc>
              <a:buSzPct val="100000"/>
              <a:buFont typeface="+mj-lt"/>
              <a:buAutoNum type="arabicPeriod"/>
            </a:pPr>
            <a:r>
              <a:rPr lang="en-US" sz="800" b="1" kern="0" spc="27" dirty="0">
                <a:solidFill>
                  <a:srgbClr val="8C6F12"/>
                </a:solidFill>
                <a:latin typeface="Liberation Sans Narrow" pitchFamily="34" charset="0"/>
                <a:ea typeface="Liberation Sans Narrow" pitchFamily="34" charset="-122"/>
                <a:cs typeface="Liberation Sans Narrow" pitchFamily="34" charset="-120"/>
              </a:rPr>
              <a:t>05</a:t>
            </a:r>
            <a:endParaRPr lang="en-US" sz="900" dirty="0"/>
          </a:p>
          <a:p>
            <a:pPr marL="0" indent="0" algn="l">
              <a:lnSpc>
                <a:spcPts val="1350"/>
              </a:lnSpc>
              <a:buNone/>
            </a:pPr>
            <a:r>
              <a:rPr lang="en-US" sz="800" b="1" dirty="0">
                <a:solidFill>
                  <a:srgbClr val="0F2A4A"/>
                </a:solidFill>
                <a:latin typeface="Liberation Sans Narrow" pitchFamily="34" charset="0"/>
                <a:ea typeface="Liberation Sans Narrow" pitchFamily="34" charset="-122"/>
                <a:cs typeface="Liberation Sans Narrow" pitchFamily="34" charset="-120"/>
              </a:rPr>
              <a:t>Bootstrap 5 documentation.</a:t>
            </a:r>
            <a:r>
              <a:rPr lang="en-US" sz="800" dirty="0">
                <a:solidFill>
                  <a:srgbClr val="4A5A75"/>
                </a:solidFill>
                <a:latin typeface="Carlito" pitchFamily="34" charset="0"/>
                <a:ea typeface="Carlito" pitchFamily="34" charset="-122"/>
                <a:cs typeface="Carlito" pitchFamily="34" charset="-120"/>
              </a:rPr>
              <a:t> getbootstrap.com.</a:t>
            </a:r>
            <a:endParaRPr lang="en-US" sz="900" dirty="0"/>
          </a:p>
          <a:p>
            <a:pPr marL="342900" indent="-342900" algn="l">
              <a:lnSpc>
                <a:spcPts val="1350"/>
              </a:lnSpc>
              <a:buSzPct val="100000"/>
              <a:buFont typeface="+mj-lt"/>
              <a:buAutoNum type="arabicPeriod"/>
            </a:pPr>
            <a:r>
              <a:rPr lang="en-US" sz="800" b="1" kern="0" spc="27" dirty="0">
                <a:solidFill>
                  <a:srgbClr val="8C6F12"/>
                </a:solidFill>
                <a:latin typeface="Liberation Sans Narrow" pitchFamily="34" charset="0"/>
                <a:ea typeface="Liberation Sans Narrow" pitchFamily="34" charset="-122"/>
                <a:cs typeface="Liberation Sans Narrow" pitchFamily="34" charset="-120"/>
              </a:rPr>
              <a:t>06</a:t>
            </a:r>
            <a:endParaRPr lang="en-US" sz="900" dirty="0"/>
          </a:p>
          <a:p>
            <a:pPr marL="0" indent="0" algn="l">
              <a:lnSpc>
                <a:spcPts val="1350"/>
              </a:lnSpc>
              <a:buNone/>
            </a:pPr>
            <a:r>
              <a:rPr lang="en-US" sz="800" b="1" dirty="0">
                <a:solidFill>
                  <a:srgbClr val="0F2A4A"/>
                </a:solidFill>
                <a:latin typeface="Carlito" pitchFamily="34" charset="0"/>
                <a:ea typeface="Carlito" pitchFamily="34" charset="-122"/>
                <a:cs typeface="Carlito" pitchFamily="34" charset="-120"/>
              </a:rPr>
              <a:t>OpenAI.</a:t>
            </a:r>
            <a:r>
              <a:rPr lang="en-US" sz="800" dirty="0">
                <a:solidFill>
                  <a:srgbClr val="4A5A75"/>
                </a:solidFill>
                <a:latin typeface="Carlito" pitchFamily="34" charset="0"/>
                <a:ea typeface="Carlito" pitchFamily="34" charset="-122"/>
                <a:cs typeface="Carlito" pitchFamily="34" charset="-120"/>
              </a:rPr>
              <a:t> </a:t>
            </a:r>
            <a:r>
              <a:rPr lang="en-US" sz="800" i="1" dirty="0">
                <a:solidFill>
                  <a:srgbClr val="0F2A4A"/>
                </a:solidFill>
                <a:latin typeface="Carlito" pitchFamily="34" charset="0"/>
                <a:ea typeface="Carlito" pitchFamily="34" charset="-122"/>
                <a:cs typeface="Carlito" pitchFamily="34" charset="-120"/>
              </a:rPr>
              <a:t>“GPT API reference — chat completions.”</a:t>
            </a:r>
            <a:r>
              <a:rPr lang="en-US" sz="800" dirty="0">
                <a:solidFill>
                  <a:srgbClr val="4A5A75"/>
                </a:solidFill>
                <a:latin typeface="Carlito" pitchFamily="34" charset="0"/>
                <a:ea typeface="Carlito" pitchFamily="34" charset="-122"/>
                <a:cs typeface="Carlito" pitchFamily="34" charset="-120"/>
              </a:rPr>
              <a:t> platform.openai.com.</a:t>
            </a:r>
            <a:endParaRPr lang="en-US" sz="900" dirty="0"/>
          </a:p>
        </p:txBody>
      </p:sp>
      <p:sp>
        <p:nvSpPr>
          <p:cNvPr id="26" name="Text 24"/>
          <p:cNvSpPr/>
          <p:nvPr/>
        </p:nvSpPr>
        <p:spPr>
          <a:xfrm>
            <a:off x="542925" y="3511042"/>
            <a:ext cx="107156" cy="107156"/>
          </a:xfrm>
          <a:prstGeom prst="rect">
            <a:avLst/>
          </a:prstGeom>
          <a:noFill/>
          <a:ln/>
        </p:spPr>
        <p:txBody>
          <a:bodyPr wrap="none" lIns="0" tIns="0" rIns="0" bIns="0" rtlCol="0" anchor="ctr"/>
          <a:lstStyle/>
          <a:p>
            <a:pPr marL="0" indent="0" algn="ctr">
              <a:buNone/>
            </a:pPr>
            <a:endParaRPr lang="en-US" sz="1055" dirty="0"/>
          </a:p>
        </p:txBody>
      </p:sp>
      <p:sp>
        <p:nvSpPr>
          <p:cNvPr id="28" name="Text 26"/>
          <p:cNvSpPr/>
          <p:nvPr/>
        </p:nvSpPr>
        <p:spPr>
          <a:xfrm>
            <a:off x="514350" y="4868466"/>
            <a:ext cx="7601396"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29" name="Text 27"/>
          <p:cNvSpPr/>
          <p:nvPr/>
        </p:nvSpPr>
        <p:spPr>
          <a:xfrm>
            <a:off x="8130034" y="4868466"/>
            <a:ext cx="499616"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References</a:t>
            </a:r>
            <a:endParaRPr lang="en-US" sz="8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presetID="10" presetClass="entr" presetSubtype="0" fill="hold"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300"/>
                            <p:tgtEl>
                              <p:spTgt spid="2"/>
                            </p:tgtEl>
                          </p:cBhvr>
                        </p:animEffect>
                      </p:childTnLst>
                    </p:cTn>
                  </p:par>
                  <p:par>
                    <p:cTn id="6" presetID="10" presetClass="entr" presetSubtype="0" fill="hold" nodeType="afterEffect">
                      <p:stCondLst>
                        <p:cond delay="15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300"/>
                            <p:tgtEl>
                              <p:spTgt spid="3"/>
                            </p:tgtEl>
                          </p:cBhvr>
                        </p:animEffect>
                      </p:childTnLst>
                    </p:cTn>
                  </p:par>
                  <p:par>
                    <p:cTn id="9" presetID="10" presetClass="entr" presetSubtype="0" fill="hold" nodeType="afterEffect">
                      <p:stCondLst>
                        <p:cond delay="15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300"/>
                            <p:tgtEl>
                              <p:spTgt spid="4"/>
                            </p:tgtEl>
                          </p:cBhvr>
                        </p:animEffect>
                      </p:childTnLst>
                    </p:cTn>
                  </p:par>
                  <p:par>
                    <p:cTn id="12" presetID="10" presetClass="entr" presetSubtype="0" fill="hold" nodeType="afterEffect">
                      <p:stCondLst>
                        <p:cond delay="15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300"/>
                            <p:tgtEl>
                              <p:spTgt spid="5"/>
                            </p:tgtEl>
                          </p:cBhvr>
                        </p:animEffect>
                      </p:childTnLst>
                    </p:cTn>
                  </p:par>
                  <p:par>
                    <p:cTn id="15" presetID="10" presetClass="entr" presetSubtype="0" fill="hold" nodeType="afterEffect">
                      <p:stCondLst>
                        <p:cond delay="15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300"/>
                            <p:tgtEl>
                              <p:spTgt spid="6"/>
                            </p:tgtEl>
                          </p:cBhvr>
                        </p:animEffect>
                      </p:childTnLst>
                    </p:cTn>
                  </p:par>
                  <p:par>
                    <p:cTn id="18" presetID="10" presetClass="entr" presetSubtype="0" fill="hold" nodeType="afterEffect">
                      <p:stCondLst>
                        <p:cond delay="15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300"/>
                            <p:tgtEl>
                              <p:spTgt spid="7"/>
                            </p:tgtEl>
                          </p:cBhvr>
                        </p:animEffect>
                      </p:childTnLst>
                    </p:cTn>
                  </p:par>
                  <p:par>
                    <p:cTn id="21" presetID="10" presetClass="entr" presetSubtype="0" fill="hold" nodeType="afterEffect">
                      <p:stCondLst>
                        <p:cond delay="1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afterEffect">
                      <p:stCondLst>
                        <p:cond delay="15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300"/>
                            <p:tgtEl>
                              <p:spTgt spid="9"/>
                            </p:tgtEl>
                          </p:cBhvr>
                        </p:animEffect>
                      </p:childTnLst>
                    </p:cTn>
                  </p:par>
                  <p:par>
                    <p:cTn id="27" presetID="10" presetClass="entr" presetSubtype="0" fill="hold" nodeType="afterEffect">
                      <p:stCondLst>
                        <p:cond delay="15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300"/>
                            <p:tgtEl>
                              <p:spTgt spid="10"/>
                            </p:tgtEl>
                          </p:cBhvr>
                        </p:animEffect>
                      </p:childTnLst>
                    </p:cTn>
                  </p:par>
                  <p:par>
                    <p:cTn id="30" presetID="10" presetClass="entr" presetSubtype="0" fill="hold" nodeType="afterEffect">
                      <p:stCondLst>
                        <p:cond delay="15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300"/>
                            <p:tgtEl>
                              <p:spTgt spid="11"/>
                            </p:tgtEl>
                          </p:cBhvr>
                        </p:animEffect>
                      </p:childTnLst>
                    </p:cTn>
                  </p:par>
                  <p:par>
                    <p:cTn id="33" presetID="10" presetClass="entr" presetSubtype="0" fill="hold" nodeType="afterEffect">
                      <p:stCondLst>
                        <p:cond delay="15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300"/>
                            <p:tgtEl>
                              <p:spTgt spid="12"/>
                            </p:tgtEl>
                          </p:cBhvr>
                        </p:animEffect>
                      </p:childTnLst>
                    </p:cTn>
                  </p:par>
                  <p:par>
                    <p:cTn id="36" presetID="10" presetClass="entr" presetSubtype="0" fill="hold" nodeType="afterEffect">
                      <p:stCondLst>
                        <p:cond delay="15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300"/>
                            <p:tgtEl>
                              <p:spTgt spid="13"/>
                            </p:tgtEl>
                          </p:cBhvr>
                        </p:animEffect>
                      </p:childTnLst>
                    </p:cTn>
                  </p:par>
                  <p:par>
                    <p:cTn id="39" presetID="10" presetClass="entr" presetSubtype="0" fill="hold" nodeType="afterEffect">
                      <p:stCondLst>
                        <p:cond delay="15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300"/>
                            <p:tgtEl>
                              <p:spTgt spid="14"/>
                            </p:tgtEl>
                          </p:cBhvr>
                        </p:animEffect>
                      </p:childTnLst>
                    </p:cTn>
                  </p:par>
                  <p:par>
                    <p:cTn id="42" presetID="10" presetClass="entr" presetSubtype="0" fill="hold" nodeType="afterEffect">
                      <p:stCondLst>
                        <p:cond delay="15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300"/>
                            <p:tgtEl>
                              <p:spTgt spid="15"/>
                            </p:tgtEl>
                          </p:cBhvr>
                        </p:animEffect>
                      </p:childTnLst>
                    </p:cTn>
                  </p:par>
                  <p:par>
                    <p:cTn id="45" presetID="10" presetClass="entr" presetSubtype="0" fill="hold" nodeType="afterEffect">
                      <p:stCondLst>
                        <p:cond delay="15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300"/>
                            <p:tgtEl>
                              <p:spTgt spid="16"/>
                            </p:tgtEl>
                          </p:cBhvr>
                        </p:animEffect>
                      </p:childTnLst>
                    </p:cTn>
                  </p:par>
                  <p:par>
                    <p:cTn id="48" presetID="10" presetClass="entr" presetSubtype="0" fill="hold" nodeType="afterEffect">
                      <p:stCondLst>
                        <p:cond delay="15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300"/>
                            <p:tgtEl>
                              <p:spTgt spid="17"/>
                            </p:tgtEl>
                          </p:cBhvr>
                        </p:animEffect>
                      </p:childTnLst>
                    </p:cTn>
                  </p:par>
                  <p:par>
                    <p:cTn id="51" presetID="10" presetClass="entr" presetSubtype="0" fill="hold" nodeType="afterEffect">
                      <p:stCondLst>
                        <p:cond delay="15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300"/>
                            <p:tgtEl>
                              <p:spTgt spid="18"/>
                            </p:tgtEl>
                          </p:cBhvr>
                        </p:animEffect>
                      </p:childTnLst>
                    </p:cTn>
                  </p:par>
                  <p:par>
                    <p:cTn id="54" presetID="10" presetClass="entr" presetSubtype="0" fill="hold" nodeType="afterEffect">
                      <p:stCondLst>
                        <p:cond delay="15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300"/>
                            <p:tgtEl>
                              <p:spTgt spid="19"/>
                            </p:tgtEl>
                          </p:cBhvr>
                        </p:animEffect>
                      </p:childTnLst>
                    </p:cTn>
                  </p:par>
                  <p:par>
                    <p:cTn id="57" presetID="10" presetClass="entr" presetSubtype="0" fill="hold" nodeType="afterEffect">
                      <p:stCondLst>
                        <p:cond delay="15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300"/>
                            <p:tgtEl>
                              <p:spTgt spid="20"/>
                            </p:tgtEl>
                          </p:cBhvr>
                        </p:animEffect>
                      </p:childTnLst>
                    </p:cTn>
                  </p:par>
                  <p:par>
                    <p:cTn id="60" presetID="10" presetClass="entr" presetSubtype="0" fill="hold" nodeType="afterEffect">
                      <p:stCondLst>
                        <p:cond delay="15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300"/>
                            <p:tgtEl>
                              <p:spTgt spid="21"/>
                            </p:tgtEl>
                          </p:cBhvr>
                        </p:animEffect>
                      </p:childTnLst>
                    </p:cTn>
                  </p:par>
                  <p:par>
                    <p:cTn id="63" presetID="10" presetClass="entr" presetSubtype="0" fill="hold" nodeType="afterEffect">
                      <p:stCondLst>
                        <p:cond delay="15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300"/>
                            <p:tgtEl>
                              <p:spTgt spid="22"/>
                            </p:tgtEl>
                          </p:cBhvr>
                        </p:animEffect>
                      </p:childTnLst>
                    </p:cTn>
                  </p:par>
                  <p:par>
                    <p:cTn id="66" presetID="10" presetClass="entr" presetSubtype="0" fill="hold" nodeType="afterEffect">
                      <p:stCondLst>
                        <p:cond delay="15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300"/>
                            <p:tgtEl>
                              <p:spTgt spid="23"/>
                            </p:tgtEl>
                          </p:cBhvr>
                        </p:animEffect>
                      </p:childTnLst>
                    </p:cTn>
                  </p:par>
                  <p:par>
                    <p:cTn id="69" presetID="10" presetClass="entr" presetSubtype="0" fill="hold" nodeType="afterEffect">
                      <p:stCondLst>
                        <p:cond delay="15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300"/>
                            <p:tgtEl>
                              <p:spTgt spid="24"/>
                            </p:tgtEl>
                          </p:cBhvr>
                        </p:animEffect>
                      </p:childTnLst>
                    </p:cTn>
                  </p:par>
                  <p:par>
                    <p:cTn id="72" presetID="10" presetClass="entr" presetSubtype="0" fill="hold" nodeType="afterEffect">
                      <p:stCondLst>
                        <p:cond delay="15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300"/>
                            <p:tgtEl>
                              <p:spTgt spid="26"/>
                            </p:tgtEl>
                          </p:cBhvr>
                        </p:animEffect>
                      </p:childTnLst>
                    </p:cTn>
                  </p:par>
                  <p:par>
                    <p:cTn id="75" presetID="10" presetClass="entr" presetSubtype="0" fill="hold" nodeType="afterEffect">
                      <p:stCondLst>
                        <p:cond delay="15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300"/>
                            <p:tgtEl>
                              <p:spTgt spid="28"/>
                            </p:tgtEl>
                          </p:cBhvr>
                        </p:animEffect>
                      </p:childTnLst>
                    </p:cTn>
                  </p:par>
                  <p:par>
                    <p:cTn id="78" presetID="10" presetClass="entr" presetSubtype="0" fill="hold" nodeType="afterEffect">
                      <p:stCondLst>
                        <p:cond delay="15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300"/>
                            <p:tgtEl>
                              <p:spTgt spid="29"/>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1643063" y="334305"/>
            <a:ext cx="5857875" cy="3857625"/>
          </a:xfrm>
          <a:prstGeom prst="rect">
            <a:avLst/>
          </a:prstGeom>
          <a:solidFill>
            <a:srgbClr val="C9A227">
              <a:alpha val="4000"/>
            </a:srgbClr>
          </a:solidFill>
          <a:ln/>
        </p:spPr>
        <p:txBody>
          <a:bodyPr wrap="square" rtlCol="0" anchor="ctr"/>
          <a:lstStyle/>
          <a:p>
            <a:pPr marL="0" indent="0">
              <a:buNone/>
            </a:pPr>
            <a:endParaRPr lang="en-US" dirty="0"/>
          </a:p>
        </p:txBody>
      </p:sp>
      <p:sp>
        <p:nvSpPr>
          <p:cNvPr id="3" name="Shape 1"/>
          <p:cNvSpPr/>
          <p:nvPr/>
        </p:nvSpPr>
        <p:spPr>
          <a:xfrm>
            <a:off x="257175" y="260747"/>
            <a:ext cx="400050" cy="0"/>
          </a:xfrm>
          <a:prstGeom prst="line">
            <a:avLst/>
          </a:prstGeom>
          <a:noFill/>
          <a:ln w="7144">
            <a:solidFill>
              <a:srgbClr val="C9A227"/>
            </a:solidFill>
            <a:prstDash val="solid"/>
          </a:ln>
        </p:spPr>
      </p:sp>
      <p:sp>
        <p:nvSpPr>
          <p:cNvPr id="4" name="Shape 2"/>
          <p:cNvSpPr/>
          <p:nvPr/>
        </p:nvSpPr>
        <p:spPr>
          <a:xfrm>
            <a:off x="260747" y="257175"/>
            <a:ext cx="0" cy="400050"/>
          </a:xfrm>
          <a:prstGeom prst="line">
            <a:avLst/>
          </a:prstGeom>
          <a:noFill/>
          <a:ln w="7144">
            <a:solidFill>
              <a:srgbClr val="C9A227"/>
            </a:solidFill>
            <a:prstDash val="solid"/>
          </a:ln>
        </p:spPr>
      </p:sp>
      <p:sp>
        <p:nvSpPr>
          <p:cNvPr id="5" name="Shape 3"/>
          <p:cNvSpPr/>
          <p:nvPr/>
        </p:nvSpPr>
        <p:spPr>
          <a:xfrm>
            <a:off x="8486775" y="260747"/>
            <a:ext cx="400050" cy="0"/>
          </a:xfrm>
          <a:prstGeom prst="line">
            <a:avLst/>
          </a:prstGeom>
          <a:noFill/>
          <a:ln w="7144">
            <a:solidFill>
              <a:srgbClr val="C9A227"/>
            </a:solidFill>
            <a:prstDash val="solid"/>
          </a:ln>
        </p:spPr>
      </p:sp>
      <p:sp>
        <p:nvSpPr>
          <p:cNvPr id="6" name="Shape 4"/>
          <p:cNvSpPr/>
          <p:nvPr/>
        </p:nvSpPr>
        <p:spPr>
          <a:xfrm>
            <a:off x="8883253" y="257175"/>
            <a:ext cx="0" cy="400050"/>
          </a:xfrm>
          <a:prstGeom prst="line">
            <a:avLst/>
          </a:prstGeom>
          <a:noFill/>
          <a:ln w="7144">
            <a:solidFill>
              <a:srgbClr val="C9A227"/>
            </a:solidFill>
            <a:prstDash val="solid"/>
          </a:ln>
        </p:spPr>
      </p:sp>
      <p:sp>
        <p:nvSpPr>
          <p:cNvPr id="7" name="Shape 5"/>
          <p:cNvSpPr/>
          <p:nvPr/>
        </p:nvSpPr>
        <p:spPr>
          <a:xfrm>
            <a:off x="257175" y="4882753"/>
            <a:ext cx="400050" cy="0"/>
          </a:xfrm>
          <a:prstGeom prst="line">
            <a:avLst/>
          </a:prstGeom>
          <a:noFill/>
          <a:ln w="7144">
            <a:solidFill>
              <a:srgbClr val="C9A227"/>
            </a:solidFill>
            <a:prstDash val="solid"/>
          </a:ln>
        </p:spPr>
      </p:sp>
      <p:sp>
        <p:nvSpPr>
          <p:cNvPr id="8" name="Shape 6"/>
          <p:cNvSpPr/>
          <p:nvPr/>
        </p:nvSpPr>
        <p:spPr>
          <a:xfrm>
            <a:off x="260747" y="4486275"/>
            <a:ext cx="0" cy="400050"/>
          </a:xfrm>
          <a:prstGeom prst="line">
            <a:avLst/>
          </a:prstGeom>
          <a:noFill/>
          <a:ln w="7144">
            <a:solidFill>
              <a:srgbClr val="C9A227"/>
            </a:solidFill>
            <a:prstDash val="solid"/>
          </a:ln>
        </p:spPr>
      </p:sp>
      <p:sp>
        <p:nvSpPr>
          <p:cNvPr id="9" name="Shape 7"/>
          <p:cNvSpPr/>
          <p:nvPr/>
        </p:nvSpPr>
        <p:spPr>
          <a:xfrm>
            <a:off x="8883253" y="4486275"/>
            <a:ext cx="0" cy="400050"/>
          </a:xfrm>
          <a:prstGeom prst="line">
            <a:avLst/>
          </a:prstGeom>
          <a:noFill/>
          <a:ln w="7144">
            <a:solidFill>
              <a:srgbClr val="C9A227"/>
            </a:solidFill>
            <a:prstDash val="solid"/>
          </a:ln>
        </p:spPr>
      </p:sp>
      <p:sp>
        <p:nvSpPr>
          <p:cNvPr id="10" name="Shape 8"/>
          <p:cNvSpPr/>
          <p:nvPr/>
        </p:nvSpPr>
        <p:spPr>
          <a:xfrm>
            <a:off x="8486775" y="4882753"/>
            <a:ext cx="400050" cy="0"/>
          </a:xfrm>
          <a:prstGeom prst="line">
            <a:avLst/>
          </a:prstGeom>
          <a:noFill/>
          <a:ln w="7144">
            <a:solidFill>
              <a:srgbClr val="C9A227"/>
            </a:solidFill>
            <a:prstDash val="solid"/>
          </a:ln>
        </p:spPr>
      </p:sp>
      <p:sp>
        <p:nvSpPr>
          <p:cNvPr id="11" name="Text 9"/>
          <p:cNvSpPr/>
          <p:nvPr/>
        </p:nvSpPr>
        <p:spPr>
          <a:xfrm rot="16200000">
            <a:off x="-651938" y="1245549"/>
            <a:ext cx="2092003" cy="164592"/>
          </a:xfrm>
          <a:prstGeom prst="rect">
            <a:avLst/>
          </a:prstGeom>
          <a:noFill/>
          <a:ln/>
        </p:spPr>
        <p:txBody>
          <a:bodyPr wrap="square" lIns="0" tIns="0" rIns="0" bIns="0" rtlCol="0" anchor="t"/>
          <a:lstStyle/>
          <a:p>
            <a:pPr marL="0" indent="0" algn="l">
              <a:lnSpc>
                <a:spcPts val="802"/>
              </a:lnSpc>
              <a:buNone/>
            </a:pPr>
            <a:r>
              <a:rPr lang="en-US" sz="800" kern="0" spc="171" dirty="0">
                <a:solidFill>
                  <a:srgbClr val="7A8AA0"/>
                </a:solidFill>
                <a:latin typeface="Liberation Sans Narrow" pitchFamily="34" charset="0"/>
                <a:ea typeface="Liberation Sans Narrow" pitchFamily="34" charset="-122"/>
                <a:cs typeface="Liberation Sans Narrow" pitchFamily="34" charset="-120"/>
              </a:rPr>
              <a:t>GRADUATION DEFENSE · 2025 / 2026</a:t>
            </a:r>
            <a:endParaRPr lang="en-US" sz="800" dirty="0"/>
          </a:p>
        </p:txBody>
      </p:sp>
      <p:sp>
        <p:nvSpPr>
          <p:cNvPr id="12" name="Text 10"/>
          <p:cNvSpPr/>
          <p:nvPr/>
        </p:nvSpPr>
        <p:spPr>
          <a:xfrm rot="5400000">
            <a:off x="7586242" y="1416105"/>
            <a:ext cx="2332434" cy="164592"/>
          </a:xfrm>
          <a:prstGeom prst="rect">
            <a:avLst/>
          </a:prstGeom>
          <a:noFill/>
          <a:ln/>
        </p:spPr>
        <p:txBody>
          <a:bodyPr wrap="square" lIns="0" tIns="0" rIns="0" bIns="0" rtlCol="0" anchor="t"/>
          <a:lstStyle/>
          <a:p>
            <a:pPr marL="0" indent="0" algn="l">
              <a:lnSpc>
                <a:spcPts val="802"/>
              </a:lnSpc>
              <a:buNone/>
            </a:pPr>
            <a:r>
              <a:rPr lang="en-US" sz="800" kern="0" spc="171" dirty="0">
                <a:solidFill>
                  <a:srgbClr val="7A8AA0"/>
                </a:solidFill>
                <a:latin typeface="Carlito" pitchFamily="34" charset="0"/>
                <a:ea typeface="Carlito" pitchFamily="34" charset="-122"/>
                <a:cs typeface="Carlito" pitchFamily="34" charset="-120"/>
              </a:rPr>
              <a:t>FACULTY OF COMPUTERS &amp; INFORMATION</a:t>
            </a:r>
            <a:endParaRPr lang="en-US" sz="800" dirty="0"/>
          </a:p>
        </p:txBody>
      </p:sp>
      <p:sp>
        <p:nvSpPr>
          <p:cNvPr id="13" name="Text 11"/>
          <p:cNvSpPr/>
          <p:nvPr/>
        </p:nvSpPr>
        <p:spPr>
          <a:xfrm rot="2700000">
            <a:off x="4240029" y="244831"/>
            <a:ext cx="174706" cy="174706"/>
          </a:xfrm>
          <a:prstGeom prst="rect">
            <a:avLst/>
          </a:prstGeom>
          <a:solidFill>
            <a:srgbClr val="C9A227"/>
          </a:solidFill>
          <a:ln w="7144">
            <a:solidFill>
              <a:srgbClr val="C9A227"/>
            </a:solidFill>
            <a:prstDash val="solid"/>
          </a:ln>
        </p:spPr>
        <p:txBody>
          <a:bodyPr wrap="square" rtlCol="0" anchor="ctr"/>
          <a:lstStyle/>
          <a:p>
            <a:pPr marL="0" indent="0">
              <a:buNone/>
            </a:pPr>
            <a:endParaRPr lang="en-US" dirty="0"/>
          </a:p>
        </p:txBody>
      </p:sp>
      <p:sp>
        <p:nvSpPr>
          <p:cNvPr id="14" name="Text 12"/>
          <p:cNvSpPr/>
          <p:nvPr/>
        </p:nvSpPr>
        <p:spPr>
          <a:xfrm>
            <a:off x="4463114" y="257175"/>
            <a:ext cx="534781" cy="164592"/>
          </a:xfrm>
          <a:prstGeom prst="rect">
            <a:avLst/>
          </a:prstGeom>
          <a:noFill/>
          <a:ln/>
        </p:spPr>
        <p:txBody>
          <a:bodyPr wrap="none" lIns="0" tIns="0" rIns="0" bIns="0" rtlCol="0" anchor="t"/>
          <a:lstStyle/>
          <a:p>
            <a:pPr marL="0" indent="0" algn="l">
              <a:lnSpc>
                <a:spcPts val="1181"/>
              </a:lnSpc>
              <a:buNone/>
            </a:pPr>
            <a:r>
              <a:rPr lang="en-US" sz="800" b="1" kern="0" spc="16" dirty="0">
                <a:solidFill>
                  <a:srgbClr val="0F2A4A"/>
                </a:solidFill>
                <a:latin typeface="Tinos" pitchFamily="34" charset="0"/>
                <a:ea typeface="Tinos" pitchFamily="34" charset="-122"/>
                <a:cs typeface="Tinos" pitchFamily="34" charset="-120"/>
              </a:rPr>
              <a:t>MedWise</a:t>
            </a:r>
            <a:endParaRPr lang="en-US" sz="800" dirty="0"/>
          </a:p>
        </p:txBody>
      </p:sp>
      <p:sp>
        <p:nvSpPr>
          <p:cNvPr id="15" name="Text 13"/>
          <p:cNvSpPr/>
          <p:nvPr/>
        </p:nvSpPr>
        <p:spPr>
          <a:xfrm>
            <a:off x="3885084" y="1306413"/>
            <a:ext cx="228600" cy="7144"/>
          </a:xfrm>
          <a:prstGeom prst="rect">
            <a:avLst/>
          </a:prstGeom>
          <a:solidFill>
            <a:srgbClr val="8C6F12">
              <a:alpha val="50000"/>
            </a:srgbClr>
          </a:solidFill>
          <a:ln/>
        </p:spPr>
        <p:txBody>
          <a:bodyPr wrap="square" rtlCol="0" anchor="ctr"/>
          <a:lstStyle/>
          <a:p>
            <a:pPr marL="0" indent="0">
              <a:buNone/>
            </a:pPr>
            <a:endParaRPr lang="en-US" dirty="0"/>
          </a:p>
        </p:txBody>
      </p:sp>
      <p:sp>
        <p:nvSpPr>
          <p:cNvPr id="16" name="Text 14"/>
          <p:cNvSpPr/>
          <p:nvPr/>
        </p:nvSpPr>
        <p:spPr>
          <a:xfrm>
            <a:off x="4213696" y="1292126"/>
            <a:ext cx="35719" cy="35719"/>
          </a:xfrm>
          <a:prstGeom prst="roundRect">
            <a:avLst>
              <a:gd name="adj" fmla="val 66666"/>
            </a:avLst>
          </a:prstGeom>
          <a:solidFill>
            <a:srgbClr val="C9A227"/>
          </a:solidFill>
          <a:ln/>
        </p:spPr>
        <p:txBody>
          <a:bodyPr wrap="square" rtlCol="0" anchor="ctr"/>
          <a:lstStyle/>
          <a:p>
            <a:pPr marL="0" indent="0">
              <a:buNone/>
            </a:pPr>
            <a:endParaRPr lang="en-US" dirty="0"/>
          </a:p>
        </p:txBody>
      </p:sp>
      <p:sp>
        <p:nvSpPr>
          <p:cNvPr id="17" name="Text 15"/>
          <p:cNvSpPr/>
          <p:nvPr/>
        </p:nvSpPr>
        <p:spPr>
          <a:xfrm>
            <a:off x="4894585" y="1292126"/>
            <a:ext cx="35719" cy="35719"/>
          </a:xfrm>
          <a:prstGeom prst="roundRect">
            <a:avLst>
              <a:gd name="adj" fmla="val 66666"/>
            </a:avLst>
          </a:prstGeom>
          <a:solidFill>
            <a:srgbClr val="C9A227"/>
          </a:solidFill>
          <a:ln/>
        </p:spPr>
        <p:txBody>
          <a:bodyPr wrap="square" rtlCol="0" anchor="ctr"/>
          <a:lstStyle/>
          <a:p>
            <a:pPr marL="0" indent="0">
              <a:buNone/>
            </a:pPr>
            <a:endParaRPr lang="en-US" dirty="0"/>
          </a:p>
        </p:txBody>
      </p:sp>
      <p:sp>
        <p:nvSpPr>
          <p:cNvPr id="18" name="Text 16"/>
          <p:cNvSpPr/>
          <p:nvPr/>
        </p:nvSpPr>
        <p:spPr>
          <a:xfrm>
            <a:off x="5030316" y="1306413"/>
            <a:ext cx="228600" cy="7144"/>
          </a:xfrm>
          <a:prstGeom prst="rect">
            <a:avLst/>
          </a:prstGeom>
          <a:solidFill>
            <a:srgbClr val="8C6F12">
              <a:alpha val="50000"/>
            </a:srgbClr>
          </a:solidFill>
          <a:ln/>
        </p:spPr>
        <p:txBody>
          <a:bodyPr wrap="square" rtlCol="0" anchor="ctr"/>
          <a:lstStyle/>
          <a:p>
            <a:pPr marL="0" indent="0">
              <a:buNone/>
            </a:pPr>
            <a:endParaRPr lang="en-US" dirty="0"/>
          </a:p>
        </p:txBody>
      </p:sp>
      <p:sp>
        <p:nvSpPr>
          <p:cNvPr id="19" name="Text 17"/>
          <p:cNvSpPr/>
          <p:nvPr/>
        </p:nvSpPr>
        <p:spPr>
          <a:xfrm>
            <a:off x="3472934" y="1240334"/>
            <a:ext cx="2198132" cy="164592"/>
          </a:xfrm>
          <a:prstGeom prst="rect">
            <a:avLst/>
          </a:prstGeom>
          <a:noFill/>
          <a:ln/>
        </p:spPr>
        <p:txBody>
          <a:bodyPr wrap="none" lIns="0" tIns="0" rIns="0" bIns="0" rtlCol="0" anchor="t"/>
          <a:lstStyle/>
          <a:p>
            <a:pPr marL="0" indent="0" algn="ctr">
              <a:lnSpc>
                <a:spcPts val="1097"/>
              </a:lnSpc>
              <a:buNone/>
            </a:pPr>
            <a:r>
              <a:rPr lang="en-US" sz="800" b="1" kern="0" spc="234" dirty="0">
                <a:solidFill>
                  <a:srgbClr val="8C6F12"/>
                </a:solidFill>
                <a:latin typeface="Carlito" pitchFamily="34" charset="0"/>
                <a:ea typeface="Carlito" pitchFamily="34" charset="-122"/>
                <a:cs typeface="Carlito" pitchFamily="34" charset="-120"/>
              </a:rPr>
              <a:t>Q &amp; A</a:t>
            </a:r>
            <a:endParaRPr lang="en-US" sz="800" dirty="0"/>
          </a:p>
        </p:txBody>
      </p:sp>
      <p:sp>
        <p:nvSpPr>
          <p:cNvPr id="20" name="Text 18"/>
          <p:cNvSpPr/>
          <p:nvPr/>
        </p:nvSpPr>
        <p:spPr>
          <a:xfrm>
            <a:off x="274320" y="1536799"/>
            <a:ext cx="8595360" cy="709803"/>
          </a:xfrm>
          <a:prstGeom prst="rect">
            <a:avLst/>
          </a:prstGeom>
          <a:noFill/>
          <a:ln/>
        </p:spPr>
        <p:txBody>
          <a:bodyPr wrap="none" lIns="0" tIns="0" rIns="0" bIns="0" rtlCol="0" anchor="t"/>
          <a:lstStyle/>
          <a:p>
            <a:pPr marL="0" indent="0" algn="ctr">
              <a:lnSpc>
                <a:spcPts val="5175"/>
              </a:lnSpc>
              <a:buNone/>
            </a:pPr>
            <a:r>
              <a:rPr lang="en-US" sz="5175" b="1" kern="0" spc="-129" dirty="0">
                <a:solidFill>
                  <a:srgbClr val="0F2A4A"/>
                </a:solidFill>
                <a:latin typeface="Tinos" pitchFamily="34" charset="0"/>
                <a:ea typeface="Tinos" pitchFamily="34" charset="-122"/>
                <a:cs typeface="Tinos" pitchFamily="34" charset="-120"/>
              </a:rPr>
              <a:t>Thank you.</a:t>
            </a:r>
            <a:endParaRPr lang="en-US" sz="5175" dirty="0"/>
          </a:p>
        </p:txBody>
      </p:sp>
      <p:sp>
        <p:nvSpPr>
          <p:cNvPr id="21" name="Text 19"/>
          <p:cNvSpPr/>
          <p:nvPr/>
        </p:nvSpPr>
        <p:spPr>
          <a:xfrm>
            <a:off x="4286250" y="2351187"/>
            <a:ext cx="57150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22" name="Text 20"/>
          <p:cNvSpPr/>
          <p:nvPr/>
        </p:nvSpPr>
        <p:spPr>
          <a:xfrm>
            <a:off x="3608358" y="2501205"/>
            <a:ext cx="1927172" cy="277749"/>
          </a:xfrm>
          <a:prstGeom prst="rect">
            <a:avLst/>
          </a:prstGeom>
          <a:noFill/>
          <a:ln/>
        </p:spPr>
        <p:txBody>
          <a:bodyPr wrap="none" lIns="0" tIns="0" rIns="0" bIns="0" rtlCol="0" anchor="t"/>
          <a:lstStyle/>
          <a:p>
            <a:pPr marL="0" indent="0" algn="ctr">
              <a:lnSpc>
                <a:spcPts val="2025"/>
              </a:lnSpc>
              <a:buNone/>
            </a:pPr>
            <a:r>
              <a:rPr lang="en-US" sz="1350" b="1" i="1" kern="0" spc="7" dirty="0">
                <a:solidFill>
                  <a:srgbClr val="0F2A4A"/>
                </a:solidFill>
                <a:latin typeface="Tinos" pitchFamily="34" charset="0"/>
                <a:ea typeface="Tinos" pitchFamily="34" charset="-122"/>
                <a:cs typeface="Tinos" pitchFamily="34" charset="-120"/>
              </a:rPr>
              <a:t>Questions are welcome.</a:t>
            </a:r>
            <a:endParaRPr lang="en-US" sz="1350" dirty="0"/>
          </a:p>
        </p:txBody>
      </p:sp>
      <p:sp>
        <p:nvSpPr>
          <p:cNvPr id="23" name="Text 21"/>
          <p:cNvSpPr/>
          <p:nvPr/>
        </p:nvSpPr>
        <p:spPr>
          <a:xfrm>
            <a:off x="3015555" y="3104852"/>
            <a:ext cx="250031" cy="250031"/>
          </a:xfrm>
          <a:prstGeom prst="ellipse">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24" name="Text 22"/>
          <p:cNvSpPr/>
          <p:nvPr/>
        </p:nvSpPr>
        <p:spPr>
          <a:xfrm>
            <a:off x="3047345" y="3136642"/>
            <a:ext cx="186452" cy="186452"/>
          </a:xfrm>
          <a:prstGeom prst="rect">
            <a:avLst/>
          </a:prstGeom>
          <a:noFill/>
          <a:ln/>
        </p:spPr>
        <p:txBody>
          <a:bodyPr wrap="none" lIns="0" tIns="0" rIns="0" bIns="0" rtlCol="0" anchor="ctr"/>
          <a:lstStyle/>
          <a:p>
            <a:pPr marL="0" indent="0" algn="ctr">
              <a:buNone/>
            </a:pPr>
            <a:r>
              <a:rPr lang="en-US" sz="1266" dirty="0">
                <a:solidFill>
                  <a:srgbClr val="8C6F12"/>
                </a:solidFill>
                <a:latin typeface="Segoe UI Symbol" pitchFamily="34" charset="0"/>
                <a:ea typeface="Segoe UI Symbol" pitchFamily="34" charset="-122"/>
                <a:cs typeface="Segoe UI Symbol" pitchFamily="34" charset="-120"/>
              </a:rPr>
              <a:t>◯</a:t>
            </a:r>
            <a:endParaRPr lang="en-US" sz="1266" dirty="0"/>
          </a:p>
        </p:txBody>
      </p:sp>
      <p:sp>
        <p:nvSpPr>
          <p:cNvPr id="25" name="Text 23"/>
          <p:cNvSpPr/>
          <p:nvPr/>
        </p:nvSpPr>
        <p:spPr>
          <a:xfrm>
            <a:off x="2720641" y="3422749"/>
            <a:ext cx="839860" cy="102941"/>
          </a:xfrm>
          <a:prstGeom prst="rect">
            <a:avLst/>
          </a:prstGeom>
          <a:noFill/>
          <a:ln/>
        </p:spPr>
        <p:txBody>
          <a:bodyPr wrap="none" lIns="0" tIns="0" rIns="0" bIns="0" rtlCol="0" anchor="t">
            <a:normAutofit fontScale="92500"/>
          </a:bodyPr>
          <a:lstStyle/>
          <a:p>
            <a:pPr marL="0" indent="0" algn="ctr">
              <a:lnSpc>
                <a:spcPts val="802"/>
              </a:lnSpc>
              <a:buNone/>
            </a:pPr>
            <a:r>
              <a:rPr lang="en-US" sz="800" b="1" kern="0" spc="139" dirty="0">
                <a:solidFill>
                  <a:srgbClr val="7A8AA0"/>
                </a:solidFill>
                <a:latin typeface="Carlito" pitchFamily="34" charset="0"/>
                <a:ea typeface="Carlito" pitchFamily="34" charset="-122"/>
                <a:cs typeface="Carlito" pitchFamily="34" charset="-120"/>
              </a:rPr>
              <a:t>LIVE DEMO</a:t>
            </a:r>
            <a:endParaRPr lang="en-US" sz="800" dirty="0"/>
          </a:p>
        </p:txBody>
      </p:sp>
      <p:sp>
        <p:nvSpPr>
          <p:cNvPr id="26" name="Text 24"/>
          <p:cNvSpPr/>
          <p:nvPr/>
        </p:nvSpPr>
        <p:spPr>
          <a:xfrm>
            <a:off x="2494844" y="3553123"/>
            <a:ext cx="1291454" cy="164592"/>
          </a:xfrm>
          <a:prstGeom prst="rect">
            <a:avLst/>
          </a:prstGeom>
          <a:noFill/>
          <a:ln/>
        </p:spPr>
        <p:txBody>
          <a:bodyPr wrap="none" lIns="0" tIns="0" rIns="0" bIns="0" rtlCol="0" anchor="t"/>
          <a:lstStyle/>
          <a:p>
            <a:pPr marL="0" indent="0" algn="ctr">
              <a:lnSpc>
                <a:spcPts val="1181"/>
              </a:lnSpc>
              <a:buNone/>
            </a:pPr>
            <a:r>
              <a:rPr lang="en-US" sz="800" kern="0" spc="8" dirty="0">
                <a:solidFill>
                  <a:srgbClr val="0F2A4A"/>
                </a:solidFill>
                <a:latin typeface="Carlito" pitchFamily="34" charset="0"/>
                <a:ea typeface="Carlito" pitchFamily="34" charset="-122"/>
                <a:cs typeface="Carlito" pitchFamily="34" charset="-120"/>
              </a:rPr>
              <a:t>medwise.runasp.net</a:t>
            </a:r>
            <a:endParaRPr lang="en-US" sz="800" dirty="0"/>
          </a:p>
        </p:txBody>
      </p:sp>
      <p:sp>
        <p:nvSpPr>
          <p:cNvPr id="27" name="Text 25"/>
          <p:cNvSpPr/>
          <p:nvPr/>
        </p:nvSpPr>
        <p:spPr>
          <a:xfrm>
            <a:off x="3852714" y="3202186"/>
            <a:ext cx="7144" cy="400050"/>
          </a:xfrm>
          <a:prstGeom prst="rect">
            <a:avLst/>
          </a:prstGeom>
          <a:solidFill>
            <a:srgbClr val="D9D2BC"/>
          </a:solidFill>
          <a:ln/>
        </p:spPr>
        <p:txBody>
          <a:bodyPr wrap="square" rtlCol="0" anchor="ctr"/>
          <a:lstStyle/>
          <a:p>
            <a:pPr marL="0" indent="0">
              <a:buNone/>
            </a:pPr>
            <a:endParaRPr lang="en-US" dirty="0"/>
          </a:p>
        </p:txBody>
      </p:sp>
      <p:sp>
        <p:nvSpPr>
          <p:cNvPr id="28" name="Text 26"/>
          <p:cNvSpPr/>
          <p:nvPr/>
        </p:nvSpPr>
        <p:spPr>
          <a:xfrm>
            <a:off x="4446984" y="3104852"/>
            <a:ext cx="250031" cy="250031"/>
          </a:xfrm>
          <a:prstGeom prst="ellipse">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29" name="Text 27"/>
          <p:cNvSpPr/>
          <p:nvPr/>
        </p:nvSpPr>
        <p:spPr>
          <a:xfrm>
            <a:off x="4478774" y="3136642"/>
            <a:ext cx="186452" cy="186452"/>
          </a:xfrm>
          <a:prstGeom prst="rect">
            <a:avLst/>
          </a:prstGeom>
          <a:noFill/>
          <a:ln/>
        </p:spPr>
        <p:txBody>
          <a:bodyPr wrap="none" lIns="0" tIns="0" rIns="0" bIns="0" rtlCol="0" anchor="ctr"/>
          <a:lstStyle/>
          <a:p>
            <a:pPr marL="0" indent="0" algn="ctr">
              <a:buNone/>
            </a:pPr>
            <a:r>
              <a:rPr lang="en-US" sz="1266" dirty="0">
                <a:solidFill>
                  <a:srgbClr val="8C6F12"/>
                </a:solidFill>
                <a:latin typeface="Segoe UI Symbol" pitchFamily="34" charset="0"/>
                <a:ea typeface="Segoe UI Symbol" pitchFamily="34" charset="-122"/>
                <a:cs typeface="Segoe UI Symbol" pitchFamily="34" charset="-120"/>
              </a:rPr>
              <a:t>✉</a:t>
            </a:r>
            <a:endParaRPr lang="en-US" sz="1266" dirty="0"/>
          </a:p>
        </p:txBody>
      </p:sp>
      <p:sp>
        <p:nvSpPr>
          <p:cNvPr id="30" name="Text 28"/>
          <p:cNvSpPr/>
          <p:nvPr/>
        </p:nvSpPr>
        <p:spPr>
          <a:xfrm>
            <a:off x="4224925" y="3422749"/>
            <a:ext cx="694150" cy="102941"/>
          </a:xfrm>
          <a:prstGeom prst="rect">
            <a:avLst/>
          </a:prstGeom>
          <a:noFill/>
          <a:ln/>
        </p:spPr>
        <p:txBody>
          <a:bodyPr wrap="none" lIns="0" tIns="0" rIns="0" bIns="0" rtlCol="0" anchor="t">
            <a:normAutofit fontScale="92500"/>
          </a:bodyPr>
          <a:lstStyle/>
          <a:p>
            <a:pPr marL="0" indent="0" algn="ctr">
              <a:lnSpc>
                <a:spcPts val="802"/>
              </a:lnSpc>
              <a:buNone/>
            </a:pPr>
            <a:r>
              <a:rPr lang="en-US" sz="800" b="1" kern="0" spc="139" dirty="0">
                <a:solidFill>
                  <a:srgbClr val="7A8AA0"/>
                </a:solidFill>
                <a:latin typeface="Carlito" pitchFamily="34" charset="0"/>
                <a:ea typeface="Carlito" pitchFamily="34" charset="-122"/>
                <a:cs typeface="Carlito" pitchFamily="34" charset="-120"/>
              </a:rPr>
              <a:t>CONTACT</a:t>
            </a:r>
            <a:endParaRPr lang="en-US" sz="800" dirty="0"/>
          </a:p>
        </p:txBody>
      </p:sp>
      <p:sp>
        <p:nvSpPr>
          <p:cNvPr id="31" name="Text 29"/>
          <p:cNvSpPr/>
          <p:nvPr/>
        </p:nvSpPr>
        <p:spPr>
          <a:xfrm>
            <a:off x="3854584" y="3553123"/>
            <a:ext cx="1434833" cy="164592"/>
          </a:xfrm>
          <a:prstGeom prst="rect">
            <a:avLst/>
          </a:prstGeom>
          <a:noFill/>
          <a:ln/>
        </p:spPr>
        <p:txBody>
          <a:bodyPr wrap="none" lIns="0" tIns="0" rIns="0" bIns="0" rtlCol="0" anchor="t"/>
          <a:lstStyle/>
          <a:p>
            <a:pPr marL="0" indent="0" algn="ctr">
              <a:lnSpc>
                <a:spcPts val="1181"/>
              </a:lnSpc>
              <a:buNone/>
            </a:pPr>
            <a:r>
              <a:rPr lang="en-US" sz="800" kern="0" spc="8" dirty="0">
                <a:solidFill>
                  <a:srgbClr val="0F2A4A"/>
                </a:solidFill>
                <a:latin typeface="Carlito" pitchFamily="34" charset="0"/>
                <a:ea typeface="Carlito" pitchFamily="34" charset="-122"/>
                <a:cs typeface="Carlito" pitchFamily="34" charset="-120"/>
              </a:rPr>
              <a:t>team@medwise.project</a:t>
            </a:r>
            <a:endParaRPr lang="en-US" sz="800" dirty="0"/>
          </a:p>
        </p:txBody>
      </p:sp>
      <p:sp>
        <p:nvSpPr>
          <p:cNvPr id="32" name="Text 30"/>
          <p:cNvSpPr/>
          <p:nvPr/>
        </p:nvSpPr>
        <p:spPr>
          <a:xfrm>
            <a:off x="5284143" y="3202186"/>
            <a:ext cx="7144" cy="400050"/>
          </a:xfrm>
          <a:prstGeom prst="rect">
            <a:avLst/>
          </a:prstGeom>
          <a:solidFill>
            <a:srgbClr val="D9D2BC"/>
          </a:solidFill>
          <a:ln/>
        </p:spPr>
        <p:txBody>
          <a:bodyPr wrap="square" rtlCol="0" anchor="ctr"/>
          <a:lstStyle/>
          <a:p>
            <a:pPr marL="0" indent="0">
              <a:buNone/>
            </a:pPr>
            <a:endParaRPr lang="en-US" dirty="0"/>
          </a:p>
        </p:txBody>
      </p:sp>
      <p:sp>
        <p:nvSpPr>
          <p:cNvPr id="33" name="Text 31"/>
          <p:cNvSpPr/>
          <p:nvPr/>
        </p:nvSpPr>
        <p:spPr>
          <a:xfrm>
            <a:off x="5878413" y="3104852"/>
            <a:ext cx="250031" cy="250031"/>
          </a:xfrm>
          <a:prstGeom prst="ellipse">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34" name="Text 32"/>
          <p:cNvSpPr/>
          <p:nvPr/>
        </p:nvSpPr>
        <p:spPr>
          <a:xfrm>
            <a:off x="5910203" y="3136642"/>
            <a:ext cx="186452" cy="186452"/>
          </a:xfrm>
          <a:prstGeom prst="rect">
            <a:avLst/>
          </a:prstGeom>
          <a:noFill/>
          <a:ln/>
        </p:spPr>
        <p:txBody>
          <a:bodyPr wrap="none" lIns="0" tIns="0" rIns="0" bIns="0" rtlCol="0" anchor="ctr"/>
          <a:lstStyle/>
          <a:p>
            <a:pPr marL="0" indent="0" algn="ctr">
              <a:buNone/>
            </a:pPr>
            <a:r>
              <a:rPr lang="en-US" sz="1266" dirty="0">
                <a:solidFill>
                  <a:srgbClr val="8C6F12"/>
                </a:solidFill>
                <a:latin typeface="Segoe UI Symbol" pitchFamily="34" charset="0"/>
                <a:ea typeface="Segoe UI Symbol" pitchFamily="34" charset="-122"/>
                <a:cs typeface="Segoe UI Symbol" pitchFamily="34" charset="-120"/>
              </a:rPr>
              <a:t>▿</a:t>
            </a:r>
            <a:endParaRPr lang="en-US" sz="1266" dirty="0"/>
          </a:p>
        </p:txBody>
      </p:sp>
      <p:sp>
        <p:nvSpPr>
          <p:cNvPr id="35" name="Text 33"/>
          <p:cNvSpPr/>
          <p:nvPr/>
        </p:nvSpPr>
        <p:spPr>
          <a:xfrm>
            <a:off x="5786650" y="3422749"/>
            <a:ext cx="433447" cy="102941"/>
          </a:xfrm>
          <a:prstGeom prst="rect">
            <a:avLst/>
          </a:prstGeom>
          <a:noFill/>
          <a:ln/>
        </p:spPr>
        <p:txBody>
          <a:bodyPr wrap="none" lIns="0" tIns="0" rIns="0" bIns="0" rtlCol="0" anchor="t">
            <a:normAutofit lnSpcReduction="10000"/>
          </a:bodyPr>
          <a:lstStyle/>
          <a:p>
            <a:pPr marL="0" indent="0" algn="ctr">
              <a:lnSpc>
                <a:spcPts val="802"/>
              </a:lnSpc>
              <a:buNone/>
            </a:pPr>
            <a:r>
              <a:rPr lang="en-US" sz="800" b="1" kern="0" spc="139" dirty="0">
                <a:solidFill>
                  <a:srgbClr val="7A8AA0"/>
                </a:solidFill>
                <a:latin typeface="Carlito" pitchFamily="34" charset="0"/>
                <a:ea typeface="Carlito" pitchFamily="34" charset="-122"/>
                <a:cs typeface="Carlito" pitchFamily="34" charset="-120"/>
              </a:rPr>
              <a:t>YEAR</a:t>
            </a:r>
            <a:endParaRPr lang="en-US" sz="800" dirty="0"/>
          </a:p>
        </p:txBody>
      </p:sp>
      <p:sp>
        <p:nvSpPr>
          <p:cNvPr id="36" name="Text 34"/>
          <p:cNvSpPr/>
          <p:nvPr/>
        </p:nvSpPr>
        <p:spPr>
          <a:xfrm>
            <a:off x="5286012" y="3553123"/>
            <a:ext cx="1434833" cy="164592"/>
          </a:xfrm>
          <a:prstGeom prst="rect">
            <a:avLst/>
          </a:prstGeom>
          <a:noFill/>
          <a:ln/>
        </p:spPr>
        <p:txBody>
          <a:bodyPr wrap="none" lIns="0" tIns="0" rIns="0" bIns="0" rtlCol="0" anchor="t"/>
          <a:lstStyle/>
          <a:p>
            <a:pPr marL="0" indent="0" algn="ctr">
              <a:lnSpc>
                <a:spcPts val="1181"/>
              </a:lnSpc>
              <a:buNone/>
            </a:pPr>
            <a:r>
              <a:rPr lang="en-US" sz="800" kern="0" spc="8" dirty="0">
                <a:solidFill>
                  <a:srgbClr val="0F2A4A"/>
                </a:solidFill>
                <a:latin typeface="Liberation Sans Narrow" pitchFamily="34" charset="0"/>
                <a:ea typeface="Liberation Sans Narrow" pitchFamily="34" charset="-122"/>
                <a:cs typeface="Liberation Sans Narrow" pitchFamily="34" charset="-120"/>
              </a:rPr>
              <a:t>Academic 202</a:t>
            </a:r>
            <a:r>
              <a:rPr lang="ar-EG" sz="800" kern="0" spc="8" dirty="0">
                <a:solidFill>
                  <a:srgbClr val="0F2A4A"/>
                </a:solidFill>
                <a:latin typeface="Liberation Sans Narrow" pitchFamily="34" charset="0"/>
                <a:ea typeface="Liberation Sans Narrow" pitchFamily="34" charset="-122"/>
                <a:cs typeface="Liberation Sans Narrow" pitchFamily="34" charset="-120"/>
              </a:rPr>
              <a:t>5</a:t>
            </a:r>
            <a:r>
              <a:rPr lang="en-US" sz="800" kern="0" spc="8" dirty="0">
                <a:solidFill>
                  <a:srgbClr val="0F2A4A"/>
                </a:solidFill>
                <a:latin typeface="Liberation Sans Narrow" pitchFamily="34" charset="0"/>
                <a:ea typeface="Liberation Sans Narrow" pitchFamily="34" charset="-122"/>
                <a:cs typeface="Liberation Sans Narrow" pitchFamily="34" charset="-120"/>
              </a:rPr>
              <a:t> / 202</a:t>
            </a:r>
            <a:r>
              <a:rPr lang="ar-EG" sz="800" kern="0" spc="8" dirty="0">
                <a:solidFill>
                  <a:srgbClr val="0F2A4A"/>
                </a:solidFill>
                <a:latin typeface="Liberation Sans Narrow" pitchFamily="34" charset="0"/>
                <a:ea typeface="Liberation Sans Narrow" pitchFamily="34" charset="-122"/>
                <a:cs typeface="Liberation Sans Narrow" pitchFamily="34" charset="-120"/>
              </a:rPr>
              <a:t>6</a:t>
            </a:r>
            <a:endParaRPr lang="en-US" sz="800" dirty="0"/>
          </a:p>
        </p:txBody>
      </p:sp>
      <p:sp>
        <p:nvSpPr>
          <p:cNvPr id="37" name="Text 35"/>
          <p:cNvSpPr/>
          <p:nvPr/>
        </p:nvSpPr>
        <p:spPr>
          <a:xfrm>
            <a:off x="0" y="4754166"/>
            <a:ext cx="8636000" cy="164592"/>
          </a:xfrm>
          <a:prstGeom prst="rect">
            <a:avLst/>
          </a:prstGeom>
          <a:noFill/>
          <a:ln/>
        </p:spPr>
        <p:txBody>
          <a:bodyPr wrap="square" lIns="0" tIns="0" rIns="0" bIns="0" rtlCol="0" anchor="t"/>
          <a:lstStyle/>
          <a:p>
            <a:pPr algn="ctr">
              <a:lnSpc>
                <a:spcPts val="928"/>
              </a:lnSpc>
            </a:pPr>
            <a:r>
              <a:rPr lang="en-US" sz="800" kern="0" spc="111" dirty="0">
                <a:solidFill>
                  <a:srgbClr val="7A8AA0"/>
                </a:solidFill>
                <a:latin typeface="Carlito" pitchFamily="34" charset="0"/>
                <a:ea typeface="Carlito" pitchFamily="34" charset="-122"/>
                <a:cs typeface="Carlito" pitchFamily="34" charset="-120"/>
              </a:rPr>
              <a:t>MEDWISE — BUILT BY [</a:t>
            </a:r>
            <a:r>
              <a:rPr lang="en-US" sz="800" kern="0" spc="16" dirty="0" err="1">
                <a:solidFill>
                  <a:srgbClr val="0F2A4A"/>
                </a:solidFill>
                <a:latin typeface="Tinos" pitchFamily="34" charset="0"/>
                <a:ea typeface="Tinos" pitchFamily="34" charset="-122"/>
                <a:cs typeface="Tinos" pitchFamily="34" charset="-120"/>
              </a:rPr>
              <a:t>MedWise</a:t>
            </a:r>
            <a:r>
              <a:rPr lang="en-US" sz="800" b="1" kern="0" spc="16" dirty="0">
                <a:solidFill>
                  <a:srgbClr val="0F2A4A"/>
                </a:solidFill>
                <a:latin typeface="Tinos" pitchFamily="34" charset="0"/>
                <a:ea typeface="Tinos" pitchFamily="34" charset="-122"/>
                <a:cs typeface="Tinos" pitchFamily="34" charset="-120"/>
              </a:rPr>
              <a:t> </a:t>
            </a:r>
            <a:r>
              <a:rPr lang="en-US" sz="800" kern="0" spc="16" dirty="0">
                <a:solidFill>
                  <a:srgbClr val="0F2A4A"/>
                </a:solidFill>
                <a:latin typeface="Tinos" pitchFamily="34" charset="0"/>
                <a:ea typeface="Tinos" pitchFamily="34" charset="-122"/>
                <a:cs typeface="Tinos" pitchFamily="34" charset="-120"/>
              </a:rPr>
              <a:t>Team</a:t>
            </a:r>
            <a:r>
              <a:rPr lang="en-US" sz="800" b="1" kern="0" spc="16" dirty="0">
                <a:solidFill>
                  <a:srgbClr val="0F2A4A"/>
                </a:solidFill>
                <a:latin typeface="Tinos" pitchFamily="34" charset="0"/>
                <a:ea typeface="Tinos" pitchFamily="34" charset="-122"/>
                <a:cs typeface="Tinos" pitchFamily="34" charset="-120"/>
              </a:rPr>
              <a:t> </a:t>
            </a:r>
            <a:r>
              <a:rPr lang="en-US" sz="800" kern="0" spc="111" dirty="0">
                <a:solidFill>
                  <a:srgbClr val="7A8AA0"/>
                </a:solidFill>
                <a:latin typeface="Carlito" pitchFamily="34" charset="0"/>
                <a:ea typeface="Carlito" pitchFamily="34" charset="-122"/>
                <a:cs typeface="Carlito" pitchFamily="34" charset="-120"/>
              </a:rPr>
              <a:t>]</a:t>
            </a:r>
            <a:r>
              <a:rPr lang="en-US" sz="800" kern="0" spc="111" dirty="0">
                <a:solidFill>
                  <a:srgbClr val="C9A227"/>
                </a:solidFill>
                <a:latin typeface="Carlito" pitchFamily="34" charset="0"/>
                <a:ea typeface="Carlito" pitchFamily="34" charset="-122"/>
                <a:cs typeface="Carlito" pitchFamily="34" charset="-120"/>
              </a:rPr>
              <a:t>·</a:t>
            </a:r>
            <a:r>
              <a:rPr lang="en-US" sz="800" kern="0" spc="111" dirty="0">
                <a:solidFill>
                  <a:srgbClr val="7A8AA0"/>
                </a:solidFill>
                <a:latin typeface="Carlito" pitchFamily="34" charset="0"/>
                <a:ea typeface="Carlito" pitchFamily="34" charset="-122"/>
                <a:cs typeface="Carlito" pitchFamily="34" charset="-120"/>
              </a:rPr>
              <a:t>SUPERVISED BY DR. [</a:t>
            </a:r>
            <a:r>
              <a:rPr lang="en-US" sz="800" kern="0" spc="111" dirty="0">
                <a:solidFill>
                  <a:srgbClr val="002060"/>
                </a:solidFill>
                <a:latin typeface="Carlito" pitchFamily="34" charset="0"/>
                <a:ea typeface="Carlito" pitchFamily="34" charset="-122"/>
                <a:cs typeface="Carlito" pitchFamily="34" charset="-120"/>
              </a:rPr>
              <a:t>Samar Hisham</a:t>
            </a:r>
            <a:r>
              <a:rPr lang="en-US" sz="800" kern="0" spc="111" dirty="0">
                <a:solidFill>
                  <a:srgbClr val="7A8AA0"/>
                </a:solidFill>
                <a:latin typeface="Carlito" pitchFamily="34" charset="0"/>
                <a:ea typeface="Carlito" pitchFamily="34" charset="-122"/>
                <a:cs typeface="Carlito" pitchFamily="34" charset="-120"/>
              </a:rPr>
              <a:t>]</a:t>
            </a:r>
            <a:r>
              <a:rPr lang="en-US" sz="800" kern="0" spc="111" dirty="0">
                <a:solidFill>
                  <a:srgbClr val="C9A227"/>
                </a:solidFill>
                <a:latin typeface="Carlito" pitchFamily="34" charset="0"/>
                <a:ea typeface="Carlito" pitchFamily="34" charset="-122"/>
                <a:cs typeface="Carlito" pitchFamily="34" charset="-120"/>
              </a:rPr>
              <a:t>·</a:t>
            </a:r>
            <a:r>
              <a:rPr lang="en-US" sz="800" kern="0" spc="111" dirty="0">
                <a:solidFill>
                  <a:srgbClr val="7A8AA0"/>
                </a:solidFill>
                <a:latin typeface="Carlito" pitchFamily="34" charset="0"/>
                <a:ea typeface="Carlito" pitchFamily="34" charset="-122"/>
                <a:cs typeface="Carlito" pitchFamily="34" charset="-120"/>
              </a:rPr>
              <a:t>FACULTY OF COMPUTERS AND INFORMATION</a:t>
            </a:r>
            <a:endParaRPr lang="en-US" sz="800" dirty="0"/>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693</TotalTime>
  <Words>6582</Words>
  <Application>Microsoft Office PowerPoint</Application>
  <PresentationFormat>On-screen Show (16:9)</PresentationFormat>
  <Paragraphs>553</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Carlito</vt:lpstr>
      <vt:lpstr>Liberation Sans Narrow</vt:lpstr>
      <vt:lpstr>Segoe UI Symbol</vt:lpstr>
      <vt:lpstr>Tinos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kerollous yasser</cp:lastModifiedBy>
  <cp:revision>4</cp:revision>
  <dcterms:created xsi:type="dcterms:W3CDTF">2026-06-16T14:50:19Z</dcterms:created>
  <dcterms:modified xsi:type="dcterms:W3CDTF">2026-06-18T01:48:52Z</dcterms:modified>
</cp:coreProperties>
</file>